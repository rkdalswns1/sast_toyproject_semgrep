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34c48cbeee4a82" /><Relationship Type="http://schemas.openxmlformats.org/officeDocument/2006/relationships/extended-properties" Target="/docProps/app.xml" Id="R32b1ebd8bde6408c" /><Relationship Type="http://schemas.openxmlformats.org/officeDocument/2006/relationships/officeDocument" Target="/ppt/presentation.xml" Id="R86425e0cd313496e" /></Relationships>
</file>

<file path=ppt/presentation.xml><?xml version="1.0" encoding="utf-8"?>
<p:presentation xmlns:p="http://schemas.openxmlformats.org/presentationml/2006/main">
  <p:sldMasterIdLst>
    <p:sldMasterId xmlns:r="http://schemas.openxmlformats.org/officeDocument/2006/relationships" id="2147483648" r:id="R4e8444bcc2d74dba"/>
  </p:sldMasterIdLst>
  <p:notesMasterIdLst>
    <p:notesMasterId xmlns:r="http://schemas.openxmlformats.org/officeDocument/2006/relationships" r:id="Rbbd63c1c885f4a2c"/>
  </p:notesMasterIdLst>
  <p:sldIdLst>
    <p:sldId xmlns:r="http://schemas.openxmlformats.org/officeDocument/2006/relationships" id="256" r:id="R52daf4d527924e01"/>
    <p:sldId xmlns:r="http://schemas.openxmlformats.org/officeDocument/2006/relationships" id="257" r:id="R337df005fd164ae6"/>
    <p:sldId xmlns:r="http://schemas.openxmlformats.org/officeDocument/2006/relationships" id="258" r:id="R250d0f98070345c6"/>
    <p:sldId xmlns:r="http://schemas.openxmlformats.org/officeDocument/2006/relationships" id="259" r:id="R2254753580d54076"/>
    <p:sldId xmlns:r="http://schemas.openxmlformats.org/officeDocument/2006/relationships" id="260" r:id="R74fb0d93742e484d"/>
    <p:sldId xmlns:r="http://schemas.openxmlformats.org/officeDocument/2006/relationships" id="261" r:id="R36835ac9ad8849c8"/>
    <p:sldId xmlns:r="http://schemas.openxmlformats.org/officeDocument/2006/relationships" id="262" r:id="R97c3466a7aa84a54"/>
    <p:sldId xmlns:r="http://schemas.openxmlformats.org/officeDocument/2006/relationships" id="263" r:id="Rdcd89da64846418e"/>
    <p:sldId xmlns:r="http://schemas.openxmlformats.org/officeDocument/2006/relationships" id="264" r:id="R2ac473069e41449b"/>
    <p:sldId xmlns:r="http://schemas.openxmlformats.org/officeDocument/2006/relationships" id="265" r:id="R9f07f2a02b4a42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732a7907984692" /><Relationship Type="http://schemas.openxmlformats.org/officeDocument/2006/relationships/slideMaster" Target="/ppt/slideMasters/slideMaster1.xml" Id="R4e8444bcc2d74dba" /><Relationship Type="http://schemas.openxmlformats.org/officeDocument/2006/relationships/notesMaster" Target="/ppt/notesMasters/notesMaster1.xml" Id="Rbbd63c1c885f4a2c" /><Relationship Type="http://schemas.openxmlformats.org/officeDocument/2006/relationships/presProps" Target="/ppt/presProps.xml" Id="Rbae731f99a384c63" /><Relationship Type="http://schemas.openxmlformats.org/officeDocument/2006/relationships/tableStyles" Target="/ppt/tableStyles.xml" Id="Rcde18e51791f43ad" /><Relationship Type="http://schemas.openxmlformats.org/officeDocument/2006/relationships/slide" Target="/ppt/slides/slide1.xml" Id="R52daf4d527924e01" /><Relationship Type="http://schemas.openxmlformats.org/officeDocument/2006/relationships/slide" Target="/ppt/slides/slide2.xml" Id="R337df005fd164ae6" /><Relationship Type="http://schemas.openxmlformats.org/officeDocument/2006/relationships/slide" Target="/ppt/slides/slide3.xml" Id="R250d0f98070345c6" /><Relationship Type="http://schemas.openxmlformats.org/officeDocument/2006/relationships/slide" Target="/ppt/slides/slide4.xml" Id="R2254753580d54076" /><Relationship Type="http://schemas.openxmlformats.org/officeDocument/2006/relationships/slide" Target="/ppt/slides/slide5.xml" Id="R74fb0d93742e484d" /><Relationship Type="http://schemas.openxmlformats.org/officeDocument/2006/relationships/slide" Target="/ppt/slides/slide6.xml" Id="R36835ac9ad8849c8" /><Relationship Type="http://schemas.openxmlformats.org/officeDocument/2006/relationships/slide" Target="/ppt/slides/slide7.xml" Id="R97c3466a7aa84a54" /><Relationship Type="http://schemas.openxmlformats.org/officeDocument/2006/relationships/slide" Target="/ppt/slides/slide8.xml" Id="Rdcd89da64846418e" /><Relationship Type="http://schemas.openxmlformats.org/officeDocument/2006/relationships/slide" Target="/ppt/slides/slide9.xml" Id="R2ac473069e41449b" /><Relationship Type="http://schemas.openxmlformats.org/officeDocument/2006/relationships/slide" Target="/ppt/slides/slide10.xml" Id="R9f07f2a02b4a42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02c073fd7f4a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2d3e69eec14a0f" /><Relationship Type="http://schemas.openxmlformats.org/officeDocument/2006/relationships/notesMaster" Target="/ppt/notesMasters/notesMaster1.xml" Id="R9a0ad67f01814b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dbfbd57bb9453f" /><Relationship Type="http://schemas.openxmlformats.org/officeDocument/2006/relationships/notesMaster" Target="/ppt/notesMasters/notesMaster1.xml" Id="R6c7ed6a7d09947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06be1c4146418a" /><Relationship Type="http://schemas.openxmlformats.org/officeDocument/2006/relationships/notesMaster" Target="/ppt/notesMasters/notesMaster1.xml" Id="R10f9e0f0f37a4a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d3a5e3a2484b4c" /><Relationship Type="http://schemas.openxmlformats.org/officeDocument/2006/relationships/notesMaster" Target="/ppt/notesMasters/notesMaster1.xml" Id="R7a5191e828044c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20bfccc0654be0" /><Relationship Type="http://schemas.openxmlformats.org/officeDocument/2006/relationships/notesMaster" Target="/ppt/notesMasters/notesMaster1.xml" Id="R02bb2e6c148546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20280784974b86" /><Relationship Type="http://schemas.openxmlformats.org/officeDocument/2006/relationships/notesMaster" Target="/ppt/notesMasters/notesMaster1.xml" Id="R4bf3d515af7f47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8568d5ba49455a" /><Relationship Type="http://schemas.openxmlformats.org/officeDocument/2006/relationships/notesMaster" Target="/ppt/notesMasters/notesMaster1.xml" Id="Ra13754c2c4a34e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1d5af086ba49e3" /><Relationship Type="http://schemas.openxmlformats.org/officeDocument/2006/relationships/notesMaster" Target="/ppt/notesMasters/notesMaster1.xml" Id="R5937c77fbe974b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815a252b2c4d72" /><Relationship Type="http://schemas.openxmlformats.org/officeDocument/2006/relationships/notesMaster" Target="/ppt/notesMasters/notesMaster1.xml" Id="R7f523e27436346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53cdf5cb1f4d82" /><Relationship Type="http://schemas.openxmlformats.org/officeDocument/2006/relationships/notesMaster" Target="/ppt/notesMasters/notesMaster1.xml" Id="R9dda82b233de4b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이번 발표에서는 RFP 번호를 순서대로 읽기보다, 실제 구현한 기능을 중심으로 관련 요구사항을 묶어서 설명드리겠습니다. 핵심은 ZIP 소스를 안전하게 받아 Semgrep으로 분석하고, 결과를 KISA 기준의 공통 Finding으로 저장·조회하는 흐름입니다.</a:t>
            </a:r>
          </a:p>
          <a:p xmlns:a="http://schemas.openxmlformats.org/drawingml/2006/main">
            <a:r>
              <a:t/>
            </a:r>
          </a:p>
          <a:p xmlns:a="http://schemas.openxmlformats.org/drawingml/2006/main">
            <a:r>
              <a:t>[Sources]</a:t>
            </a:r>
          </a:p>
          <a:p xmlns:a="http://schemas.openxmlformats.org/drawingml/2006/main">
            <a:r>
              <a:t>- /home/kmj/sast-project-clean/docs/requirements.md</a:t>
            </a:r>
          </a:p>
          <a:p xmlns:a="http://schemas.openxmlformats.org/drawingml/2006/main">
            <a:r>
              <a:t>- /home/kmj/sast-project-clean/docs/architecture.md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흐름은 로그인, 프로젝트, ZIP 업로드, Semgrep 실행, 정규화, 결과 조회의 여섯 단계입니다. 중요한 설계 판단은 Semgrep JSON을 화면에 바로 보여주지 않고 공통 Finding 형식으로 바꿔 저장한 것입니다. 이 때문에 Java, JavaScript, Python이 같은 이력과 결과 화면을 공유합니다.</a:t>
            </a:r>
          </a:p>
          <a:p xmlns:a="http://schemas.openxmlformats.org/drawingml/2006/main">
            <a:r>
              <a:t/>
            </a:r>
          </a:p>
          <a:p xmlns:a="http://schemas.openxmlformats.org/drawingml/2006/main">
            <a:r>
              <a:t>[Sources]</a:t>
            </a:r>
          </a:p>
          <a:p xmlns:a="http://schemas.openxmlformats.org/drawingml/2006/main">
            <a:r>
              <a:t>- /home/kmj/sast-project-clean/docs/architecture.md</a:t>
            </a:r>
          </a:p>
          <a:p xmlns:a="http://schemas.openxmlformats.org/drawingml/2006/main">
            <a:r>
              <a:t>- /home/kmj/sast-project-clean/docs/quality.md</a:t>
            </a:r>
          </a:p>
          <a:p xmlns:a="http://schemas.openxmlformats.org/drawingml/2006/main">
            <a:r>
              <a:t>- /home/kmj/sast-project-clean/docs/traceability.md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계정은 사내 프로그램이라는 전제로 company.com 이메일만 받습니다. 비밀번호는 복호화가 필요한 암호화가 아니라, 원문을 되돌릴 수 없는 bcrypt 해시로 저장합니다. 세션은 서명 쿠키를 사용하지만 권한을 쿠키에 고정하지 않고 매 요청마다 DB에서 역할과 활성 상태를 확인했습니다. 그래서 관리자가 역할을 바꾸면 다음 요청부터 바로 반영됩니다.</a:t>
            </a:r>
          </a:p>
          <a:p xmlns:a="http://schemas.openxmlformats.org/drawingml/2006/main">
            <a:r>
              <a:t/>
            </a:r>
          </a:p>
          <a:p xmlns:a="http://schemas.openxmlformats.org/drawingml/2006/main">
            <a:r>
              <a:t>[Sources]</a:t>
            </a:r>
          </a:p>
          <a:p xmlns:a="http://schemas.openxmlformats.org/drawingml/2006/main">
            <a:r>
              <a:t>- /home/kmj/sast-project-clean/docs/requirements.md</a:t>
            </a:r>
          </a:p>
          <a:p xmlns:a="http://schemas.openxmlformats.org/drawingml/2006/main">
            <a:r>
              <a:t>- /home/kmj/sast-project-clean/docs/security.md</a:t>
            </a:r>
          </a:p>
          <a:p xmlns:a="http://schemas.openxmlformats.org/drawingml/2006/main">
            <a:r>
              <a:t>- /home/kmj/sast-project-clean/app/auth/</a:t>
            </a:r>
          </a:p>
          <a:p xmlns:a="http://schemas.openxmlformats.org/drawingml/2006/main">
            <a:r>
              <a:t>- /home/kmj/sast-project-clean/tests/test_authentication.py</a:t>
            </a:r>
          </a:p>
          <a:p xmlns:a="http://schemas.openxmlformats.org/drawingml/2006/main">
            <a:r>
              <a:t>- /home/kmj/sast-project-clean/design/export.pdf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프로젝트는 단순한 목록이 아니라 접근 경계입니다. ADMIN은 프로젝트를 만들고 사용자를 할당하며 소스를 업로드하고 분석할 수 있습니다. 일반 USER는 project_users 관계에 할당된 프로젝트만 읽을 수 있습니다. URL의 프로젝트 ID를 그대로 믿지 않고 DB 관계를 확인하며, 권한이 없으면 403 대신 404를 반환해 프로젝트 존재 여부도 숨깁니다.</a:t>
            </a:r>
          </a:p>
          <a:p xmlns:a="http://schemas.openxmlformats.org/drawingml/2006/main">
            <a:r>
              <a:t/>
            </a:r>
          </a:p>
          <a:p xmlns:a="http://schemas.openxmlformats.org/drawingml/2006/main">
            <a:r>
              <a:t>[Sources]</a:t>
            </a:r>
          </a:p>
          <a:p xmlns:a="http://schemas.openxmlformats.org/drawingml/2006/main">
            <a:r>
              <a:t>- /home/kmj/sast-project-clean/docs/database.md</a:t>
            </a:r>
          </a:p>
          <a:p xmlns:a="http://schemas.openxmlformats.org/drawingml/2006/main">
            <a:r>
              <a:t>- /home/kmj/sast-project-clean/docs/security.md</a:t>
            </a:r>
          </a:p>
          <a:p xmlns:a="http://schemas.openxmlformats.org/drawingml/2006/main">
            <a:r>
              <a:t>- /home/kmj/sast-project-clean/app/projects/access.py</a:t>
            </a:r>
          </a:p>
          <a:p xmlns:a="http://schemas.openxmlformats.org/drawingml/2006/main">
            <a:r>
              <a:t>- /home/kmj/sast-project-clean/tests/test_projects.py</a:t>
            </a:r>
          </a:p>
          <a:p xmlns:a="http://schemas.openxmlformats.org/drawingml/2006/main">
            <a:r>
              <a:t>- /home/kmj/sast-project-clean/design/export.pdf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업로드 보안에서 중요한 점은 확장자만 보지 않는 것입니다. 실제 ZIP 구조를 검사해 경로 탈출, 심볼릭 링크, 특수 파일, 암호화 ZIP과 크기 초과를 차단합니다. 검증된 프로젝트 소스는 보관하지만, Semgrep은 매 실행마다 만든 별도 임시 복사본에서 동작합니다. 이 복사본은 성공이나 실패와 관계없이 삭제합니다. 또한 DB에 저장된 경로도 분석 직전에 프로젝트 경계 안인지 다시 확인합니다.</a:t>
            </a:r>
          </a:p>
          <a:p xmlns:a="http://schemas.openxmlformats.org/drawingml/2006/main">
            <a:r>
              <a:t/>
            </a:r>
          </a:p>
          <a:p xmlns:a="http://schemas.openxmlformats.org/drawingml/2006/main">
            <a:r>
              <a:t>[Sources]</a:t>
            </a:r>
          </a:p>
          <a:p xmlns:a="http://schemas.openxmlformats.org/drawingml/2006/main">
            <a:r>
              <a:t>- /home/kmj/sast-project-clean/docs/security.md</a:t>
            </a:r>
          </a:p>
          <a:p xmlns:a="http://schemas.openxmlformats.org/drawingml/2006/main">
            <a:r>
              <a:t>- /home/kmj/sast-project-clean/docs/configuration.md</a:t>
            </a:r>
          </a:p>
          <a:p xmlns:a="http://schemas.openxmlformats.org/drawingml/2006/main">
            <a:r>
              <a:t>- /home/kmj/sast-project-clean/app/projects/upload.py</a:t>
            </a:r>
          </a:p>
          <a:p xmlns:a="http://schemas.openxmlformats.org/drawingml/2006/main">
            <a:r>
              <a:t>- /home/kmj/sast-project-clean/app/analysis/service.py</a:t>
            </a:r>
          </a:p>
          <a:p xmlns:a="http://schemas.openxmlformats.org/drawingml/2006/main">
            <a:r>
              <a:t>- /home/kmj/sast-project-clean/tests/test_source_upload.py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Semgrep 결과는 분석 실행별로 저장합니다. 상태는 PENDING, RUNNING, COMPLETED 또는 FAILED로 남고, 성공한 결과는 파일 위치, 심각도, 신뢰도, 근거 코드와 원본 JSON을 공통 Finding으로 정규화합니다. 또한 소스와 규칙 세트의 해시, Semgrep 버전, 활성 규칙 목록을 함께 저장해 나중에 어떤 조건으로 분석했는지 확인할 수 있습니다.</a:t>
            </a:r>
          </a:p>
          <a:p xmlns:a="http://schemas.openxmlformats.org/drawingml/2006/main">
            <a:r>
              <a:t/>
            </a:r>
          </a:p>
          <a:p xmlns:a="http://schemas.openxmlformats.org/drawingml/2006/main">
            <a:r>
              <a:t>[Sources]</a:t>
            </a:r>
          </a:p>
          <a:p xmlns:a="http://schemas.openxmlformats.org/drawingml/2006/main">
            <a:r>
              <a:t>- /home/kmj/sast-project-clean/docs/architecture.md</a:t>
            </a:r>
          </a:p>
          <a:p xmlns:a="http://schemas.openxmlformats.org/drawingml/2006/main">
            <a:r>
              <a:t>- /home/kmj/sast-project-clean/docs/database.md</a:t>
            </a:r>
          </a:p>
          <a:p xmlns:a="http://schemas.openxmlformats.org/drawingml/2006/main">
            <a:r>
              <a:t>- /home/kmj/sast-project-clean/app/findings/services.py</a:t>
            </a:r>
          </a:p>
          <a:p xmlns:a="http://schemas.openxmlformats.org/drawingml/2006/main">
            <a:r>
              <a:t>- /home/kmj/sast-project-clean/tests/test_findings.py</a:t>
            </a:r>
          </a:p>
          <a:p xmlns:a="http://schemas.openxmlformats.org/drawingml/2006/main">
            <a:r>
              <a:t>- /home/kmj/sast-project-clean/design/export.pdf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여기서는 카탈로그 등록과 자동 탐지를 구분해야 합니다. 공식 49개 항목은 모두 조회할 수 있지만, 현재 실제 Semgrep 규칙과 고정 샘플로 검증한 항목은 8개이며 상태는 PARTIAL입니다. 나머지 41개는 NOT_IMPLEMENTED로 표시해 자동 탐지한다고 과장하지 않습니다. YAML은 개발자가 작성하고, 관리 화면은 KISA 항목과 언어별 Semgrep Rule ID 연결만 담당합니다.</a:t>
            </a:r>
          </a:p>
          <a:p xmlns:a="http://schemas.openxmlformats.org/drawingml/2006/main">
            <a:r>
              <a:t/>
            </a:r>
          </a:p>
          <a:p xmlns:a="http://schemas.openxmlformats.org/drawingml/2006/main">
            <a:r>
              <a:t>[Sources]</a:t>
            </a:r>
          </a:p>
          <a:p xmlns:a="http://schemas.openxmlformats.org/drawingml/2006/main">
            <a:r>
              <a:t>- /home/kmj/sast-project-clean/docs/kisa-catalog.md</a:t>
            </a:r>
          </a:p>
          <a:p xmlns:a="http://schemas.openxmlformats.org/drawingml/2006/main">
            <a:r>
              <a:t>- /home/kmj/sast-project-clean/docs/traceability.md</a:t>
            </a:r>
          </a:p>
          <a:p xmlns:a="http://schemas.openxmlformats.org/drawingml/2006/main">
            <a:r>
              <a:t>- /home/kmj/sast-project-clean/app/rules/catalog.py</a:t>
            </a:r>
          </a:p>
          <a:p xmlns:a="http://schemas.openxmlformats.org/drawingml/2006/main">
            <a:r>
              <a:t>- /home/kmj/sast-project-clean/tests/test_diagnostic_examples.py</a:t>
            </a:r>
          </a:p>
          <a:p xmlns:a="http://schemas.openxmlformats.org/drawingml/2006/main">
            <a:r>
              <a:t>- /home/kmj/sast-project-clean/design/export.pdf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중간점검으로 최신 작업 트리에서 전체 48개 테스트가 통과했습니다. 최종발표까지는 기능을 무작정 늘리기보다 먼저 수동 인수시험과 실패 시나리오를 고정하고, 고객 역할의 강사님과 탐지 규칙 보강 우선순위를 합의한 뒤, 마지막에 배포 보안 점검과 시연 리허설을 진행하겠습니다. 이어서 로그인, 프로젝트, ZIP 분석, Finding 상세, KISA 규칙 순서로 시연하겠습니다. 시연용 ZIP과 로그인 계정은 미리 준비하고, 실패에 대비해 완료된 분석 이력도 하나 남겨두겠습니다.</a:t>
            </a:r>
          </a:p>
          <a:p xmlns:a="http://schemas.openxmlformats.org/drawingml/2006/main">
            <a:r>
              <a:t/>
            </a:r>
          </a:p>
          <a:p xmlns:a="http://schemas.openxmlformats.org/drawingml/2006/main">
            <a:r>
              <a:t>[Sources]</a:t>
            </a:r>
          </a:p>
          <a:p xmlns:a="http://schemas.openxmlformats.org/drawingml/2006/main">
            <a:r>
              <a:t>- /home/kmj/sast-project-clean/docs/testing.md</a:t>
            </a:r>
          </a:p>
          <a:p xmlns:a="http://schemas.openxmlformats.org/drawingml/2006/main">
            <a:r>
              <a:t>- /home/kmj/sast-project-clean/docs/security.md</a:t>
            </a:r>
          </a:p>
          <a:p xmlns:a="http://schemas.openxmlformats.org/drawingml/2006/main">
            <a:r>
              <a:t>- /home/kmj/sast-project-clean/docs/traceability.md</a:t>
            </a:r>
          </a:p>
          <a:p xmlns:a="http://schemas.openxmlformats.org/drawingml/2006/main">
            <a:r>
              <a:t>- Local verification: .venv/bin/pytest -q — 48 passed in 57.58s (2026-08-30)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표는 질의응답에서 요구사항 번호를 물어볼 때 사용합니다. 발표 본문에서는 기능을 먼저 설명하고, 이 부록에서 관련 요구사항과 시험 근거를 한 번에 확인할 수 있습니다.</a:t>
            </a:r>
          </a:p>
          <a:p xmlns:a="http://schemas.openxmlformats.org/drawingml/2006/main">
            <a:r>
              <a:t/>
            </a:r>
          </a:p>
          <a:p xmlns:a="http://schemas.openxmlformats.org/drawingml/2006/main">
            <a:r>
              <a:t>[Sources]</a:t>
            </a:r>
          </a:p>
          <a:p xmlns:a="http://schemas.openxmlformats.org/drawingml/2006/main">
            <a:r>
              <a:t>- /home/kmj/sast-project-clean/docs/requirements.md</a:t>
            </a:r>
          </a:p>
          <a:p xmlns:a="http://schemas.openxmlformats.org/drawingml/2006/main">
            <a:r>
              <a:t>- /home/kmj/sast-project-clean/docs/traceability.md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부록의 마지막 장은 질문을 받았을 때 바로 사용할 수 있는 근거입니다. 설계 선택은 보안을 과하게 복잡하게 만드는 방향이 아니라, 이 MVP에서 실제로 필요한 위험을 막으면서 설치와 설명이 가능한 수준으로 결정했습니다.</a:t>
            </a:r>
          </a:p>
          <a:p xmlns:a="http://schemas.openxmlformats.org/drawingml/2006/main">
            <a:r>
              <a:t/>
            </a:r>
          </a:p>
          <a:p xmlns:a="http://schemas.openxmlformats.org/drawingml/2006/main">
            <a:r>
              <a:t>[Sources]</a:t>
            </a:r>
          </a:p>
          <a:p xmlns:a="http://schemas.openxmlformats.org/drawingml/2006/main">
            <a:r>
              <a:t>- /home/kmj/sast-project-clean/docs/testing.md</a:t>
            </a:r>
          </a:p>
          <a:p xmlns:a="http://schemas.openxmlformats.org/drawingml/2006/main">
            <a:r>
              <a:t>- /home/kmj/sast-project-clean/docs/quality.md</a:t>
            </a:r>
          </a:p>
          <a:p xmlns:a="http://schemas.openxmlformats.org/drawingml/2006/main">
            <a:r>
              <a:t>- /home/kmj/sast-project-clean/docs/security.md</a:t>
            </a:r>
          </a:p>
          <a:p xmlns:a="http://schemas.openxmlformats.org/drawingml/2006/main">
            <a:r>
              <a:t>- /home/kmj/sast-project-clean/docs/architecture.md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a7caba069040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b06c8dd33b43e3" /><Relationship Type="http://schemas.openxmlformats.org/officeDocument/2006/relationships/slideLayout" Target="/ppt/slideLayouts/slideLayout1.xml" Id="R6089ad958d9346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89ad958d9346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a73c00a9cbc465c" /><Relationship Type="http://schemas.openxmlformats.org/officeDocument/2006/relationships/notesSlide" Target="/ppt/notesSlides/notesSlide1.xml" Id="R4792e411f73045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ebf90f7a86b49e4" /><Relationship Type="http://schemas.openxmlformats.org/officeDocument/2006/relationships/notesSlide" Target="/ppt/notesSlides/notesSlide2.xml" Id="Ra9b8a0bf9fc14b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933ac3619a64615" /><Relationship Type="http://schemas.openxmlformats.org/officeDocument/2006/relationships/image" Target="/ppt/media/image.png" Id="R999a887f92114d24" /><Relationship Type="http://schemas.openxmlformats.org/officeDocument/2006/relationships/notesSlide" Target="/ppt/notesSlides/notesSlide3.xml" Id="Rc80bba41012148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cae9fd89e44ce0" /><Relationship Type="http://schemas.openxmlformats.org/officeDocument/2006/relationships/image" Target="/ppt/media/image2.png" Id="Re45994d826124084" /><Relationship Type="http://schemas.openxmlformats.org/officeDocument/2006/relationships/notesSlide" Target="/ppt/notesSlides/notesSlide4.xml" Id="R9893e0e5b2bd4a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078b102d0d24cf5" /><Relationship Type="http://schemas.openxmlformats.org/officeDocument/2006/relationships/notesSlide" Target="/ppt/notesSlides/notesSlide5.xml" Id="Rfceebec8f5214e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11e41ef4e9d4c42" /><Relationship Type="http://schemas.openxmlformats.org/officeDocument/2006/relationships/image" Target="/ppt/media/image3.png" Id="Rdeae5d407bdc4775" /><Relationship Type="http://schemas.openxmlformats.org/officeDocument/2006/relationships/notesSlide" Target="/ppt/notesSlides/notesSlide6.xml" Id="R3e61d279df2341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7c3da71659845b9" /><Relationship Type="http://schemas.openxmlformats.org/officeDocument/2006/relationships/image" Target="/ppt/media/image4.png" Id="R95ad20f3d0e24dbd" /><Relationship Type="http://schemas.openxmlformats.org/officeDocument/2006/relationships/notesSlide" Target="/ppt/notesSlides/notesSlide7.xml" Id="R17fc2c19d91e4e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cffb1afbc34d74" /><Relationship Type="http://schemas.openxmlformats.org/officeDocument/2006/relationships/notesSlide" Target="/ppt/notesSlides/notesSlide8.xml" Id="R907197cd6f4348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0f8b585ee8b4c07" /><Relationship Type="http://schemas.openxmlformats.org/officeDocument/2006/relationships/notesSlide" Target="/ppt/notesSlides/notesSlide9.xml" Id="R180beb49c1f3403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41ff8a5578e4011" /><Relationship Type="http://schemas.openxmlformats.org/officeDocument/2006/relationships/notesSlide" Target="/ppt/notesSlides/notesSlide10.xml" Id="R3bd13bb9983a4dd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7395660-3C45-43C6-83A3-02AA5734F91B}"/>
              </a:ext>
            </a:extLst>
          </p:cNvPr>
          <p:cNvSpPr>
            <a:spLocks xmlns:a="http://schemas.openxmlformats.org/drawingml/2006/main" noGrp="1"/>
          </p:cNvSpPr>
          <p:nvPr/>
        </p:nvSpPr>
        <p:spPr>
          <a:xfrm xmlns:a="http://schemas.openxmlformats.org/drawingml/2006/main">
            <a:off x="0" y="0"/>
            <a:ext cx="3067050" cy="6858000"/>
          </a:xfrm>
          <a:prstGeom xmlns:a="http://schemas.openxmlformats.org/drawingml/2006/main" prst="rect">
            <a:avLst/>
          </a:prstGeom>
          <a:solidFill xmlns:a="http://schemas.openxmlformats.org/drawingml/2006/main">
            <a:srgbClr val="0B223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06A0C1B-D98F-492E-8284-D2F09B67082B}"/>
              </a:ext>
            </a:extLst>
          </p:cNvPr>
          <p:cNvSpPr>
            <a:spLocks xmlns:a="http://schemas.openxmlformats.org/drawingml/2006/main" noGrp="1"/>
          </p:cNvSpPr>
          <p:nvPr/>
        </p:nvSpPr>
        <p:spPr>
          <a:xfrm xmlns:a="http://schemas.openxmlformats.org/drawingml/2006/main">
            <a:off x="762000" y="990600"/>
            <a:ext cx="590550" cy="590550"/>
          </a:xfrm>
          <a:prstGeom xmlns:a="http://schemas.openxmlformats.org/drawingml/2006/main" prst="roundRect">
            <a:avLst>
              <a:gd name="adj" fmla="val 19355"/>
            </a:avLst>
          </a:prstGeom>
          <a:solidFill xmlns:a="http://schemas.openxmlformats.org/drawingml/2006/main">
            <a:srgbClr val="1F6EA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EDB0269-1832-4E4E-861A-B41B1AD338FD}"/>
              </a:ext>
            </a:extLst>
          </p:cNvPr>
          <p:cNvSpPr>
            <a:spLocks xmlns:a="http://schemas.openxmlformats.org/drawingml/2006/main" noGrp="1"/>
          </p:cNvSpPr>
          <p:nvPr/>
        </p:nvSpPr>
        <p:spPr>
          <a:xfrm xmlns:a="http://schemas.openxmlformats.org/drawingml/2006/main">
            <a:off x="762000" y="10668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FFFFFF"/>
                </a:solidFill>
              </a:defRPr>
            </a:pPr>
            <a:r>
              <a:rPr sz="2250" b="1">
                <a:solidFill>
                  <a:srgbClr val="FFFFFF"/>
                </a:solidFill>
              </a:rPr>
              <a:t>✓</a:t>
            </a:r>
          </a:p>
        </p:txBody>
      </p:sp>
      <p:sp>
        <p:nvSpPr>
          <p:cNvPr id="4" name="">
            <a:extLst xmlns:a="http://schemas.openxmlformats.org/drawingml/2006/main">
              <a:ext uri="{FF2B5EF4-FFF2-40B4-BE49-F238E27FC236}">
                <a16:creationId xmlns:a16="http://schemas.microsoft.com/office/drawing/2014/main" id="{50A25D36-B251-4928-89B1-95B578DB7233}"/>
              </a:ext>
            </a:extLst>
          </p:cNvPr>
          <p:cNvSpPr>
            <a:spLocks xmlns:a="http://schemas.openxmlformats.org/drawingml/2006/main" noGrp="1"/>
          </p:cNvSpPr>
          <p:nvPr/>
        </p:nvSpPr>
        <p:spPr>
          <a:xfrm xmlns:a="http://schemas.openxmlformats.org/drawingml/2006/main">
            <a:off x="762000" y="17716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FFFFF"/>
                </a:solidFill>
              </a:defRPr>
            </a:pPr>
            <a:r>
              <a:rPr sz="1800" b="1">
                <a:solidFill>
                  <a:srgbClr val="FFFFFF"/>
                </a:solidFill>
              </a:rPr>
              <a:t>SecureScan</a:t>
            </a:r>
          </a:p>
        </p:txBody>
      </p:sp>
      <p:sp>
        <p:nvSpPr>
          <p:cNvPr id="5" name="">
            <a:extLst xmlns:a="http://schemas.openxmlformats.org/drawingml/2006/main">
              <a:ext uri="{FF2B5EF4-FFF2-40B4-BE49-F238E27FC236}">
                <a16:creationId xmlns:a16="http://schemas.microsoft.com/office/drawing/2014/main" id="{ED4FD4FE-4D63-4BE0-8AD0-3973537431E1}"/>
              </a:ext>
            </a:extLst>
          </p:cNvPr>
          <p:cNvSpPr>
            <a:spLocks xmlns:a="http://schemas.openxmlformats.org/drawingml/2006/main" noGrp="1"/>
          </p:cNvSpPr>
          <p:nvPr/>
        </p:nvSpPr>
        <p:spPr>
          <a:xfrm xmlns:a="http://schemas.openxmlformats.org/drawingml/2006/main">
            <a:off x="762000" y="2171700"/>
            <a:ext cx="1809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A9BDD0"/>
                </a:solidFill>
              </a:defRPr>
            </a:pPr>
            <a:r>
              <a:rPr sz="1050" b="0">
                <a:solidFill>
                  <a:srgbClr val="A9BDD0"/>
                </a:solidFill>
              </a:rPr>
              <a:t>KISA 기준 기반 SAST MVP</a:t>
            </a:r>
          </a:p>
        </p:txBody>
      </p:sp>
      <p:sp>
        <p:nvSpPr>
          <p:cNvPr id="6" name="">
            <a:extLst xmlns:a="http://schemas.openxmlformats.org/drawingml/2006/main">
              <a:ext uri="{FF2B5EF4-FFF2-40B4-BE49-F238E27FC236}">
                <a16:creationId xmlns:a16="http://schemas.microsoft.com/office/drawing/2014/main" id="{C4AEE278-E1B0-4818-846E-EAED5E9D358A}"/>
              </a:ext>
            </a:extLst>
          </p:cNvPr>
          <p:cNvSpPr>
            <a:spLocks xmlns:a="http://schemas.openxmlformats.org/drawingml/2006/main" noGrp="1"/>
          </p:cNvSpPr>
          <p:nvPr/>
        </p:nvSpPr>
        <p:spPr>
          <a:xfrm xmlns:a="http://schemas.openxmlformats.org/drawingml/2006/main">
            <a:off x="3676650" y="1562100"/>
            <a:ext cx="773430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a:solidFill>
                  <a:srgbClr val="152536"/>
                </a:solidFill>
              </a:defRPr>
            </a:pPr>
            <a:r>
              <a:rPr sz="3750" b="1">
                <a:solidFill>
                  <a:srgbClr val="152536"/>
                </a:solidFill>
              </a:rPr>
              <a:t>정적 애플리케이션 보안 진단</a:t>
            </a:r>
          </a:p>
          <a:p xmlns:a="http://schemas.openxmlformats.org/drawingml/2006/main">
            <a:pPr algn="l">
              <a:defRPr sz="3750" b="1">
                <a:solidFill>
                  <a:srgbClr val="152536"/>
                </a:solidFill>
              </a:defRPr>
            </a:pPr>
            <a:r>
              <a:rPr sz="3750" b="1">
                <a:solidFill>
                  <a:srgbClr val="152536"/>
                </a:solidFill>
              </a:rPr>
              <a:t>프로그램 MVP 개발 중간발표</a:t>
            </a:r>
          </a:p>
        </p:txBody>
      </p:sp>
      <p:sp>
        <p:nvSpPr>
          <p:cNvPr id="7" name="">
            <a:extLst xmlns:a="http://schemas.openxmlformats.org/drawingml/2006/main">
              <a:ext uri="{FF2B5EF4-FFF2-40B4-BE49-F238E27FC236}">
                <a16:creationId xmlns:a16="http://schemas.microsoft.com/office/drawing/2014/main" id="{F7818E8A-1C23-4EAC-9DF8-A54F66E5AA44}"/>
              </a:ext>
            </a:extLst>
          </p:cNvPr>
          <p:cNvSpPr>
            <a:spLocks xmlns:a="http://schemas.openxmlformats.org/drawingml/2006/main" noGrp="1"/>
          </p:cNvSpPr>
          <p:nvPr/>
        </p:nvSpPr>
        <p:spPr>
          <a:xfrm xmlns:a="http://schemas.openxmlformats.org/drawingml/2006/main">
            <a:off x="3676650" y="3505200"/>
            <a:ext cx="1466850" cy="0"/>
          </a:xfrm>
          <a:prstGeom xmlns:a="http://schemas.openxmlformats.org/drawingml/2006/main" prst="line">
            <a:avLst/>
          </a:prstGeom>
          <a:noFill xmlns:a="http://schemas.openxmlformats.org/drawingml/2006/main"/>
          <a:ln xmlns:a="http://schemas.openxmlformats.org/drawingml/2006/main" w="57150">
            <a:solidFill>
              <a:srgbClr val="1F6EA5"/>
            </a:solidFill>
            <a:prstDash val="solid"/>
          </a:ln>
        </p:spPr>
      </p:sp>
      <p:sp>
        <p:nvSpPr>
          <p:cNvPr id="8" name="">
            <a:extLst xmlns:a="http://schemas.openxmlformats.org/drawingml/2006/main">
              <a:ext uri="{FF2B5EF4-FFF2-40B4-BE49-F238E27FC236}">
                <a16:creationId xmlns:a16="http://schemas.microsoft.com/office/drawing/2014/main" id="{24DB850D-3B59-4345-AB74-5D14637B66BD}"/>
              </a:ext>
            </a:extLst>
          </p:cNvPr>
          <p:cNvSpPr>
            <a:spLocks xmlns:a="http://schemas.openxmlformats.org/drawingml/2006/main" noGrp="1"/>
          </p:cNvSpPr>
          <p:nvPr/>
        </p:nvSpPr>
        <p:spPr>
          <a:xfrm xmlns:a="http://schemas.openxmlformats.org/drawingml/2006/main">
            <a:off x="3676650" y="3848100"/>
            <a:ext cx="752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60758A"/>
                </a:solidFill>
              </a:defRPr>
            </a:pPr>
            <a:r>
              <a:rPr sz="1500" b="0">
                <a:solidFill>
                  <a:srgbClr val="60758A"/>
                </a:solidFill>
              </a:rPr>
              <a:t>Java · JavaScript · Python  |  FastAPI · Semgrep · SQLAlchemy</a:t>
            </a:r>
          </a:p>
        </p:txBody>
      </p:sp>
      <p:sp>
        <p:nvSpPr>
          <p:cNvPr id="9" name="">
            <a:extLst xmlns:a="http://schemas.openxmlformats.org/drawingml/2006/main">
              <a:ext uri="{FF2B5EF4-FFF2-40B4-BE49-F238E27FC236}">
                <a16:creationId xmlns:a16="http://schemas.microsoft.com/office/drawing/2014/main" id="{D6A7955F-7A3A-4C70-8B3D-242587E1F655}"/>
              </a:ext>
            </a:extLst>
          </p:cNvPr>
          <p:cNvSpPr>
            <a:spLocks xmlns:a="http://schemas.openxmlformats.org/drawingml/2006/main" noGrp="1"/>
          </p:cNvSpPr>
          <p:nvPr/>
        </p:nvSpPr>
        <p:spPr>
          <a:xfrm xmlns:a="http://schemas.openxmlformats.org/drawingml/2006/main">
            <a:off x="3676650" y="55245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F6EA5"/>
                </a:solidFill>
              </a:defRPr>
            </a:pPr>
            <a:r>
              <a:rPr sz="1200" b="1">
                <a:solidFill>
                  <a:srgbClr val="1F6EA5"/>
                </a:solidFill>
              </a:rPr>
              <a:t>중간점검  |  2026.08.30</a:t>
            </a:r>
          </a:p>
        </p:txBody>
      </p:sp>
      <p:sp>
        <p:nvSpPr>
          <p:cNvPr id="10" name="">
            <a:extLst xmlns:a="http://schemas.openxmlformats.org/drawingml/2006/main">
              <a:ext uri="{FF2B5EF4-FFF2-40B4-BE49-F238E27FC236}">
                <a16:creationId xmlns:a16="http://schemas.microsoft.com/office/drawing/2014/main" id="{A93D8F0A-FDBE-4F84-8B7D-22F6F41016C2}"/>
              </a:ext>
            </a:extLst>
          </p:cNvPr>
          <p:cNvSpPr>
            <a:spLocks xmlns:a="http://schemas.openxmlformats.org/drawingml/2006/main" noGrp="1"/>
          </p:cNvSpPr>
          <p:nvPr/>
        </p:nvSpPr>
        <p:spPr>
          <a:xfrm xmlns:a="http://schemas.openxmlformats.org/drawingml/2006/main">
            <a:off x="3676650" y="58674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0758A"/>
                </a:solidFill>
              </a:defRPr>
            </a:pPr>
            <a:r>
              <a:rPr sz="1275" b="0">
                <a:solidFill>
                  <a:srgbClr val="60758A"/>
                </a:solidFill>
              </a:rPr>
              <a:t>요구사항을 기능별로 묶어 설계·구현·검증했습니다</a:t>
            </a:r>
          </a:p>
        </p:txBody>
      </p:sp>
    </p:spTree>
    <p:extLst>
      <p:ext uri="{BB962C8B-B14F-4D97-AF65-F5344CB8AC3E}">
        <p14:creationId xmlns:p14="http://schemas.microsoft.com/office/powerpoint/2010/main" val="1683866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B41357D5-DFF9-4941-A465-B422D7CE2799}"/>
              </a:ext>
            </a:extLst>
          </p:cNvPr>
          <p:cNvSpPr>
            <a:spLocks xmlns:a="http://schemas.openxmlformats.org/drawingml/2006/main" noGrp="1"/>
          </p:cNvSpPr>
          <p:nvPr/>
        </p:nvSpPr>
        <p:spPr>
          <a:xfrm xmlns:a="http://schemas.openxmlformats.org/drawingml/2006/main">
            <a:off x="609600" y="3619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F6EA5"/>
                </a:solidFill>
              </a:defRPr>
            </a:pPr>
            <a:r>
              <a:rPr sz="975" b="1">
                <a:solidFill>
                  <a:srgbClr val="1F6EA5"/>
                </a:solidFill>
              </a:rPr>
              <a:t>MVP 사용자 흐름</a:t>
            </a:r>
          </a:p>
        </p:txBody>
      </p:sp>
      <p:sp>
        <p:nvSpPr>
          <p:cNvPr id="2" name="">
            <a:extLst xmlns:a="http://schemas.openxmlformats.org/drawingml/2006/main">
              <a:ext uri="{FF2B5EF4-FFF2-40B4-BE49-F238E27FC236}">
                <a16:creationId xmlns:a16="http://schemas.microsoft.com/office/drawing/2014/main" id="{C0D5771F-C7CF-440A-9F4E-121E703BF13F}"/>
              </a:ext>
            </a:extLst>
          </p:cNvPr>
          <p:cNvSpPr>
            <a:spLocks xmlns:a="http://schemas.openxmlformats.org/drawingml/2006/main" noGrp="1"/>
          </p:cNvSpPr>
          <p:nvPr/>
        </p:nvSpPr>
        <p:spPr>
          <a:xfrm xmlns:a="http://schemas.openxmlformats.org/drawingml/2006/main">
            <a:off x="609600" y="64770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52536"/>
                </a:solidFill>
              </a:defRPr>
            </a:pPr>
            <a:r>
              <a:rPr sz="2550" b="1">
                <a:solidFill>
                  <a:srgbClr val="152536"/>
                </a:solidFill>
              </a:rPr>
              <a:t>업로드부터 결과까지 하나의 흐름으로 연결했습니다</a:t>
            </a:r>
          </a:p>
        </p:txBody>
      </p:sp>
      <p:sp>
        <p:nvSpPr>
          <p:cNvPr id="3" name="">
            <a:extLst xmlns:a="http://schemas.openxmlformats.org/drawingml/2006/main">
              <a:ext uri="{FF2B5EF4-FFF2-40B4-BE49-F238E27FC236}">
                <a16:creationId xmlns:a16="http://schemas.microsoft.com/office/drawing/2014/main" id="{098E502B-5BE5-4166-BB02-8D4248E19B62}"/>
              </a:ext>
            </a:extLst>
          </p:cNvPr>
          <p:cNvSpPr>
            <a:spLocks xmlns:a="http://schemas.openxmlformats.org/drawingml/2006/main" noGrp="1"/>
          </p:cNvSpPr>
          <p:nvPr/>
        </p:nvSpPr>
        <p:spPr>
          <a:xfrm xmlns:a="http://schemas.openxmlformats.org/drawingml/2006/main">
            <a:off x="8534400" y="361950"/>
            <a:ext cx="3048000" cy="266700"/>
          </a:xfrm>
          <a:prstGeom xmlns:a="http://schemas.openxmlformats.org/drawingml/2006/main" prst="roundRect">
            <a:avLst>
              <a:gd name="adj" fmla="val 42857"/>
            </a:avLst>
          </a:prstGeom>
          <a:solidFill xmlns:a="http://schemas.openxmlformats.org/drawingml/2006/main">
            <a:srgbClr val="F4F8F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B284ED9-2956-44A0-ADE2-67E2D94F67AA}"/>
              </a:ext>
            </a:extLst>
          </p:cNvPr>
          <p:cNvSpPr>
            <a:spLocks xmlns:a="http://schemas.openxmlformats.org/drawingml/2006/main" noGrp="1"/>
          </p:cNvSpPr>
          <p:nvPr/>
        </p:nvSpPr>
        <p:spPr>
          <a:xfrm xmlns:a="http://schemas.openxmlformats.org/drawingml/2006/main">
            <a:off x="8534400" y="400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60758A"/>
                </a:solidFill>
              </a:defRPr>
            </a:pPr>
            <a:r>
              <a:rPr sz="825" b="1">
                <a:solidFill>
                  <a:srgbClr val="60758A"/>
                </a:solidFill>
              </a:rPr>
              <a:t>SFR-008~013 · DAR-003~009</a:t>
            </a:r>
          </a:p>
        </p:txBody>
      </p:sp>
      <p:sp>
        <p:nvSpPr>
          <p:cNvPr id="5" name="">
            <a:extLst xmlns:a="http://schemas.openxmlformats.org/drawingml/2006/main">
              <a:ext uri="{FF2B5EF4-FFF2-40B4-BE49-F238E27FC236}">
                <a16:creationId xmlns:a16="http://schemas.microsoft.com/office/drawing/2014/main" id="{C9BEA75C-728A-451B-B72F-B59492671A1B}"/>
              </a:ext>
            </a:extLst>
          </p:cNvPr>
          <p:cNvSpPr>
            <a:spLocks xmlns:a="http://schemas.openxmlformats.org/drawingml/2006/main" noGrp="1"/>
          </p:cNvSpPr>
          <p:nvPr/>
        </p:nvSpPr>
        <p:spPr>
          <a:xfrm xmlns:a="http://schemas.openxmlformats.org/drawingml/2006/main">
            <a:off x="609600" y="1238250"/>
            <a:ext cx="10972800" cy="0"/>
          </a:xfrm>
          <a:prstGeom xmlns:a="http://schemas.openxmlformats.org/drawingml/2006/main" prst="line">
            <a:avLst/>
          </a:prstGeom>
          <a:noFill xmlns:a="http://schemas.openxmlformats.org/drawingml/2006/main"/>
          <a:ln xmlns:a="http://schemas.openxmlformats.org/drawingml/2006/main" w="9525">
            <a:solidFill>
              <a:srgbClr val="D7E2EA"/>
            </a:solidFill>
            <a:prstDash val="solid"/>
          </a:ln>
        </p:spPr>
      </p:sp>
      <p:sp>
        <p:nvSpPr>
          <p:cNvPr id="6" name="">
            <a:extLst xmlns:a="http://schemas.openxmlformats.org/drawingml/2006/main">
              <a:ext uri="{FF2B5EF4-FFF2-40B4-BE49-F238E27FC236}">
                <a16:creationId xmlns:a16="http://schemas.microsoft.com/office/drawing/2014/main" id="{708E757F-6904-4B49-BF2D-7B2919613F46}"/>
              </a:ext>
            </a:extLst>
          </p:cNvPr>
          <p:cNvSpPr>
            <a:spLocks xmlns:a="http://schemas.openxmlformats.org/drawingml/2006/main" noGrp="1"/>
          </p:cNvSpPr>
          <p:nvPr/>
        </p:nvSpPr>
        <p:spPr>
          <a:xfrm xmlns:a="http://schemas.openxmlformats.org/drawingml/2006/main">
            <a:off x="609600" y="65532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0758A"/>
                </a:solidFill>
              </a:defRPr>
            </a:pPr>
            <a:r>
              <a:rPr sz="825" b="0">
                <a:solidFill>
                  <a:srgbClr val="60758A"/>
                </a:solidFill>
              </a:rPr>
              <a:t>SecureScan · 중간발표</a:t>
            </a:r>
          </a:p>
        </p:txBody>
      </p:sp>
      <p:sp>
        <p:nvSpPr>
          <p:cNvPr id="7" name="">
            <a:extLst xmlns:a="http://schemas.openxmlformats.org/drawingml/2006/main">
              <a:ext uri="{FF2B5EF4-FFF2-40B4-BE49-F238E27FC236}">
                <a16:creationId xmlns:a16="http://schemas.microsoft.com/office/drawing/2014/main" id="{7EBECE74-B281-4CE9-8116-6F93BB14D2F5}"/>
              </a:ext>
            </a:extLst>
          </p:cNvPr>
          <p:cNvSpPr>
            <a:spLocks xmlns:a="http://schemas.openxmlformats.org/drawingml/2006/main" noGrp="1"/>
          </p:cNvSpPr>
          <p:nvPr/>
        </p:nvSpPr>
        <p:spPr>
          <a:xfrm xmlns:a="http://schemas.openxmlformats.org/drawingml/2006/main">
            <a:off x="11220450" y="65532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0758A"/>
                </a:solidFill>
              </a:defRPr>
            </a:pPr>
            <a:r>
              <a:rPr sz="825" b="1">
                <a:solidFill>
                  <a:srgbClr val="60758A"/>
                </a:solidFill>
              </a:rPr>
              <a:t>02</a:t>
            </a:r>
          </a:p>
        </p:txBody>
      </p:sp>
      <p:sp>
        <p:nvSpPr>
          <p:cNvPr id="8" name="">
            <a:extLst xmlns:a="http://schemas.openxmlformats.org/drawingml/2006/main">
              <a:ext uri="{FF2B5EF4-FFF2-40B4-BE49-F238E27FC236}">
                <a16:creationId xmlns:a16="http://schemas.microsoft.com/office/drawing/2014/main" id="{3C4B7242-0055-478C-9623-18361D25A117}"/>
              </a:ext>
            </a:extLst>
          </p:cNvPr>
          <p:cNvSpPr>
            <a:spLocks xmlns:a="http://schemas.openxmlformats.org/drawingml/2006/main" noGrp="1"/>
          </p:cNvSpPr>
          <p:nvPr/>
        </p:nvSpPr>
        <p:spPr>
          <a:xfrm xmlns:a="http://schemas.openxmlformats.org/drawingml/2006/main">
            <a:off x="2076450" y="2609850"/>
            <a:ext cx="400050" cy="323850"/>
          </a:xfrm>
          <a:prstGeom xmlns:a="http://schemas.openxmlformats.org/drawingml/2006/main" prst="rightArrow">
            <a:avLst/>
          </a:prstGeom>
          <a:solidFill xmlns:a="http://schemas.openxmlformats.org/drawingml/2006/main">
            <a:srgbClr val="EAF3F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4894CFD-D01C-46C9-8464-03E8B419E2B5}"/>
              </a:ext>
            </a:extLst>
          </p:cNvPr>
          <p:cNvSpPr>
            <a:spLocks xmlns:a="http://schemas.openxmlformats.org/drawingml/2006/main" noGrp="1"/>
          </p:cNvSpPr>
          <p:nvPr/>
        </p:nvSpPr>
        <p:spPr>
          <a:xfrm xmlns:a="http://schemas.openxmlformats.org/drawingml/2006/main">
            <a:off x="3962400" y="2609850"/>
            <a:ext cx="400050" cy="323850"/>
          </a:xfrm>
          <a:prstGeom xmlns:a="http://schemas.openxmlformats.org/drawingml/2006/main" prst="rightArrow">
            <a:avLst/>
          </a:prstGeom>
          <a:solidFill xmlns:a="http://schemas.openxmlformats.org/drawingml/2006/main">
            <a:srgbClr val="EAF3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94457A6-AD3A-4DE2-A4B5-41AA02F8AB84}"/>
              </a:ext>
            </a:extLst>
          </p:cNvPr>
          <p:cNvSpPr>
            <a:spLocks xmlns:a="http://schemas.openxmlformats.org/drawingml/2006/main" noGrp="1"/>
          </p:cNvSpPr>
          <p:nvPr/>
        </p:nvSpPr>
        <p:spPr>
          <a:xfrm xmlns:a="http://schemas.openxmlformats.org/drawingml/2006/main">
            <a:off x="5848350" y="2609850"/>
            <a:ext cx="400050" cy="323850"/>
          </a:xfrm>
          <a:prstGeom xmlns:a="http://schemas.openxmlformats.org/drawingml/2006/main" prst="rightArrow">
            <a:avLst/>
          </a:prstGeom>
          <a:solidFill xmlns:a="http://schemas.openxmlformats.org/drawingml/2006/main">
            <a:srgbClr val="EAF3F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BAA3282-CF9E-4C51-9FC5-FFE571CA2BAA}"/>
              </a:ext>
            </a:extLst>
          </p:cNvPr>
          <p:cNvSpPr>
            <a:spLocks xmlns:a="http://schemas.openxmlformats.org/drawingml/2006/main" noGrp="1"/>
          </p:cNvSpPr>
          <p:nvPr/>
        </p:nvSpPr>
        <p:spPr>
          <a:xfrm xmlns:a="http://schemas.openxmlformats.org/drawingml/2006/main">
            <a:off x="7734300" y="2609850"/>
            <a:ext cx="400050" cy="323850"/>
          </a:xfrm>
          <a:prstGeom xmlns:a="http://schemas.openxmlformats.org/drawingml/2006/main" prst="rightArrow">
            <a:avLst/>
          </a:prstGeom>
          <a:solidFill xmlns:a="http://schemas.openxmlformats.org/drawingml/2006/main">
            <a:srgbClr val="EAF3F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C3B2C6F-3D06-45C1-94E6-271E9A296668}"/>
              </a:ext>
            </a:extLst>
          </p:cNvPr>
          <p:cNvSpPr>
            <a:spLocks xmlns:a="http://schemas.openxmlformats.org/drawingml/2006/main" noGrp="1"/>
          </p:cNvSpPr>
          <p:nvPr/>
        </p:nvSpPr>
        <p:spPr>
          <a:xfrm xmlns:a="http://schemas.openxmlformats.org/drawingml/2006/main">
            <a:off x="9620250" y="2609850"/>
            <a:ext cx="400050" cy="323850"/>
          </a:xfrm>
          <a:prstGeom xmlns:a="http://schemas.openxmlformats.org/drawingml/2006/main" prst="rightArrow">
            <a:avLst/>
          </a:prstGeom>
          <a:solidFill xmlns:a="http://schemas.openxmlformats.org/drawingml/2006/main">
            <a:srgbClr val="EAF3F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B9F97B5-69F5-4188-8B73-6DB4D40544A3}"/>
              </a:ext>
            </a:extLst>
          </p:cNvPr>
          <p:cNvSpPr>
            <a:spLocks xmlns:a="http://schemas.openxmlformats.org/drawingml/2006/main" noGrp="1"/>
          </p:cNvSpPr>
          <p:nvPr/>
        </p:nvSpPr>
        <p:spPr>
          <a:xfrm xmlns:a="http://schemas.openxmlformats.org/drawingml/2006/main">
            <a:off x="723900" y="2095500"/>
            <a:ext cx="1390650" cy="1371600"/>
          </a:xfrm>
          <a:prstGeom xmlns:a="http://schemas.openxmlformats.org/drawingml/2006/main" prst="roundRect">
            <a:avLst>
              <a:gd name="adj" fmla="val 8333"/>
            </a:avLst>
          </a:prstGeom>
          <a:solidFill xmlns:a="http://schemas.openxmlformats.org/drawingml/2006/main">
            <a:srgbClr val="F4F8FB"/>
          </a:solidFill>
          <a:ln xmlns:a="http://schemas.openxmlformats.org/drawingml/2006/main" w="9525">
            <a:solidFill>
              <a:srgbClr val="D7E2EA"/>
            </a:solidFill>
            <a:prstDash val="solid"/>
          </a:ln>
        </p:spPr>
      </p:sp>
      <p:sp>
        <p:nvSpPr>
          <p:cNvPr id="14" name="">
            <a:extLst xmlns:a="http://schemas.openxmlformats.org/drawingml/2006/main">
              <a:ext uri="{FF2B5EF4-FFF2-40B4-BE49-F238E27FC236}">
                <a16:creationId xmlns:a16="http://schemas.microsoft.com/office/drawing/2014/main" id="{7F97DE3A-6718-4636-8067-FBED7A6EB1E1}"/>
              </a:ext>
            </a:extLst>
          </p:cNvPr>
          <p:cNvSpPr>
            <a:spLocks xmlns:a="http://schemas.openxmlformats.org/drawingml/2006/main" noGrp="1"/>
          </p:cNvSpPr>
          <p:nvPr/>
        </p:nvSpPr>
        <p:spPr>
          <a:xfrm xmlns:a="http://schemas.openxmlformats.org/drawingml/2006/main">
            <a:off x="895350" y="22669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EA5"/>
                </a:solidFill>
              </a:defRPr>
            </a:pPr>
            <a:r>
              <a:rPr sz="1050" b="1">
                <a:solidFill>
                  <a:srgbClr val="1F6EA5"/>
                </a:solidFill>
              </a:rPr>
              <a:t>01</a:t>
            </a:r>
          </a:p>
        </p:txBody>
      </p:sp>
      <p:sp>
        <p:nvSpPr>
          <p:cNvPr id="15" name="">
            <a:extLst xmlns:a="http://schemas.openxmlformats.org/drawingml/2006/main">
              <a:ext uri="{FF2B5EF4-FFF2-40B4-BE49-F238E27FC236}">
                <a16:creationId xmlns:a16="http://schemas.microsoft.com/office/drawing/2014/main" id="{A66974BB-578A-4D05-8904-C00A6811B576}"/>
              </a:ext>
            </a:extLst>
          </p:cNvPr>
          <p:cNvSpPr>
            <a:spLocks xmlns:a="http://schemas.openxmlformats.org/drawingml/2006/main" noGrp="1"/>
          </p:cNvSpPr>
          <p:nvPr/>
        </p:nvSpPr>
        <p:spPr>
          <a:xfrm xmlns:a="http://schemas.openxmlformats.org/drawingml/2006/main">
            <a:off x="895350" y="26289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52536"/>
                </a:solidFill>
              </a:defRPr>
            </a:pPr>
            <a:r>
              <a:rPr sz="1500" b="1">
                <a:solidFill>
                  <a:srgbClr val="152536"/>
                </a:solidFill>
              </a:rPr>
              <a:t>로그인</a:t>
            </a:r>
          </a:p>
        </p:txBody>
      </p:sp>
      <p:sp>
        <p:nvSpPr>
          <p:cNvPr id="16" name="">
            <a:extLst xmlns:a="http://schemas.openxmlformats.org/drawingml/2006/main">
              <a:ext uri="{FF2B5EF4-FFF2-40B4-BE49-F238E27FC236}">
                <a16:creationId xmlns:a16="http://schemas.microsoft.com/office/drawing/2014/main" id="{ED59D96B-8E1E-4AD0-963E-6B113D12E8EF}"/>
              </a:ext>
            </a:extLst>
          </p:cNvPr>
          <p:cNvSpPr>
            <a:spLocks xmlns:a="http://schemas.openxmlformats.org/drawingml/2006/main" noGrp="1"/>
          </p:cNvSpPr>
          <p:nvPr/>
        </p:nvSpPr>
        <p:spPr>
          <a:xfrm xmlns:a="http://schemas.openxmlformats.org/drawingml/2006/main">
            <a:off x="895350" y="2990850"/>
            <a:ext cx="1066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60758A"/>
                </a:solidFill>
              </a:defRPr>
            </a:pPr>
            <a:r>
              <a:rPr sz="975" b="0">
                <a:solidFill>
                  <a:srgbClr val="60758A"/>
                </a:solidFill>
              </a:rPr>
              <a:t>사내 계정·역할 확인</a:t>
            </a:r>
          </a:p>
        </p:txBody>
      </p:sp>
      <p:sp>
        <p:nvSpPr>
          <p:cNvPr id="17" name="">
            <a:extLst xmlns:a="http://schemas.openxmlformats.org/drawingml/2006/main">
              <a:ext uri="{FF2B5EF4-FFF2-40B4-BE49-F238E27FC236}">
                <a16:creationId xmlns:a16="http://schemas.microsoft.com/office/drawing/2014/main" id="{26320250-7626-497D-A33B-0D20C2FD829D}"/>
              </a:ext>
            </a:extLst>
          </p:cNvPr>
          <p:cNvSpPr>
            <a:spLocks xmlns:a="http://schemas.openxmlformats.org/drawingml/2006/main" noGrp="1"/>
          </p:cNvSpPr>
          <p:nvPr/>
        </p:nvSpPr>
        <p:spPr>
          <a:xfrm xmlns:a="http://schemas.openxmlformats.org/drawingml/2006/main">
            <a:off x="2609850" y="2095500"/>
            <a:ext cx="1390650" cy="1371600"/>
          </a:xfrm>
          <a:prstGeom xmlns:a="http://schemas.openxmlformats.org/drawingml/2006/main" prst="roundRect">
            <a:avLst>
              <a:gd name="adj" fmla="val 8333"/>
            </a:avLst>
          </a:prstGeom>
          <a:solidFill xmlns:a="http://schemas.openxmlformats.org/drawingml/2006/main">
            <a:srgbClr val="F4F8FB"/>
          </a:solidFill>
          <a:ln xmlns:a="http://schemas.openxmlformats.org/drawingml/2006/main" w="9525">
            <a:solidFill>
              <a:srgbClr val="D7E2EA"/>
            </a:solidFill>
            <a:prstDash val="solid"/>
          </a:ln>
        </p:spPr>
      </p:sp>
      <p:sp>
        <p:nvSpPr>
          <p:cNvPr id="18" name="">
            <a:extLst xmlns:a="http://schemas.openxmlformats.org/drawingml/2006/main">
              <a:ext uri="{FF2B5EF4-FFF2-40B4-BE49-F238E27FC236}">
                <a16:creationId xmlns:a16="http://schemas.microsoft.com/office/drawing/2014/main" id="{D14255AD-6BE2-407D-90AF-EF47B3A8E75A}"/>
              </a:ext>
            </a:extLst>
          </p:cNvPr>
          <p:cNvSpPr>
            <a:spLocks xmlns:a="http://schemas.openxmlformats.org/drawingml/2006/main" noGrp="1"/>
          </p:cNvSpPr>
          <p:nvPr/>
        </p:nvSpPr>
        <p:spPr>
          <a:xfrm xmlns:a="http://schemas.openxmlformats.org/drawingml/2006/main">
            <a:off x="2781300" y="22669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EA5"/>
                </a:solidFill>
              </a:defRPr>
            </a:pPr>
            <a:r>
              <a:rPr sz="1050" b="1">
                <a:solidFill>
                  <a:srgbClr val="1F6EA5"/>
                </a:solidFill>
              </a:rPr>
              <a:t>02</a:t>
            </a:r>
          </a:p>
        </p:txBody>
      </p:sp>
      <p:sp>
        <p:nvSpPr>
          <p:cNvPr id="19" name="">
            <a:extLst xmlns:a="http://schemas.openxmlformats.org/drawingml/2006/main">
              <a:ext uri="{FF2B5EF4-FFF2-40B4-BE49-F238E27FC236}">
                <a16:creationId xmlns:a16="http://schemas.microsoft.com/office/drawing/2014/main" id="{953DE50C-C249-4336-9EB8-9CCCB4209DA1}"/>
              </a:ext>
            </a:extLst>
          </p:cNvPr>
          <p:cNvSpPr>
            <a:spLocks xmlns:a="http://schemas.openxmlformats.org/drawingml/2006/main" noGrp="1"/>
          </p:cNvSpPr>
          <p:nvPr/>
        </p:nvSpPr>
        <p:spPr>
          <a:xfrm xmlns:a="http://schemas.openxmlformats.org/drawingml/2006/main">
            <a:off x="2781300" y="26289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52536"/>
                </a:solidFill>
              </a:defRPr>
            </a:pPr>
            <a:r>
              <a:rPr sz="1500" b="1">
                <a:solidFill>
                  <a:srgbClr val="152536"/>
                </a:solidFill>
              </a:rPr>
              <a:t>프로젝트</a:t>
            </a:r>
          </a:p>
        </p:txBody>
      </p:sp>
      <p:sp>
        <p:nvSpPr>
          <p:cNvPr id="20" name="">
            <a:extLst xmlns:a="http://schemas.openxmlformats.org/drawingml/2006/main">
              <a:ext uri="{FF2B5EF4-FFF2-40B4-BE49-F238E27FC236}">
                <a16:creationId xmlns:a16="http://schemas.microsoft.com/office/drawing/2014/main" id="{152884D9-B25E-4FCE-AFAF-15E456517D20}"/>
              </a:ext>
            </a:extLst>
          </p:cNvPr>
          <p:cNvSpPr>
            <a:spLocks xmlns:a="http://schemas.openxmlformats.org/drawingml/2006/main" noGrp="1"/>
          </p:cNvSpPr>
          <p:nvPr/>
        </p:nvSpPr>
        <p:spPr>
          <a:xfrm xmlns:a="http://schemas.openxmlformats.org/drawingml/2006/main">
            <a:off x="2781300" y="2990850"/>
            <a:ext cx="1066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60758A"/>
                </a:solidFill>
              </a:defRPr>
            </a:pPr>
            <a:r>
              <a:rPr sz="975" b="0">
                <a:solidFill>
                  <a:srgbClr val="60758A"/>
                </a:solidFill>
              </a:rPr>
              <a:t>언어·사용자 경계</a:t>
            </a:r>
          </a:p>
        </p:txBody>
      </p:sp>
      <p:sp>
        <p:nvSpPr>
          <p:cNvPr id="21" name="">
            <a:extLst xmlns:a="http://schemas.openxmlformats.org/drawingml/2006/main">
              <a:ext uri="{FF2B5EF4-FFF2-40B4-BE49-F238E27FC236}">
                <a16:creationId xmlns:a16="http://schemas.microsoft.com/office/drawing/2014/main" id="{4C3D9C4A-9951-44A7-8FE3-136CACD03554}"/>
              </a:ext>
            </a:extLst>
          </p:cNvPr>
          <p:cNvSpPr>
            <a:spLocks xmlns:a="http://schemas.openxmlformats.org/drawingml/2006/main" noGrp="1"/>
          </p:cNvSpPr>
          <p:nvPr/>
        </p:nvSpPr>
        <p:spPr>
          <a:xfrm xmlns:a="http://schemas.openxmlformats.org/drawingml/2006/main">
            <a:off x="4495800" y="2095500"/>
            <a:ext cx="1390650" cy="1371600"/>
          </a:xfrm>
          <a:prstGeom xmlns:a="http://schemas.openxmlformats.org/drawingml/2006/main" prst="roundRect">
            <a:avLst>
              <a:gd name="adj" fmla="val 8333"/>
            </a:avLst>
          </a:prstGeom>
          <a:solidFill xmlns:a="http://schemas.openxmlformats.org/drawingml/2006/main">
            <a:srgbClr val="F4F8FB"/>
          </a:solidFill>
          <a:ln xmlns:a="http://schemas.openxmlformats.org/drawingml/2006/main" w="9525">
            <a:solidFill>
              <a:srgbClr val="D7E2EA"/>
            </a:solidFill>
            <a:prstDash val="solid"/>
          </a:ln>
        </p:spPr>
      </p:sp>
      <p:sp>
        <p:nvSpPr>
          <p:cNvPr id="22" name="">
            <a:extLst xmlns:a="http://schemas.openxmlformats.org/drawingml/2006/main">
              <a:ext uri="{FF2B5EF4-FFF2-40B4-BE49-F238E27FC236}">
                <a16:creationId xmlns:a16="http://schemas.microsoft.com/office/drawing/2014/main" id="{47A6D9F0-72B5-4714-A4AD-084F9A34F366}"/>
              </a:ext>
            </a:extLst>
          </p:cNvPr>
          <p:cNvSpPr>
            <a:spLocks xmlns:a="http://schemas.openxmlformats.org/drawingml/2006/main" noGrp="1"/>
          </p:cNvSpPr>
          <p:nvPr/>
        </p:nvSpPr>
        <p:spPr>
          <a:xfrm xmlns:a="http://schemas.openxmlformats.org/drawingml/2006/main">
            <a:off x="4667250" y="22669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EA5"/>
                </a:solidFill>
              </a:defRPr>
            </a:pPr>
            <a:r>
              <a:rPr sz="1050" b="1">
                <a:solidFill>
                  <a:srgbClr val="1F6EA5"/>
                </a:solidFill>
              </a:rPr>
              <a:t>03</a:t>
            </a:r>
          </a:p>
        </p:txBody>
      </p:sp>
      <p:sp>
        <p:nvSpPr>
          <p:cNvPr id="23" name="">
            <a:extLst xmlns:a="http://schemas.openxmlformats.org/drawingml/2006/main">
              <a:ext uri="{FF2B5EF4-FFF2-40B4-BE49-F238E27FC236}">
                <a16:creationId xmlns:a16="http://schemas.microsoft.com/office/drawing/2014/main" id="{9005DC75-D95C-4878-8CCD-D796D0261049}"/>
              </a:ext>
            </a:extLst>
          </p:cNvPr>
          <p:cNvSpPr>
            <a:spLocks xmlns:a="http://schemas.openxmlformats.org/drawingml/2006/main" noGrp="1"/>
          </p:cNvSpPr>
          <p:nvPr/>
        </p:nvSpPr>
        <p:spPr>
          <a:xfrm xmlns:a="http://schemas.openxmlformats.org/drawingml/2006/main">
            <a:off x="4667250" y="26289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52536"/>
                </a:solidFill>
              </a:defRPr>
            </a:pPr>
            <a:r>
              <a:rPr sz="1500" b="1">
                <a:solidFill>
                  <a:srgbClr val="152536"/>
                </a:solidFill>
              </a:rPr>
              <a:t>ZIP 업로드</a:t>
            </a:r>
          </a:p>
        </p:txBody>
      </p:sp>
      <p:sp>
        <p:nvSpPr>
          <p:cNvPr id="24" name="">
            <a:extLst xmlns:a="http://schemas.openxmlformats.org/drawingml/2006/main">
              <a:ext uri="{FF2B5EF4-FFF2-40B4-BE49-F238E27FC236}">
                <a16:creationId xmlns:a16="http://schemas.microsoft.com/office/drawing/2014/main" id="{3CEB010F-0255-410B-A0DD-9040238A5428}"/>
              </a:ext>
            </a:extLst>
          </p:cNvPr>
          <p:cNvSpPr>
            <a:spLocks xmlns:a="http://schemas.openxmlformats.org/drawingml/2006/main" noGrp="1"/>
          </p:cNvSpPr>
          <p:nvPr/>
        </p:nvSpPr>
        <p:spPr>
          <a:xfrm xmlns:a="http://schemas.openxmlformats.org/drawingml/2006/main">
            <a:off x="4667250" y="2990850"/>
            <a:ext cx="1066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60758A"/>
                </a:solidFill>
              </a:defRPr>
            </a:pPr>
            <a:r>
              <a:rPr sz="975" b="0">
                <a:solidFill>
                  <a:srgbClr val="60758A"/>
                </a:solidFill>
              </a:rPr>
              <a:t>검증 후 안전 추출</a:t>
            </a:r>
          </a:p>
        </p:txBody>
      </p:sp>
      <p:sp>
        <p:nvSpPr>
          <p:cNvPr id="25" name="">
            <a:extLst xmlns:a="http://schemas.openxmlformats.org/drawingml/2006/main">
              <a:ext uri="{FF2B5EF4-FFF2-40B4-BE49-F238E27FC236}">
                <a16:creationId xmlns:a16="http://schemas.microsoft.com/office/drawing/2014/main" id="{D0F42D51-581E-4248-B155-84C1235D04F4}"/>
              </a:ext>
            </a:extLst>
          </p:cNvPr>
          <p:cNvSpPr>
            <a:spLocks xmlns:a="http://schemas.openxmlformats.org/drawingml/2006/main" noGrp="1"/>
          </p:cNvSpPr>
          <p:nvPr/>
        </p:nvSpPr>
        <p:spPr>
          <a:xfrm xmlns:a="http://schemas.openxmlformats.org/drawingml/2006/main">
            <a:off x="6381750" y="2095500"/>
            <a:ext cx="1390650" cy="1371600"/>
          </a:xfrm>
          <a:prstGeom xmlns:a="http://schemas.openxmlformats.org/drawingml/2006/main" prst="roundRect">
            <a:avLst>
              <a:gd name="adj" fmla="val 8333"/>
            </a:avLst>
          </a:prstGeom>
          <a:solidFill xmlns:a="http://schemas.openxmlformats.org/drawingml/2006/main">
            <a:srgbClr val="0B2236"/>
          </a:solidFill>
          <a:ln xmlns:a="http://schemas.openxmlformats.org/drawingml/2006/main" w="9525">
            <a:solidFill>
              <a:srgbClr val="0B2236"/>
            </a:solidFill>
            <a:prstDash val="solid"/>
          </a:ln>
        </p:spPr>
      </p:sp>
      <p:sp>
        <p:nvSpPr>
          <p:cNvPr id="26" name="">
            <a:extLst xmlns:a="http://schemas.openxmlformats.org/drawingml/2006/main">
              <a:ext uri="{FF2B5EF4-FFF2-40B4-BE49-F238E27FC236}">
                <a16:creationId xmlns:a16="http://schemas.microsoft.com/office/drawing/2014/main" id="{B5F9916E-3375-40F6-BF6A-01A46A9C9D04}"/>
              </a:ext>
            </a:extLst>
          </p:cNvPr>
          <p:cNvSpPr>
            <a:spLocks xmlns:a="http://schemas.openxmlformats.org/drawingml/2006/main" noGrp="1"/>
          </p:cNvSpPr>
          <p:nvPr/>
        </p:nvSpPr>
        <p:spPr>
          <a:xfrm xmlns:a="http://schemas.openxmlformats.org/drawingml/2006/main">
            <a:off x="6553200" y="22669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9CC5DF"/>
                </a:solidFill>
              </a:defRPr>
            </a:pPr>
            <a:r>
              <a:rPr sz="1050" b="1">
                <a:solidFill>
                  <a:srgbClr val="9CC5DF"/>
                </a:solidFill>
              </a:rPr>
              <a:t>04</a:t>
            </a:r>
          </a:p>
        </p:txBody>
      </p:sp>
      <p:sp>
        <p:nvSpPr>
          <p:cNvPr id="27" name="">
            <a:extLst xmlns:a="http://schemas.openxmlformats.org/drawingml/2006/main">
              <a:ext uri="{FF2B5EF4-FFF2-40B4-BE49-F238E27FC236}">
                <a16:creationId xmlns:a16="http://schemas.microsoft.com/office/drawing/2014/main" id="{C1DF4EF7-ABB9-4AB7-A978-9E8823C62EE2}"/>
              </a:ext>
            </a:extLst>
          </p:cNvPr>
          <p:cNvSpPr>
            <a:spLocks xmlns:a="http://schemas.openxmlformats.org/drawingml/2006/main" noGrp="1"/>
          </p:cNvSpPr>
          <p:nvPr/>
        </p:nvSpPr>
        <p:spPr>
          <a:xfrm xmlns:a="http://schemas.openxmlformats.org/drawingml/2006/main">
            <a:off x="6553200" y="26289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Semgrep</a:t>
            </a:r>
          </a:p>
        </p:txBody>
      </p:sp>
      <p:sp>
        <p:nvSpPr>
          <p:cNvPr id="28" name="">
            <a:extLst xmlns:a="http://schemas.openxmlformats.org/drawingml/2006/main">
              <a:ext uri="{FF2B5EF4-FFF2-40B4-BE49-F238E27FC236}">
                <a16:creationId xmlns:a16="http://schemas.microsoft.com/office/drawing/2014/main" id="{F8E86720-77DB-46EC-B7F8-045BDA2622B1}"/>
              </a:ext>
            </a:extLst>
          </p:cNvPr>
          <p:cNvSpPr>
            <a:spLocks xmlns:a="http://schemas.openxmlformats.org/drawingml/2006/main" noGrp="1"/>
          </p:cNvSpPr>
          <p:nvPr/>
        </p:nvSpPr>
        <p:spPr>
          <a:xfrm xmlns:a="http://schemas.openxmlformats.org/drawingml/2006/main">
            <a:off x="6553200" y="2990850"/>
            <a:ext cx="1066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B7CCDB"/>
                </a:solidFill>
              </a:defRPr>
            </a:pPr>
            <a:r>
              <a:rPr sz="975" b="0">
                <a:solidFill>
                  <a:srgbClr val="B7CCDB"/>
                </a:solidFill>
              </a:rPr>
              <a:t>격리 공간에서 실행</a:t>
            </a:r>
          </a:p>
        </p:txBody>
      </p:sp>
      <p:sp>
        <p:nvSpPr>
          <p:cNvPr id="29" name="">
            <a:extLst xmlns:a="http://schemas.openxmlformats.org/drawingml/2006/main">
              <a:ext uri="{FF2B5EF4-FFF2-40B4-BE49-F238E27FC236}">
                <a16:creationId xmlns:a16="http://schemas.microsoft.com/office/drawing/2014/main" id="{A4F67DDB-926C-41B1-A0F9-5FB53A0F8F3C}"/>
              </a:ext>
            </a:extLst>
          </p:cNvPr>
          <p:cNvSpPr>
            <a:spLocks xmlns:a="http://schemas.openxmlformats.org/drawingml/2006/main" noGrp="1"/>
          </p:cNvSpPr>
          <p:nvPr/>
        </p:nvSpPr>
        <p:spPr>
          <a:xfrm xmlns:a="http://schemas.openxmlformats.org/drawingml/2006/main">
            <a:off x="8267700" y="2095500"/>
            <a:ext cx="1390650" cy="1371600"/>
          </a:xfrm>
          <a:prstGeom xmlns:a="http://schemas.openxmlformats.org/drawingml/2006/main" prst="roundRect">
            <a:avLst>
              <a:gd name="adj" fmla="val 8333"/>
            </a:avLst>
          </a:prstGeom>
          <a:solidFill xmlns:a="http://schemas.openxmlformats.org/drawingml/2006/main">
            <a:srgbClr val="F4F8FB"/>
          </a:solidFill>
          <a:ln xmlns:a="http://schemas.openxmlformats.org/drawingml/2006/main" w="9525">
            <a:solidFill>
              <a:srgbClr val="D7E2EA"/>
            </a:solidFill>
            <a:prstDash val="solid"/>
          </a:ln>
        </p:spPr>
      </p:sp>
      <p:sp>
        <p:nvSpPr>
          <p:cNvPr id="30" name="">
            <a:extLst xmlns:a="http://schemas.openxmlformats.org/drawingml/2006/main">
              <a:ext uri="{FF2B5EF4-FFF2-40B4-BE49-F238E27FC236}">
                <a16:creationId xmlns:a16="http://schemas.microsoft.com/office/drawing/2014/main" id="{2B1099B9-A5CC-4D75-9E22-C0EE96863545}"/>
              </a:ext>
            </a:extLst>
          </p:cNvPr>
          <p:cNvSpPr>
            <a:spLocks xmlns:a="http://schemas.openxmlformats.org/drawingml/2006/main" noGrp="1"/>
          </p:cNvSpPr>
          <p:nvPr/>
        </p:nvSpPr>
        <p:spPr>
          <a:xfrm xmlns:a="http://schemas.openxmlformats.org/drawingml/2006/main">
            <a:off x="8439150" y="22669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EA5"/>
                </a:solidFill>
              </a:defRPr>
            </a:pPr>
            <a:r>
              <a:rPr sz="1050" b="1">
                <a:solidFill>
                  <a:srgbClr val="1F6EA5"/>
                </a:solidFill>
              </a:rPr>
              <a:t>05</a:t>
            </a:r>
          </a:p>
        </p:txBody>
      </p:sp>
      <p:sp>
        <p:nvSpPr>
          <p:cNvPr id="31" name="">
            <a:extLst xmlns:a="http://schemas.openxmlformats.org/drawingml/2006/main">
              <a:ext uri="{FF2B5EF4-FFF2-40B4-BE49-F238E27FC236}">
                <a16:creationId xmlns:a16="http://schemas.microsoft.com/office/drawing/2014/main" id="{C554D949-8902-4B1D-85E2-A17BEE92687B}"/>
              </a:ext>
            </a:extLst>
          </p:cNvPr>
          <p:cNvSpPr>
            <a:spLocks xmlns:a="http://schemas.openxmlformats.org/drawingml/2006/main" noGrp="1"/>
          </p:cNvSpPr>
          <p:nvPr/>
        </p:nvSpPr>
        <p:spPr>
          <a:xfrm xmlns:a="http://schemas.openxmlformats.org/drawingml/2006/main">
            <a:off x="8439150" y="26289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52536"/>
                </a:solidFill>
              </a:defRPr>
            </a:pPr>
            <a:r>
              <a:rPr sz="1500" b="1">
                <a:solidFill>
                  <a:srgbClr val="152536"/>
                </a:solidFill>
              </a:rPr>
              <a:t>정규화</a:t>
            </a:r>
          </a:p>
        </p:txBody>
      </p:sp>
      <p:sp>
        <p:nvSpPr>
          <p:cNvPr id="32" name="">
            <a:extLst xmlns:a="http://schemas.openxmlformats.org/drawingml/2006/main">
              <a:ext uri="{FF2B5EF4-FFF2-40B4-BE49-F238E27FC236}">
                <a16:creationId xmlns:a16="http://schemas.microsoft.com/office/drawing/2014/main" id="{2559BD9B-3528-4676-BFFC-030A107513F0}"/>
              </a:ext>
            </a:extLst>
          </p:cNvPr>
          <p:cNvSpPr>
            <a:spLocks xmlns:a="http://schemas.openxmlformats.org/drawingml/2006/main" noGrp="1"/>
          </p:cNvSpPr>
          <p:nvPr/>
        </p:nvSpPr>
        <p:spPr>
          <a:xfrm xmlns:a="http://schemas.openxmlformats.org/drawingml/2006/main">
            <a:off x="8439150" y="2990850"/>
            <a:ext cx="1066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60758A"/>
                </a:solidFill>
              </a:defRPr>
            </a:pPr>
            <a:r>
              <a:rPr sz="975" b="0">
                <a:solidFill>
                  <a:srgbClr val="60758A"/>
                </a:solidFill>
              </a:rPr>
              <a:t>공통 Finding 변환</a:t>
            </a:r>
          </a:p>
        </p:txBody>
      </p:sp>
      <p:sp>
        <p:nvSpPr>
          <p:cNvPr id="33" name="">
            <a:extLst xmlns:a="http://schemas.openxmlformats.org/drawingml/2006/main">
              <a:ext uri="{FF2B5EF4-FFF2-40B4-BE49-F238E27FC236}">
                <a16:creationId xmlns:a16="http://schemas.microsoft.com/office/drawing/2014/main" id="{321457E1-D720-4C9F-877B-24DAEEBAB992}"/>
              </a:ext>
            </a:extLst>
          </p:cNvPr>
          <p:cNvSpPr>
            <a:spLocks xmlns:a="http://schemas.openxmlformats.org/drawingml/2006/main" noGrp="1"/>
          </p:cNvSpPr>
          <p:nvPr/>
        </p:nvSpPr>
        <p:spPr>
          <a:xfrm xmlns:a="http://schemas.openxmlformats.org/drawingml/2006/main">
            <a:off x="10153650" y="2095500"/>
            <a:ext cx="1390650" cy="1371600"/>
          </a:xfrm>
          <a:prstGeom xmlns:a="http://schemas.openxmlformats.org/drawingml/2006/main" prst="roundRect">
            <a:avLst>
              <a:gd name="adj" fmla="val 8333"/>
            </a:avLst>
          </a:prstGeom>
          <a:solidFill xmlns:a="http://schemas.openxmlformats.org/drawingml/2006/main">
            <a:srgbClr val="F4F8FB"/>
          </a:solidFill>
          <a:ln xmlns:a="http://schemas.openxmlformats.org/drawingml/2006/main" w="9525">
            <a:solidFill>
              <a:srgbClr val="D7E2EA"/>
            </a:solidFill>
            <a:prstDash val="solid"/>
          </a:ln>
        </p:spPr>
      </p:sp>
      <p:sp>
        <p:nvSpPr>
          <p:cNvPr id="34" name="">
            <a:extLst xmlns:a="http://schemas.openxmlformats.org/drawingml/2006/main">
              <a:ext uri="{FF2B5EF4-FFF2-40B4-BE49-F238E27FC236}">
                <a16:creationId xmlns:a16="http://schemas.microsoft.com/office/drawing/2014/main" id="{270C432E-6FB2-4B37-BABB-67F6C514A8A0}"/>
              </a:ext>
            </a:extLst>
          </p:cNvPr>
          <p:cNvSpPr>
            <a:spLocks xmlns:a="http://schemas.openxmlformats.org/drawingml/2006/main" noGrp="1"/>
          </p:cNvSpPr>
          <p:nvPr/>
        </p:nvSpPr>
        <p:spPr>
          <a:xfrm xmlns:a="http://schemas.openxmlformats.org/drawingml/2006/main">
            <a:off x="10325100" y="22669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EA5"/>
                </a:solidFill>
              </a:defRPr>
            </a:pPr>
            <a:r>
              <a:rPr sz="1050" b="1">
                <a:solidFill>
                  <a:srgbClr val="1F6EA5"/>
                </a:solidFill>
              </a:rPr>
              <a:t>06</a:t>
            </a:r>
          </a:p>
        </p:txBody>
      </p:sp>
      <p:sp>
        <p:nvSpPr>
          <p:cNvPr id="35" name="">
            <a:extLst xmlns:a="http://schemas.openxmlformats.org/drawingml/2006/main">
              <a:ext uri="{FF2B5EF4-FFF2-40B4-BE49-F238E27FC236}">
                <a16:creationId xmlns:a16="http://schemas.microsoft.com/office/drawing/2014/main" id="{04134A5E-B411-4ED7-AD0B-DD926AE07E06}"/>
              </a:ext>
            </a:extLst>
          </p:cNvPr>
          <p:cNvSpPr>
            <a:spLocks xmlns:a="http://schemas.openxmlformats.org/drawingml/2006/main" noGrp="1"/>
          </p:cNvSpPr>
          <p:nvPr/>
        </p:nvSpPr>
        <p:spPr>
          <a:xfrm xmlns:a="http://schemas.openxmlformats.org/drawingml/2006/main">
            <a:off x="10325100" y="26289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52536"/>
                </a:solidFill>
              </a:defRPr>
            </a:pPr>
            <a:r>
              <a:rPr sz="1500" b="1">
                <a:solidFill>
                  <a:srgbClr val="152536"/>
                </a:solidFill>
              </a:rPr>
              <a:t>결과 조회</a:t>
            </a:r>
          </a:p>
        </p:txBody>
      </p:sp>
      <p:sp>
        <p:nvSpPr>
          <p:cNvPr id="36" name="">
            <a:extLst xmlns:a="http://schemas.openxmlformats.org/drawingml/2006/main">
              <a:ext uri="{FF2B5EF4-FFF2-40B4-BE49-F238E27FC236}">
                <a16:creationId xmlns:a16="http://schemas.microsoft.com/office/drawing/2014/main" id="{F6B3385A-45B5-4F61-AF6E-5141E2BC94B0}"/>
              </a:ext>
            </a:extLst>
          </p:cNvPr>
          <p:cNvSpPr>
            <a:spLocks xmlns:a="http://schemas.openxmlformats.org/drawingml/2006/main" noGrp="1"/>
          </p:cNvSpPr>
          <p:nvPr/>
        </p:nvSpPr>
        <p:spPr>
          <a:xfrm xmlns:a="http://schemas.openxmlformats.org/drawingml/2006/main">
            <a:off x="10325100" y="2990850"/>
            <a:ext cx="1066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60758A"/>
                </a:solidFill>
              </a:defRPr>
            </a:pPr>
            <a:r>
              <a:rPr sz="975" b="0">
                <a:solidFill>
                  <a:srgbClr val="60758A"/>
                </a:solidFill>
              </a:rPr>
              <a:t>이력·필터·상세</a:t>
            </a:r>
          </a:p>
        </p:txBody>
      </p:sp>
      <p:sp>
        <p:nvSpPr>
          <p:cNvPr id="37" name="">
            <a:extLst xmlns:a="http://schemas.openxmlformats.org/drawingml/2006/main">
              <a:ext uri="{FF2B5EF4-FFF2-40B4-BE49-F238E27FC236}">
                <a16:creationId xmlns:a16="http://schemas.microsoft.com/office/drawing/2014/main" id="{DAF343D5-4BA9-4DE8-A6CA-015702D94569}"/>
              </a:ext>
            </a:extLst>
          </p:cNvPr>
          <p:cNvSpPr>
            <a:spLocks xmlns:a="http://schemas.openxmlformats.org/drawingml/2006/main" noGrp="1"/>
          </p:cNvSpPr>
          <p:nvPr/>
        </p:nvSpPr>
        <p:spPr>
          <a:xfrm xmlns:a="http://schemas.openxmlformats.org/drawingml/2006/main">
            <a:off x="723900" y="4019550"/>
            <a:ext cx="10801350" cy="1333500"/>
          </a:xfrm>
          <a:prstGeom xmlns:a="http://schemas.openxmlformats.org/drawingml/2006/main" prst="roundRect">
            <a:avLst>
              <a:gd name="adj" fmla="val 8571"/>
            </a:avLst>
          </a:prstGeom>
          <a:solidFill xmlns:a="http://schemas.openxmlformats.org/drawingml/2006/main">
            <a:srgbClr val="EAF3F9"/>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078EEDA-5B06-4D49-9FCF-445710640534}"/>
              </a:ext>
            </a:extLst>
          </p:cNvPr>
          <p:cNvSpPr>
            <a:spLocks xmlns:a="http://schemas.openxmlformats.org/drawingml/2006/main" noGrp="1"/>
          </p:cNvSpPr>
          <p:nvPr/>
        </p:nvSpPr>
        <p:spPr>
          <a:xfrm xmlns:a="http://schemas.openxmlformats.org/drawingml/2006/main">
            <a:off x="990600" y="42481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F6EA5"/>
                </a:solidFill>
              </a:defRPr>
            </a:pPr>
            <a:r>
              <a:rPr sz="1350" b="1">
                <a:solidFill>
                  <a:srgbClr val="1F6EA5"/>
                </a:solidFill>
              </a:rPr>
              <a:t>설계 원칙</a:t>
            </a:r>
          </a:p>
        </p:txBody>
      </p:sp>
      <p:sp>
        <p:nvSpPr>
          <p:cNvPr id="39" name="">
            <a:extLst xmlns:a="http://schemas.openxmlformats.org/drawingml/2006/main">
              <a:ext uri="{FF2B5EF4-FFF2-40B4-BE49-F238E27FC236}">
                <a16:creationId xmlns:a16="http://schemas.microsoft.com/office/drawing/2014/main" id="{472CD0C6-C1B9-4482-8991-9B3EE34EFD90}"/>
              </a:ext>
            </a:extLst>
          </p:cNvPr>
          <p:cNvSpPr>
            <a:spLocks xmlns:a="http://schemas.openxmlformats.org/drawingml/2006/main" noGrp="1"/>
          </p:cNvSpPr>
          <p:nvPr/>
        </p:nvSpPr>
        <p:spPr>
          <a:xfrm xmlns:a="http://schemas.openxmlformats.org/drawingml/2006/main">
            <a:off x="2419350" y="42100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52536"/>
                </a:solidFill>
              </a:defRPr>
            </a:pPr>
            <a:r>
              <a:rPr sz="1500" b="1">
                <a:solidFill>
                  <a:srgbClr val="152536"/>
                </a:solidFill>
              </a:rPr>
              <a:t>분석 엔진은 Semgrep 하나로 고정하고, 엔진 결과와 화면 사이에 정규화 계층을 두었습니다.</a:t>
            </a:r>
          </a:p>
        </p:txBody>
      </p:sp>
      <p:sp>
        <p:nvSpPr>
          <p:cNvPr id="40" name="">
            <a:extLst xmlns:a="http://schemas.openxmlformats.org/drawingml/2006/main">
              <a:ext uri="{FF2B5EF4-FFF2-40B4-BE49-F238E27FC236}">
                <a16:creationId xmlns:a16="http://schemas.microsoft.com/office/drawing/2014/main" id="{C5C5A0A0-F8B8-4582-AF87-01EB47D024E0}"/>
              </a:ext>
            </a:extLst>
          </p:cNvPr>
          <p:cNvSpPr>
            <a:spLocks xmlns:a="http://schemas.openxmlformats.org/drawingml/2006/main" noGrp="1"/>
          </p:cNvSpPr>
          <p:nvPr/>
        </p:nvSpPr>
        <p:spPr>
          <a:xfrm xmlns:a="http://schemas.openxmlformats.org/drawingml/2006/main">
            <a:off x="2419350" y="46672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0758A"/>
                </a:solidFill>
              </a:defRPr>
            </a:pPr>
            <a:r>
              <a:rPr sz="1275" b="0">
                <a:solidFill>
                  <a:srgbClr val="60758A"/>
                </a:solidFill>
              </a:rPr>
              <a:t>따라서 언어나 규칙이 늘어나더라도 프로젝트·분석 이력·Finding 조회 흐름은 그대로 재사용합니다.</a:t>
            </a:r>
          </a:p>
        </p:txBody>
      </p:sp>
    </p:spTree>
    <p:extLst>
      <p:ext uri="{BB962C8B-B14F-4D97-AF65-F5344CB8AC3E}">
        <p14:creationId xmlns:p14="http://schemas.microsoft.com/office/powerpoint/2010/main" val="19119320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CF8123A-81E2-471D-87C3-3F9BB23B5F70}"/>
              </a:ext>
            </a:extLst>
          </p:cNvPr>
          <p:cNvSpPr>
            <a:spLocks xmlns:a="http://schemas.openxmlformats.org/drawingml/2006/main" noGrp="1"/>
          </p:cNvSpPr>
          <p:nvPr/>
        </p:nvSpPr>
        <p:spPr>
          <a:xfrm xmlns:a="http://schemas.openxmlformats.org/drawingml/2006/main">
            <a:off x="609600" y="3619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F6EA5"/>
                </a:solidFill>
              </a:defRPr>
            </a:pPr>
            <a:r>
              <a:rPr sz="975" b="1">
                <a:solidFill>
                  <a:srgbClr val="1F6EA5"/>
                </a:solidFill>
              </a:rPr>
              <a:t>인증·권한</a:t>
            </a:r>
          </a:p>
        </p:txBody>
      </p:sp>
      <p:sp>
        <p:nvSpPr>
          <p:cNvPr id="2" name="">
            <a:extLst xmlns:a="http://schemas.openxmlformats.org/drawingml/2006/main">
              <a:ext uri="{FF2B5EF4-FFF2-40B4-BE49-F238E27FC236}">
                <a16:creationId xmlns:a16="http://schemas.microsoft.com/office/drawing/2014/main" id="{71AA97B5-905E-4A0D-AB45-E6011FFFAE99}"/>
              </a:ext>
            </a:extLst>
          </p:cNvPr>
          <p:cNvSpPr>
            <a:spLocks xmlns:a="http://schemas.openxmlformats.org/drawingml/2006/main" noGrp="1"/>
          </p:cNvSpPr>
          <p:nvPr/>
        </p:nvSpPr>
        <p:spPr>
          <a:xfrm xmlns:a="http://schemas.openxmlformats.org/drawingml/2006/main">
            <a:off x="609600" y="64770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52536"/>
                </a:solidFill>
              </a:defRPr>
            </a:pPr>
            <a:r>
              <a:rPr sz="2550" b="1">
                <a:solidFill>
                  <a:srgbClr val="152536"/>
                </a:solidFill>
              </a:rPr>
              <a:t>로그인 한 번에 계정 보호와 역할 통제를 함께 적용했습니다</a:t>
            </a:r>
          </a:p>
        </p:txBody>
      </p:sp>
      <p:sp>
        <p:nvSpPr>
          <p:cNvPr id="3" name="">
            <a:extLst xmlns:a="http://schemas.openxmlformats.org/drawingml/2006/main">
              <a:ext uri="{FF2B5EF4-FFF2-40B4-BE49-F238E27FC236}">
                <a16:creationId xmlns:a16="http://schemas.microsoft.com/office/drawing/2014/main" id="{EBE49272-591C-42A2-A579-E556CA4BA1C8}"/>
              </a:ext>
            </a:extLst>
          </p:cNvPr>
          <p:cNvSpPr>
            <a:spLocks xmlns:a="http://schemas.openxmlformats.org/drawingml/2006/main" noGrp="1"/>
          </p:cNvSpPr>
          <p:nvPr/>
        </p:nvSpPr>
        <p:spPr>
          <a:xfrm xmlns:a="http://schemas.openxmlformats.org/drawingml/2006/main">
            <a:off x="8534400" y="361950"/>
            <a:ext cx="3048000" cy="266700"/>
          </a:xfrm>
          <a:prstGeom xmlns:a="http://schemas.openxmlformats.org/drawingml/2006/main" prst="roundRect">
            <a:avLst>
              <a:gd name="adj" fmla="val 42857"/>
            </a:avLst>
          </a:prstGeom>
          <a:solidFill xmlns:a="http://schemas.openxmlformats.org/drawingml/2006/main">
            <a:srgbClr val="F4F8F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AB569B0-78AF-43E5-A663-66989919CDC4}"/>
              </a:ext>
            </a:extLst>
          </p:cNvPr>
          <p:cNvSpPr>
            <a:spLocks xmlns:a="http://schemas.openxmlformats.org/drawingml/2006/main" noGrp="1"/>
          </p:cNvSpPr>
          <p:nvPr/>
        </p:nvSpPr>
        <p:spPr>
          <a:xfrm xmlns:a="http://schemas.openxmlformats.org/drawingml/2006/main">
            <a:off x="8534400" y="400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60758A"/>
                </a:solidFill>
              </a:defRPr>
            </a:pPr>
            <a:r>
              <a:rPr sz="825" b="1">
                <a:solidFill>
                  <a:srgbClr val="60758A"/>
                </a:solidFill>
              </a:rPr>
              <a:t>SFR-001·003 · SEC-001~006 · TST-001~003</a:t>
            </a:r>
          </a:p>
        </p:txBody>
      </p:sp>
      <p:sp>
        <p:nvSpPr>
          <p:cNvPr id="5" name="">
            <a:extLst xmlns:a="http://schemas.openxmlformats.org/drawingml/2006/main">
              <a:ext uri="{FF2B5EF4-FFF2-40B4-BE49-F238E27FC236}">
                <a16:creationId xmlns:a16="http://schemas.microsoft.com/office/drawing/2014/main" id="{C63E5FEF-84A4-4BFD-A5BA-8E59D970E810}"/>
              </a:ext>
            </a:extLst>
          </p:cNvPr>
          <p:cNvSpPr>
            <a:spLocks xmlns:a="http://schemas.openxmlformats.org/drawingml/2006/main" noGrp="1"/>
          </p:cNvSpPr>
          <p:nvPr/>
        </p:nvSpPr>
        <p:spPr>
          <a:xfrm xmlns:a="http://schemas.openxmlformats.org/drawingml/2006/main">
            <a:off x="609600" y="1238250"/>
            <a:ext cx="10972800" cy="0"/>
          </a:xfrm>
          <a:prstGeom xmlns:a="http://schemas.openxmlformats.org/drawingml/2006/main" prst="line">
            <a:avLst/>
          </a:prstGeom>
          <a:noFill xmlns:a="http://schemas.openxmlformats.org/drawingml/2006/main"/>
          <a:ln xmlns:a="http://schemas.openxmlformats.org/drawingml/2006/main" w="9525">
            <a:solidFill>
              <a:srgbClr val="D7E2EA"/>
            </a:solidFill>
            <a:prstDash val="solid"/>
          </a:ln>
        </p:spPr>
      </p:sp>
      <p:sp>
        <p:nvSpPr>
          <p:cNvPr id="6" name="">
            <a:extLst xmlns:a="http://schemas.openxmlformats.org/drawingml/2006/main">
              <a:ext uri="{FF2B5EF4-FFF2-40B4-BE49-F238E27FC236}">
                <a16:creationId xmlns:a16="http://schemas.microsoft.com/office/drawing/2014/main" id="{7BCDB8D9-94F1-42B3-AE3A-6F8BF79E85FE}"/>
              </a:ext>
            </a:extLst>
          </p:cNvPr>
          <p:cNvSpPr>
            <a:spLocks xmlns:a="http://schemas.openxmlformats.org/drawingml/2006/main" noGrp="1"/>
          </p:cNvSpPr>
          <p:nvPr/>
        </p:nvSpPr>
        <p:spPr>
          <a:xfrm xmlns:a="http://schemas.openxmlformats.org/drawingml/2006/main">
            <a:off x="609600" y="65532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0758A"/>
                </a:solidFill>
              </a:defRPr>
            </a:pPr>
            <a:r>
              <a:rPr sz="825" b="0">
                <a:solidFill>
                  <a:srgbClr val="60758A"/>
                </a:solidFill>
              </a:rPr>
              <a:t>SecureScan · 중간발표</a:t>
            </a:r>
          </a:p>
        </p:txBody>
      </p:sp>
      <p:sp>
        <p:nvSpPr>
          <p:cNvPr id="7" name="">
            <a:extLst xmlns:a="http://schemas.openxmlformats.org/drawingml/2006/main">
              <a:ext uri="{FF2B5EF4-FFF2-40B4-BE49-F238E27FC236}">
                <a16:creationId xmlns:a16="http://schemas.microsoft.com/office/drawing/2014/main" id="{15EF37B3-34DD-4A0A-83A4-D556C37D6C5A}"/>
              </a:ext>
            </a:extLst>
          </p:cNvPr>
          <p:cNvSpPr>
            <a:spLocks xmlns:a="http://schemas.openxmlformats.org/drawingml/2006/main" noGrp="1"/>
          </p:cNvSpPr>
          <p:nvPr/>
        </p:nvSpPr>
        <p:spPr>
          <a:xfrm xmlns:a="http://schemas.openxmlformats.org/drawingml/2006/main">
            <a:off x="11220450" y="65532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0758A"/>
                </a:solidFill>
              </a:defRPr>
            </a:pPr>
            <a:r>
              <a:rPr sz="825" b="1">
                <a:solidFill>
                  <a:srgbClr val="60758A"/>
                </a:solidFill>
              </a:rPr>
              <a:t>03</a:t>
            </a:r>
          </a:p>
        </p:txBody>
      </p:sp>
      <p:sp>
        <p:nvSpPr>
          <p:cNvPr id="8" name="">
            <a:extLst xmlns:a="http://schemas.openxmlformats.org/drawingml/2006/main">
              <a:ext uri="{FF2B5EF4-FFF2-40B4-BE49-F238E27FC236}">
                <a16:creationId xmlns:a16="http://schemas.microsoft.com/office/drawing/2014/main" id="{8A6FE121-BAB7-4615-84AC-A2B1387F7266}"/>
              </a:ext>
            </a:extLst>
          </p:cNvPr>
          <p:cNvSpPr>
            <a:spLocks xmlns:a="http://schemas.openxmlformats.org/drawingml/2006/main" noGrp="1"/>
          </p:cNvSpPr>
          <p:nvPr/>
        </p:nvSpPr>
        <p:spPr>
          <a:xfrm xmlns:a="http://schemas.openxmlformats.org/drawingml/2006/main">
            <a:off x="590550" y="1524000"/>
            <a:ext cx="5029200" cy="4248150"/>
          </a:xfrm>
          <a:prstGeom xmlns:a="http://schemas.openxmlformats.org/drawingml/2006/main" prst="roundRect">
            <a:avLst>
              <a:gd name="adj" fmla="val 2691"/>
            </a:avLst>
          </a:prstGeom>
          <a:solidFill xmlns:a="http://schemas.openxmlformats.org/drawingml/2006/main">
            <a:srgbClr val="FFFFFF"/>
          </a:solidFill>
          <a:ln xmlns:a="http://schemas.openxmlformats.org/drawingml/2006/main" w="9525">
            <a:solidFill>
              <a:srgbClr val="D7E2EA"/>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999a887f92114d24"/>
          <a:stretch xmlns:a="http://schemas.openxmlformats.org/drawingml/2006/main"/>
        </p:blipFill>
        <p:spPr>
          <a:xfrm xmlns:a="http://schemas.openxmlformats.org/drawingml/2006/main">
            <a:off x="628650" y="2100263"/>
            <a:ext cx="4953000" cy="3095625"/>
          </a:xfrm>
          <a:prstGeom xmlns:a="http://schemas.openxmlformats.org/drawingml/2006/main" prst="roundRect">
            <a:avLst>
              <a:gd name="adj" fmla="val 2740"/>
            </a:avLst>
          </a:prstGeom>
        </p:spPr>
      </p:pic>
      <p:sp>
        <p:nvSpPr>
          <p:cNvPr id="10" name="">
            <a:extLst xmlns:a="http://schemas.openxmlformats.org/drawingml/2006/main">
              <a:ext uri="{FF2B5EF4-FFF2-40B4-BE49-F238E27FC236}">
                <a16:creationId xmlns:a16="http://schemas.microsoft.com/office/drawing/2014/main" id="{45C90A91-DC54-4F74-90C5-879D50427A7D}"/>
              </a:ext>
            </a:extLst>
          </p:cNvPr>
          <p:cNvSpPr>
            <a:spLocks xmlns:a="http://schemas.openxmlformats.org/drawingml/2006/main" noGrp="1"/>
          </p:cNvSpPr>
          <p:nvPr/>
        </p:nvSpPr>
        <p:spPr>
          <a:xfrm xmlns:a="http://schemas.openxmlformats.org/drawingml/2006/main">
            <a:off x="6096000" y="1704975"/>
            <a:ext cx="66675" cy="514350"/>
          </a:xfrm>
          <a:prstGeom xmlns:a="http://schemas.openxmlformats.org/drawingml/2006/main" prst="roundRect">
            <a:avLst>
              <a:gd name="adj" fmla="val 50000"/>
            </a:avLst>
          </a:prstGeom>
          <a:solidFill xmlns:a="http://schemas.openxmlformats.org/drawingml/2006/main">
            <a:srgbClr val="1F6EA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85C01E8-1AFA-4635-8DFC-30145FB15F8C}"/>
              </a:ext>
            </a:extLst>
          </p:cNvPr>
          <p:cNvSpPr>
            <a:spLocks xmlns:a="http://schemas.openxmlformats.org/drawingml/2006/main" noGrp="1"/>
          </p:cNvSpPr>
          <p:nvPr/>
        </p:nvSpPr>
        <p:spPr>
          <a:xfrm xmlns:a="http://schemas.openxmlformats.org/drawingml/2006/main">
            <a:off x="6286500" y="1676400"/>
            <a:ext cx="491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52536"/>
                </a:solidFill>
              </a:defRPr>
            </a:pPr>
            <a:r>
              <a:rPr sz="1425" b="1">
                <a:solidFill>
                  <a:srgbClr val="152536"/>
                </a:solidFill>
              </a:rPr>
              <a:t>사내 계정 정책</a:t>
            </a:r>
          </a:p>
        </p:txBody>
      </p:sp>
      <p:sp>
        <p:nvSpPr>
          <p:cNvPr id="12" name="">
            <a:extLst xmlns:a="http://schemas.openxmlformats.org/drawingml/2006/main">
              <a:ext uri="{FF2B5EF4-FFF2-40B4-BE49-F238E27FC236}">
                <a16:creationId xmlns:a16="http://schemas.microsoft.com/office/drawing/2014/main" id="{159DD524-D883-45A0-B5C8-E1403012EB4D}"/>
              </a:ext>
            </a:extLst>
          </p:cNvPr>
          <p:cNvSpPr>
            <a:spLocks xmlns:a="http://schemas.openxmlformats.org/drawingml/2006/main" noGrp="1"/>
          </p:cNvSpPr>
          <p:nvPr/>
        </p:nvSpPr>
        <p:spPr>
          <a:xfrm xmlns:a="http://schemas.openxmlformats.org/drawingml/2006/main">
            <a:off x="6286500" y="1962150"/>
            <a:ext cx="4914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0758A"/>
                </a:solidFill>
              </a:defRPr>
            </a:pPr>
            <a:r>
              <a:rPr sz="1125" b="0">
                <a:solidFill>
                  <a:srgbClr val="60758A"/>
                </a:solidFill>
              </a:rPr>
              <a:t>@company.com 형식만 허용하고 최초 관리자는 admin@company.com으로 생성합니다.</a:t>
            </a:r>
          </a:p>
        </p:txBody>
      </p:sp>
      <p:sp>
        <p:nvSpPr>
          <p:cNvPr id="13" name="">
            <a:extLst xmlns:a="http://schemas.openxmlformats.org/drawingml/2006/main">
              <a:ext uri="{FF2B5EF4-FFF2-40B4-BE49-F238E27FC236}">
                <a16:creationId xmlns:a16="http://schemas.microsoft.com/office/drawing/2014/main" id="{168AA1BF-782B-4810-863A-A8300FC3A107}"/>
              </a:ext>
            </a:extLst>
          </p:cNvPr>
          <p:cNvSpPr>
            <a:spLocks xmlns:a="http://schemas.openxmlformats.org/drawingml/2006/main" noGrp="1"/>
          </p:cNvSpPr>
          <p:nvPr/>
        </p:nvSpPr>
        <p:spPr>
          <a:xfrm xmlns:a="http://schemas.openxmlformats.org/drawingml/2006/main">
            <a:off x="6096000" y="2752725"/>
            <a:ext cx="66675" cy="514350"/>
          </a:xfrm>
          <a:prstGeom xmlns:a="http://schemas.openxmlformats.org/drawingml/2006/main" prst="roundRect">
            <a:avLst>
              <a:gd name="adj" fmla="val 50000"/>
            </a:avLst>
          </a:prstGeom>
          <a:solidFill xmlns:a="http://schemas.openxmlformats.org/drawingml/2006/main">
            <a:srgbClr val="23855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1C16BD0-0962-4638-8830-FEA02BDD6008}"/>
              </a:ext>
            </a:extLst>
          </p:cNvPr>
          <p:cNvSpPr>
            <a:spLocks xmlns:a="http://schemas.openxmlformats.org/drawingml/2006/main" noGrp="1"/>
          </p:cNvSpPr>
          <p:nvPr/>
        </p:nvSpPr>
        <p:spPr>
          <a:xfrm xmlns:a="http://schemas.openxmlformats.org/drawingml/2006/main">
            <a:off x="6286500" y="2724150"/>
            <a:ext cx="491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52536"/>
                </a:solidFill>
              </a:defRPr>
            </a:pPr>
            <a:r>
              <a:rPr sz="1425" b="1">
                <a:solidFill>
                  <a:srgbClr val="152536"/>
                </a:solidFill>
              </a:rPr>
              <a:t>평문을 남기지 않는 비밀번호</a:t>
            </a:r>
          </a:p>
        </p:txBody>
      </p:sp>
      <p:sp>
        <p:nvSpPr>
          <p:cNvPr id="15" name="">
            <a:extLst xmlns:a="http://schemas.openxmlformats.org/drawingml/2006/main">
              <a:ext uri="{FF2B5EF4-FFF2-40B4-BE49-F238E27FC236}">
                <a16:creationId xmlns:a16="http://schemas.microsoft.com/office/drawing/2014/main" id="{1CFD9228-E175-40F5-96FD-56A60A067AFA}"/>
              </a:ext>
            </a:extLst>
          </p:cNvPr>
          <p:cNvSpPr>
            <a:spLocks xmlns:a="http://schemas.openxmlformats.org/drawingml/2006/main" noGrp="1"/>
          </p:cNvSpPr>
          <p:nvPr/>
        </p:nvSpPr>
        <p:spPr>
          <a:xfrm xmlns:a="http://schemas.openxmlformats.org/drawingml/2006/main">
            <a:off x="6286500" y="3009900"/>
            <a:ext cx="4914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0758A"/>
                </a:solidFill>
              </a:defRPr>
            </a:pPr>
            <a:r>
              <a:rPr sz="1125" b="0">
                <a:solidFill>
                  <a:srgbClr val="60758A"/>
                </a:solidFill>
              </a:rPr>
              <a:t>bcrypt 단방향 해시만 DB에 저장하고 로그인 시 해시를 비교합니다.</a:t>
            </a:r>
          </a:p>
        </p:txBody>
      </p:sp>
      <p:sp>
        <p:nvSpPr>
          <p:cNvPr id="16" name="">
            <a:extLst xmlns:a="http://schemas.openxmlformats.org/drawingml/2006/main">
              <a:ext uri="{FF2B5EF4-FFF2-40B4-BE49-F238E27FC236}">
                <a16:creationId xmlns:a16="http://schemas.microsoft.com/office/drawing/2014/main" id="{43CB2884-A408-4080-A3B3-9E18820D2D87}"/>
              </a:ext>
            </a:extLst>
          </p:cNvPr>
          <p:cNvSpPr>
            <a:spLocks xmlns:a="http://schemas.openxmlformats.org/drawingml/2006/main" noGrp="1"/>
          </p:cNvSpPr>
          <p:nvPr/>
        </p:nvSpPr>
        <p:spPr>
          <a:xfrm xmlns:a="http://schemas.openxmlformats.org/drawingml/2006/main">
            <a:off x="6096000" y="3800475"/>
            <a:ext cx="66675" cy="514350"/>
          </a:xfrm>
          <a:prstGeom xmlns:a="http://schemas.openxmlformats.org/drawingml/2006/main" prst="roundRect">
            <a:avLst>
              <a:gd name="adj" fmla="val 50000"/>
            </a:avLst>
          </a:prstGeom>
          <a:solidFill xmlns:a="http://schemas.openxmlformats.org/drawingml/2006/main">
            <a:srgbClr val="C8791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420BD6C-0335-416E-851E-E97C766799D1}"/>
              </a:ext>
            </a:extLst>
          </p:cNvPr>
          <p:cNvSpPr>
            <a:spLocks xmlns:a="http://schemas.openxmlformats.org/drawingml/2006/main" noGrp="1"/>
          </p:cNvSpPr>
          <p:nvPr/>
        </p:nvSpPr>
        <p:spPr>
          <a:xfrm xmlns:a="http://schemas.openxmlformats.org/drawingml/2006/main">
            <a:off x="6286500" y="3771900"/>
            <a:ext cx="491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52536"/>
                </a:solidFill>
              </a:defRPr>
            </a:pPr>
            <a:r>
              <a:rPr sz="1425" b="1">
                <a:solidFill>
                  <a:srgbClr val="152536"/>
                </a:solidFill>
              </a:rPr>
              <a:t>쿠키보다 DB 권한을 신뢰</a:t>
            </a:r>
          </a:p>
        </p:txBody>
      </p:sp>
      <p:sp>
        <p:nvSpPr>
          <p:cNvPr id="18" name="">
            <a:extLst xmlns:a="http://schemas.openxmlformats.org/drawingml/2006/main">
              <a:ext uri="{FF2B5EF4-FFF2-40B4-BE49-F238E27FC236}">
                <a16:creationId xmlns:a16="http://schemas.microsoft.com/office/drawing/2014/main" id="{EC5C6A64-8C3D-4E72-BBBA-F63F80AC7373}"/>
              </a:ext>
            </a:extLst>
          </p:cNvPr>
          <p:cNvSpPr>
            <a:spLocks xmlns:a="http://schemas.openxmlformats.org/drawingml/2006/main" noGrp="1"/>
          </p:cNvSpPr>
          <p:nvPr/>
        </p:nvSpPr>
        <p:spPr>
          <a:xfrm xmlns:a="http://schemas.openxmlformats.org/drawingml/2006/main">
            <a:off x="6286500" y="4057650"/>
            <a:ext cx="4914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0758A"/>
                </a:solidFill>
              </a:defRPr>
            </a:pPr>
            <a:r>
              <a:rPr sz="1125" b="0">
                <a:solidFill>
                  <a:srgbClr val="60758A"/>
                </a:solidFill>
              </a:rPr>
              <a:t>서명 쿠키에는 user_id·CSRF·만료만 두고 역할과 활성 상태는 요청마다 DB에서 확인합니다.</a:t>
            </a:r>
          </a:p>
        </p:txBody>
      </p:sp>
      <p:sp>
        <p:nvSpPr>
          <p:cNvPr id="19" name="">
            <a:extLst xmlns:a="http://schemas.openxmlformats.org/drawingml/2006/main">
              <a:ext uri="{FF2B5EF4-FFF2-40B4-BE49-F238E27FC236}">
                <a16:creationId xmlns:a16="http://schemas.microsoft.com/office/drawing/2014/main" id="{4227D69D-A579-4845-9F98-CD10B1646077}"/>
              </a:ext>
            </a:extLst>
          </p:cNvPr>
          <p:cNvSpPr>
            <a:spLocks xmlns:a="http://schemas.openxmlformats.org/drawingml/2006/main" noGrp="1"/>
          </p:cNvSpPr>
          <p:nvPr/>
        </p:nvSpPr>
        <p:spPr>
          <a:xfrm xmlns:a="http://schemas.openxmlformats.org/drawingml/2006/main">
            <a:off x="6096000" y="4933950"/>
            <a:ext cx="5105400" cy="800100"/>
          </a:xfrm>
          <a:prstGeom xmlns:a="http://schemas.openxmlformats.org/drawingml/2006/main" prst="roundRect">
            <a:avLst>
              <a:gd name="adj" fmla="val 14286"/>
            </a:avLst>
          </a:prstGeom>
          <a:solidFill xmlns:a="http://schemas.openxmlformats.org/drawingml/2006/main">
            <a:srgbClr val="0B223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663D8AB-801B-4B6A-8196-CBB1AA51C47B}"/>
              </a:ext>
            </a:extLst>
          </p:cNvPr>
          <p:cNvSpPr>
            <a:spLocks xmlns:a="http://schemas.openxmlformats.org/drawingml/2006/main" noGrp="1"/>
          </p:cNvSpPr>
          <p:nvPr/>
        </p:nvSpPr>
        <p:spPr>
          <a:xfrm xmlns:a="http://schemas.openxmlformats.org/drawingml/2006/main">
            <a:off x="6324600" y="51244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9CC5DF"/>
                </a:solidFill>
              </a:defRPr>
            </a:pPr>
            <a:r>
              <a:rPr sz="1200" b="1">
                <a:solidFill>
                  <a:srgbClr val="9CC5DF"/>
                </a:solidFill>
              </a:rPr>
              <a:t>선택 근거</a:t>
            </a:r>
          </a:p>
        </p:txBody>
      </p:sp>
      <p:sp>
        <p:nvSpPr>
          <p:cNvPr id="21" name="">
            <a:extLst xmlns:a="http://schemas.openxmlformats.org/drawingml/2006/main">
              <a:ext uri="{FF2B5EF4-FFF2-40B4-BE49-F238E27FC236}">
                <a16:creationId xmlns:a16="http://schemas.microsoft.com/office/drawing/2014/main" id="{B0131EA0-5D8D-461C-80FD-33735290B6F7}"/>
              </a:ext>
            </a:extLst>
          </p:cNvPr>
          <p:cNvSpPr>
            <a:spLocks xmlns:a="http://schemas.openxmlformats.org/drawingml/2006/main" noGrp="1"/>
          </p:cNvSpPr>
          <p:nvPr/>
        </p:nvSpPr>
        <p:spPr>
          <a:xfrm xmlns:a="http://schemas.openxmlformats.org/drawingml/2006/main">
            <a:off x="7524750" y="5048250"/>
            <a:ext cx="3409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서버 세션 저장소 없이 단순성을 유지하면서도</a:t>
            </a:r>
          </a:p>
          <a:p xmlns:a="http://schemas.openxmlformats.org/drawingml/2006/main">
            <a:pPr algn="l">
              <a:defRPr sz="1275" b="1">
                <a:solidFill>
                  <a:srgbClr val="FFFFFF"/>
                </a:solidFill>
              </a:defRPr>
            </a:pPr>
            <a:r>
              <a:rPr sz="1275" b="1">
                <a:solidFill>
                  <a:srgbClr val="FFFFFF"/>
                </a:solidFill>
              </a:rPr>
              <a:t>권한 변경은 다음 요청부터 즉시 반영됩니다.</a:t>
            </a:r>
          </a:p>
        </p:txBody>
      </p:sp>
    </p:spTree>
    <p:extLst>
      <p:ext uri="{BB962C8B-B14F-4D97-AF65-F5344CB8AC3E}">
        <p14:creationId xmlns:p14="http://schemas.microsoft.com/office/powerpoint/2010/main" val="5696682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C39F00C-D2DC-4A04-B8D0-80DF405C59FC}"/>
              </a:ext>
            </a:extLst>
          </p:cNvPr>
          <p:cNvSpPr>
            <a:spLocks xmlns:a="http://schemas.openxmlformats.org/drawingml/2006/main" noGrp="1"/>
          </p:cNvSpPr>
          <p:nvPr/>
        </p:nvSpPr>
        <p:spPr>
          <a:xfrm xmlns:a="http://schemas.openxmlformats.org/drawingml/2006/main">
            <a:off x="609600" y="3619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F6EA5"/>
                </a:solidFill>
              </a:defRPr>
            </a:pPr>
            <a:r>
              <a:rPr sz="975" b="1">
                <a:solidFill>
                  <a:srgbClr val="1F6EA5"/>
                </a:solidFill>
              </a:rPr>
              <a:t>프로젝트·접근 경계</a:t>
            </a:r>
          </a:p>
        </p:txBody>
      </p:sp>
      <p:sp>
        <p:nvSpPr>
          <p:cNvPr id="2" name="">
            <a:extLst xmlns:a="http://schemas.openxmlformats.org/drawingml/2006/main">
              <a:ext uri="{FF2B5EF4-FFF2-40B4-BE49-F238E27FC236}">
                <a16:creationId xmlns:a16="http://schemas.microsoft.com/office/drawing/2014/main" id="{37002537-C4B4-40B6-A9C3-C704011867F7}"/>
              </a:ext>
            </a:extLst>
          </p:cNvPr>
          <p:cNvSpPr>
            <a:spLocks xmlns:a="http://schemas.openxmlformats.org/drawingml/2006/main" noGrp="1"/>
          </p:cNvSpPr>
          <p:nvPr/>
        </p:nvSpPr>
        <p:spPr>
          <a:xfrm xmlns:a="http://schemas.openxmlformats.org/drawingml/2006/main">
            <a:off x="609600" y="64770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52536"/>
                </a:solidFill>
              </a:defRPr>
            </a:pPr>
            <a:r>
              <a:rPr sz="2550" b="1">
                <a:solidFill>
                  <a:srgbClr val="152536"/>
                </a:solidFill>
              </a:rPr>
              <a:t>프로젝트 단위로 소스와 사용자를 묶어 접근 경계를 만들었습니다</a:t>
            </a:r>
          </a:p>
        </p:txBody>
      </p:sp>
      <p:sp>
        <p:nvSpPr>
          <p:cNvPr id="3" name="">
            <a:extLst xmlns:a="http://schemas.openxmlformats.org/drawingml/2006/main">
              <a:ext uri="{FF2B5EF4-FFF2-40B4-BE49-F238E27FC236}">
                <a16:creationId xmlns:a16="http://schemas.microsoft.com/office/drawing/2014/main" id="{8FC456D9-5381-4837-9445-EDB52E191132}"/>
              </a:ext>
            </a:extLst>
          </p:cNvPr>
          <p:cNvSpPr>
            <a:spLocks xmlns:a="http://schemas.openxmlformats.org/drawingml/2006/main" noGrp="1"/>
          </p:cNvSpPr>
          <p:nvPr/>
        </p:nvSpPr>
        <p:spPr>
          <a:xfrm xmlns:a="http://schemas.openxmlformats.org/drawingml/2006/main">
            <a:off x="8534400" y="361950"/>
            <a:ext cx="3048000" cy="266700"/>
          </a:xfrm>
          <a:prstGeom xmlns:a="http://schemas.openxmlformats.org/drawingml/2006/main" prst="roundRect">
            <a:avLst>
              <a:gd name="adj" fmla="val 42857"/>
            </a:avLst>
          </a:prstGeom>
          <a:solidFill xmlns:a="http://schemas.openxmlformats.org/drawingml/2006/main">
            <a:srgbClr val="F4F8F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36DA62-BB4A-4DC6-A1E5-B8B47531DE9D}"/>
              </a:ext>
            </a:extLst>
          </p:cNvPr>
          <p:cNvSpPr>
            <a:spLocks xmlns:a="http://schemas.openxmlformats.org/drawingml/2006/main" noGrp="1"/>
          </p:cNvSpPr>
          <p:nvPr/>
        </p:nvSpPr>
        <p:spPr>
          <a:xfrm xmlns:a="http://schemas.openxmlformats.org/drawingml/2006/main">
            <a:off x="8534400" y="400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60758A"/>
                </a:solidFill>
              </a:defRPr>
            </a:pPr>
            <a:r>
              <a:rPr sz="825" b="1">
                <a:solidFill>
                  <a:srgbClr val="60758A"/>
                </a:solidFill>
              </a:rPr>
              <a:t>SFR-003·008 · DAR-003~005·010 · SEC-003~006</a:t>
            </a:r>
          </a:p>
        </p:txBody>
      </p:sp>
      <p:sp>
        <p:nvSpPr>
          <p:cNvPr id="5" name="">
            <a:extLst xmlns:a="http://schemas.openxmlformats.org/drawingml/2006/main">
              <a:ext uri="{FF2B5EF4-FFF2-40B4-BE49-F238E27FC236}">
                <a16:creationId xmlns:a16="http://schemas.microsoft.com/office/drawing/2014/main" id="{A41F5718-55BE-489A-ADA6-BFB15B1037CD}"/>
              </a:ext>
            </a:extLst>
          </p:cNvPr>
          <p:cNvSpPr>
            <a:spLocks xmlns:a="http://schemas.openxmlformats.org/drawingml/2006/main" noGrp="1"/>
          </p:cNvSpPr>
          <p:nvPr/>
        </p:nvSpPr>
        <p:spPr>
          <a:xfrm xmlns:a="http://schemas.openxmlformats.org/drawingml/2006/main">
            <a:off x="609600" y="1238250"/>
            <a:ext cx="10972800" cy="0"/>
          </a:xfrm>
          <a:prstGeom xmlns:a="http://schemas.openxmlformats.org/drawingml/2006/main" prst="line">
            <a:avLst/>
          </a:prstGeom>
          <a:noFill xmlns:a="http://schemas.openxmlformats.org/drawingml/2006/main"/>
          <a:ln xmlns:a="http://schemas.openxmlformats.org/drawingml/2006/main" w="9525">
            <a:solidFill>
              <a:srgbClr val="D7E2EA"/>
            </a:solidFill>
            <a:prstDash val="solid"/>
          </a:ln>
        </p:spPr>
      </p:sp>
      <p:sp>
        <p:nvSpPr>
          <p:cNvPr id="6" name="">
            <a:extLst xmlns:a="http://schemas.openxmlformats.org/drawingml/2006/main">
              <a:ext uri="{FF2B5EF4-FFF2-40B4-BE49-F238E27FC236}">
                <a16:creationId xmlns:a16="http://schemas.microsoft.com/office/drawing/2014/main" id="{23B11222-CC92-4E45-92D3-A6A6C8114E11}"/>
              </a:ext>
            </a:extLst>
          </p:cNvPr>
          <p:cNvSpPr>
            <a:spLocks xmlns:a="http://schemas.openxmlformats.org/drawingml/2006/main" noGrp="1"/>
          </p:cNvSpPr>
          <p:nvPr/>
        </p:nvSpPr>
        <p:spPr>
          <a:xfrm xmlns:a="http://schemas.openxmlformats.org/drawingml/2006/main">
            <a:off x="609600" y="65532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0758A"/>
                </a:solidFill>
              </a:defRPr>
            </a:pPr>
            <a:r>
              <a:rPr sz="825" b="0">
                <a:solidFill>
                  <a:srgbClr val="60758A"/>
                </a:solidFill>
              </a:rPr>
              <a:t>SecureScan · 중간발표</a:t>
            </a:r>
          </a:p>
        </p:txBody>
      </p:sp>
      <p:sp>
        <p:nvSpPr>
          <p:cNvPr id="7" name="">
            <a:extLst xmlns:a="http://schemas.openxmlformats.org/drawingml/2006/main">
              <a:ext uri="{FF2B5EF4-FFF2-40B4-BE49-F238E27FC236}">
                <a16:creationId xmlns:a16="http://schemas.microsoft.com/office/drawing/2014/main" id="{BF06463E-080F-422F-BB8B-4B118E25F249}"/>
              </a:ext>
            </a:extLst>
          </p:cNvPr>
          <p:cNvSpPr>
            <a:spLocks xmlns:a="http://schemas.openxmlformats.org/drawingml/2006/main" noGrp="1"/>
          </p:cNvSpPr>
          <p:nvPr/>
        </p:nvSpPr>
        <p:spPr>
          <a:xfrm xmlns:a="http://schemas.openxmlformats.org/drawingml/2006/main">
            <a:off x="11220450" y="65532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0758A"/>
                </a:solidFill>
              </a:defRPr>
            </a:pPr>
            <a:r>
              <a:rPr sz="825" b="1">
                <a:solidFill>
                  <a:srgbClr val="60758A"/>
                </a:solidFill>
              </a:rPr>
              <a:t>04</a:t>
            </a:r>
          </a:p>
        </p:txBody>
      </p:sp>
      <p:sp>
        <p:nvSpPr>
          <p:cNvPr id="8" name="">
            <a:extLst xmlns:a="http://schemas.openxmlformats.org/drawingml/2006/main">
              <a:ext uri="{FF2B5EF4-FFF2-40B4-BE49-F238E27FC236}">
                <a16:creationId xmlns:a16="http://schemas.microsoft.com/office/drawing/2014/main" id="{0DB54799-335F-4454-A931-3125820F6C05}"/>
              </a:ext>
            </a:extLst>
          </p:cNvPr>
          <p:cNvSpPr>
            <a:spLocks xmlns:a="http://schemas.openxmlformats.org/drawingml/2006/main" noGrp="1"/>
          </p:cNvSpPr>
          <p:nvPr/>
        </p:nvSpPr>
        <p:spPr>
          <a:xfrm xmlns:a="http://schemas.openxmlformats.org/drawingml/2006/main">
            <a:off x="609600" y="1562100"/>
            <a:ext cx="4095750" cy="4171950"/>
          </a:xfrm>
          <a:prstGeom xmlns:a="http://schemas.openxmlformats.org/drawingml/2006/main" prst="roundRect">
            <a:avLst>
              <a:gd name="adj" fmla="val 2791"/>
            </a:avLst>
          </a:prstGeom>
          <a:solidFill xmlns:a="http://schemas.openxmlformats.org/drawingml/2006/main">
            <a:srgbClr val="F4F8FB"/>
          </a:solidFill>
          <a:ln xmlns:a="http://schemas.openxmlformats.org/drawingml/2006/main" w="9525">
            <a:solidFill>
              <a:srgbClr val="D7E2EA"/>
            </a:solidFill>
            <a:prstDash val="solid"/>
          </a:ln>
        </p:spPr>
      </p:sp>
      <p:sp>
        <p:nvSpPr>
          <p:cNvPr id="9" name="">
            <a:extLst xmlns:a="http://schemas.openxmlformats.org/drawingml/2006/main">
              <a:ext uri="{FF2B5EF4-FFF2-40B4-BE49-F238E27FC236}">
                <a16:creationId xmlns:a16="http://schemas.microsoft.com/office/drawing/2014/main" id="{22CCB9AB-303A-4E5D-9FDF-EB03679B7023}"/>
              </a:ext>
            </a:extLst>
          </p:cNvPr>
          <p:cNvSpPr>
            <a:spLocks xmlns:a="http://schemas.openxmlformats.org/drawingml/2006/main" noGrp="1"/>
          </p:cNvSpPr>
          <p:nvPr/>
        </p:nvSpPr>
        <p:spPr>
          <a:xfrm xmlns:a="http://schemas.openxmlformats.org/drawingml/2006/main">
            <a:off x="876300" y="18097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52536"/>
                </a:solidFill>
              </a:defRPr>
            </a:pPr>
            <a:r>
              <a:rPr sz="1650" b="1">
                <a:solidFill>
                  <a:srgbClr val="152536"/>
                </a:solidFill>
              </a:rPr>
              <a:t>권한 판단 순서</a:t>
            </a:r>
          </a:p>
        </p:txBody>
      </p:sp>
      <p:sp>
        <p:nvSpPr>
          <p:cNvPr id="10" name="">
            <a:extLst xmlns:a="http://schemas.openxmlformats.org/drawingml/2006/main">
              <a:ext uri="{FF2B5EF4-FFF2-40B4-BE49-F238E27FC236}">
                <a16:creationId xmlns:a16="http://schemas.microsoft.com/office/drawing/2014/main" id="{E8C18C31-EB5D-423A-A872-1CD5DA004EF3}"/>
              </a:ext>
            </a:extLst>
          </p:cNvPr>
          <p:cNvSpPr>
            <a:spLocks xmlns:a="http://schemas.openxmlformats.org/drawingml/2006/main" noGrp="1"/>
          </p:cNvSpPr>
          <p:nvPr/>
        </p:nvSpPr>
        <p:spPr>
          <a:xfrm xmlns:a="http://schemas.openxmlformats.org/drawingml/2006/main">
            <a:off x="876300" y="2400300"/>
            <a:ext cx="438150" cy="438150"/>
          </a:xfrm>
          <a:prstGeom xmlns:a="http://schemas.openxmlformats.org/drawingml/2006/main" prst="roundRect">
            <a:avLst>
              <a:gd name="adj" fmla="val 26087"/>
            </a:avLst>
          </a:prstGeom>
          <a:solidFill xmlns:a="http://schemas.openxmlformats.org/drawingml/2006/main">
            <a:srgbClr val="EAF3F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A2FEA65-1F06-4CB5-933E-2CFFB8898698}"/>
              </a:ext>
            </a:extLst>
          </p:cNvPr>
          <p:cNvSpPr>
            <a:spLocks xmlns:a="http://schemas.openxmlformats.org/drawingml/2006/main" noGrp="1"/>
          </p:cNvSpPr>
          <p:nvPr/>
        </p:nvSpPr>
        <p:spPr>
          <a:xfrm xmlns:a="http://schemas.openxmlformats.org/drawingml/2006/main">
            <a:off x="876300" y="24765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F6EA5"/>
                </a:solidFill>
              </a:defRPr>
            </a:pPr>
            <a:r>
              <a:rPr sz="1350" b="1">
                <a:solidFill>
                  <a:srgbClr val="1F6EA5"/>
                </a:solidFill>
              </a:rPr>
              <a:t>1</a:t>
            </a:r>
          </a:p>
        </p:txBody>
      </p:sp>
      <p:sp>
        <p:nvSpPr>
          <p:cNvPr id="12" name="">
            <a:extLst xmlns:a="http://schemas.openxmlformats.org/drawingml/2006/main">
              <a:ext uri="{FF2B5EF4-FFF2-40B4-BE49-F238E27FC236}">
                <a16:creationId xmlns:a16="http://schemas.microsoft.com/office/drawing/2014/main" id="{3820B15D-9370-4678-8B65-402304DE6D27}"/>
              </a:ext>
            </a:extLst>
          </p:cNvPr>
          <p:cNvSpPr>
            <a:spLocks xmlns:a="http://schemas.openxmlformats.org/drawingml/2006/main" noGrp="1"/>
          </p:cNvSpPr>
          <p:nvPr/>
        </p:nvSpPr>
        <p:spPr>
          <a:xfrm xmlns:a="http://schemas.openxmlformats.org/drawingml/2006/main">
            <a:off x="1504950" y="2390775"/>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52536"/>
                </a:solidFill>
              </a:defRPr>
            </a:pPr>
            <a:r>
              <a:rPr sz="1350" b="1">
                <a:solidFill>
                  <a:srgbClr val="152536"/>
                </a:solidFill>
              </a:rPr>
              <a:t>ADMIN인가?</a:t>
            </a:r>
          </a:p>
        </p:txBody>
      </p:sp>
      <p:sp>
        <p:nvSpPr>
          <p:cNvPr id="13" name="">
            <a:extLst xmlns:a="http://schemas.openxmlformats.org/drawingml/2006/main">
              <a:ext uri="{FF2B5EF4-FFF2-40B4-BE49-F238E27FC236}">
                <a16:creationId xmlns:a16="http://schemas.microsoft.com/office/drawing/2014/main" id="{80926ACA-E3EF-45D1-8B3D-1C2EF3990709}"/>
              </a:ext>
            </a:extLst>
          </p:cNvPr>
          <p:cNvSpPr>
            <a:spLocks xmlns:a="http://schemas.openxmlformats.org/drawingml/2006/main" noGrp="1"/>
          </p:cNvSpPr>
          <p:nvPr/>
        </p:nvSpPr>
        <p:spPr>
          <a:xfrm xmlns:a="http://schemas.openxmlformats.org/drawingml/2006/main">
            <a:off x="1504950" y="267652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0758A"/>
                </a:solidFill>
              </a:defRPr>
            </a:pPr>
            <a:r>
              <a:rPr sz="1050" b="0">
                <a:solidFill>
                  <a:srgbClr val="60758A"/>
                </a:solidFill>
              </a:rPr>
              <a:t>생성·수정·할당·업로드·분석 실행 허용</a:t>
            </a:r>
          </a:p>
        </p:txBody>
      </p:sp>
      <p:sp>
        <p:nvSpPr>
          <p:cNvPr id="14" name="">
            <a:extLst xmlns:a="http://schemas.openxmlformats.org/drawingml/2006/main">
              <a:ext uri="{FF2B5EF4-FFF2-40B4-BE49-F238E27FC236}">
                <a16:creationId xmlns:a16="http://schemas.microsoft.com/office/drawing/2014/main" id="{7580CD65-6C2B-4114-98F5-D31C6F3716D9}"/>
              </a:ext>
            </a:extLst>
          </p:cNvPr>
          <p:cNvSpPr>
            <a:spLocks xmlns:a="http://schemas.openxmlformats.org/drawingml/2006/main" noGrp="1"/>
          </p:cNvSpPr>
          <p:nvPr/>
        </p:nvSpPr>
        <p:spPr>
          <a:xfrm xmlns:a="http://schemas.openxmlformats.org/drawingml/2006/main">
            <a:off x="876300" y="3295650"/>
            <a:ext cx="438150" cy="438150"/>
          </a:xfrm>
          <a:prstGeom xmlns:a="http://schemas.openxmlformats.org/drawingml/2006/main" prst="roundRect">
            <a:avLst>
              <a:gd name="adj" fmla="val 26087"/>
            </a:avLst>
          </a:prstGeom>
          <a:solidFill xmlns:a="http://schemas.openxmlformats.org/drawingml/2006/main">
            <a:srgbClr val="EAF3F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0069C06-A626-4673-960B-995CEF95227D}"/>
              </a:ext>
            </a:extLst>
          </p:cNvPr>
          <p:cNvSpPr>
            <a:spLocks xmlns:a="http://schemas.openxmlformats.org/drawingml/2006/main" noGrp="1"/>
          </p:cNvSpPr>
          <p:nvPr/>
        </p:nvSpPr>
        <p:spPr>
          <a:xfrm xmlns:a="http://schemas.openxmlformats.org/drawingml/2006/main">
            <a:off x="876300" y="33718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F6EA5"/>
                </a:solidFill>
              </a:defRPr>
            </a:pPr>
            <a:r>
              <a:rPr sz="1350" b="1">
                <a:solidFill>
                  <a:srgbClr val="1F6EA5"/>
                </a:solidFill>
              </a:rPr>
              <a:t>2</a:t>
            </a:r>
          </a:p>
        </p:txBody>
      </p:sp>
      <p:sp>
        <p:nvSpPr>
          <p:cNvPr id="16" name="">
            <a:extLst xmlns:a="http://schemas.openxmlformats.org/drawingml/2006/main">
              <a:ext uri="{FF2B5EF4-FFF2-40B4-BE49-F238E27FC236}">
                <a16:creationId xmlns:a16="http://schemas.microsoft.com/office/drawing/2014/main" id="{CF3C5A96-F881-4F0F-9242-082B2C162654}"/>
              </a:ext>
            </a:extLst>
          </p:cNvPr>
          <p:cNvSpPr>
            <a:spLocks xmlns:a="http://schemas.openxmlformats.org/drawingml/2006/main" noGrp="1"/>
          </p:cNvSpPr>
          <p:nvPr/>
        </p:nvSpPr>
        <p:spPr>
          <a:xfrm xmlns:a="http://schemas.openxmlformats.org/drawingml/2006/main">
            <a:off x="1504950" y="3286125"/>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52536"/>
                </a:solidFill>
              </a:defRPr>
            </a:pPr>
            <a:r>
              <a:rPr sz="1350" b="1">
                <a:solidFill>
                  <a:srgbClr val="152536"/>
                </a:solidFill>
              </a:rPr>
              <a:t>할당된 USER인가?</a:t>
            </a:r>
          </a:p>
        </p:txBody>
      </p:sp>
      <p:sp>
        <p:nvSpPr>
          <p:cNvPr id="17" name="">
            <a:extLst xmlns:a="http://schemas.openxmlformats.org/drawingml/2006/main">
              <a:ext uri="{FF2B5EF4-FFF2-40B4-BE49-F238E27FC236}">
                <a16:creationId xmlns:a16="http://schemas.microsoft.com/office/drawing/2014/main" id="{DCD7983F-4881-469A-9444-8CA7C83C3D59}"/>
              </a:ext>
            </a:extLst>
          </p:cNvPr>
          <p:cNvSpPr>
            <a:spLocks xmlns:a="http://schemas.openxmlformats.org/drawingml/2006/main" noGrp="1"/>
          </p:cNvSpPr>
          <p:nvPr/>
        </p:nvSpPr>
        <p:spPr>
          <a:xfrm xmlns:a="http://schemas.openxmlformats.org/drawingml/2006/main">
            <a:off x="1504950" y="357187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0758A"/>
                </a:solidFill>
              </a:defRPr>
            </a:pPr>
            <a:r>
              <a:rPr sz="1050" b="0">
                <a:solidFill>
                  <a:srgbClr val="60758A"/>
                </a:solidFill>
              </a:rPr>
              <a:t>프로젝트·분석 이력·Finding 읽기 허용</a:t>
            </a:r>
          </a:p>
        </p:txBody>
      </p:sp>
      <p:sp>
        <p:nvSpPr>
          <p:cNvPr id="18" name="">
            <a:extLst xmlns:a="http://schemas.openxmlformats.org/drawingml/2006/main">
              <a:ext uri="{FF2B5EF4-FFF2-40B4-BE49-F238E27FC236}">
                <a16:creationId xmlns:a16="http://schemas.microsoft.com/office/drawing/2014/main" id="{40EBB198-F866-4D9C-BD38-F8FC3CAD7600}"/>
              </a:ext>
            </a:extLst>
          </p:cNvPr>
          <p:cNvSpPr>
            <a:spLocks xmlns:a="http://schemas.openxmlformats.org/drawingml/2006/main" noGrp="1"/>
          </p:cNvSpPr>
          <p:nvPr/>
        </p:nvSpPr>
        <p:spPr>
          <a:xfrm xmlns:a="http://schemas.openxmlformats.org/drawingml/2006/main">
            <a:off x="876300" y="4191000"/>
            <a:ext cx="438150" cy="438150"/>
          </a:xfrm>
          <a:prstGeom xmlns:a="http://schemas.openxmlformats.org/drawingml/2006/main" prst="roundRect">
            <a:avLst>
              <a:gd name="adj" fmla="val 26087"/>
            </a:avLst>
          </a:prstGeom>
          <a:solidFill xmlns:a="http://schemas.openxmlformats.org/drawingml/2006/main">
            <a:srgbClr val="FCE8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34182E9-6627-4FFF-AF71-45E158C6F658}"/>
              </a:ext>
            </a:extLst>
          </p:cNvPr>
          <p:cNvSpPr>
            <a:spLocks xmlns:a="http://schemas.openxmlformats.org/drawingml/2006/main" noGrp="1"/>
          </p:cNvSpPr>
          <p:nvPr/>
        </p:nvSpPr>
        <p:spPr>
          <a:xfrm xmlns:a="http://schemas.openxmlformats.org/drawingml/2006/main">
            <a:off x="876300" y="42672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C53A45"/>
                </a:solidFill>
              </a:defRPr>
            </a:pPr>
            <a:r>
              <a:rPr sz="1350" b="1">
                <a:solidFill>
                  <a:srgbClr val="C53A45"/>
                </a:solidFill>
              </a:rPr>
              <a:t>3</a:t>
            </a:r>
          </a:p>
        </p:txBody>
      </p:sp>
      <p:sp>
        <p:nvSpPr>
          <p:cNvPr id="20" name="">
            <a:extLst xmlns:a="http://schemas.openxmlformats.org/drawingml/2006/main">
              <a:ext uri="{FF2B5EF4-FFF2-40B4-BE49-F238E27FC236}">
                <a16:creationId xmlns:a16="http://schemas.microsoft.com/office/drawing/2014/main" id="{E4A1FAA5-FE16-45A8-A3B3-3ED6D045ACAD}"/>
              </a:ext>
            </a:extLst>
          </p:cNvPr>
          <p:cNvSpPr>
            <a:spLocks xmlns:a="http://schemas.openxmlformats.org/drawingml/2006/main" noGrp="1"/>
          </p:cNvSpPr>
          <p:nvPr/>
        </p:nvSpPr>
        <p:spPr>
          <a:xfrm xmlns:a="http://schemas.openxmlformats.org/drawingml/2006/main">
            <a:off x="1504950" y="4181475"/>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52536"/>
                </a:solidFill>
              </a:defRPr>
            </a:pPr>
            <a:r>
              <a:rPr sz="1350" b="1">
                <a:solidFill>
                  <a:srgbClr val="152536"/>
                </a:solidFill>
              </a:rPr>
              <a:t>그 외 요청인가?</a:t>
            </a:r>
          </a:p>
        </p:txBody>
      </p:sp>
      <p:sp>
        <p:nvSpPr>
          <p:cNvPr id="21" name="">
            <a:extLst xmlns:a="http://schemas.openxmlformats.org/drawingml/2006/main">
              <a:ext uri="{FF2B5EF4-FFF2-40B4-BE49-F238E27FC236}">
                <a16:creationId xmlns:a16="http://schemas.microsoft.com/office/drawing/2014/main" id="{5E5A0385-6538-4B0C-983F-BA7C3EE90995}"/>
              </a:ext>
            </a:extLst>
          </p:cNvPr>
          <p:cNvSpPr>
            <a:spLocks xmlns:a="http://schemas.openxmlformats.org/drawingml/2006/main" noGrp="1"/>
          </p:cNvSpPr>
          <p:nvPr/>
        </p:nvSpPr>
        <p:spPr>
          <a:xfrm xmlns:a="http://schemas.openxmlformats.org/drawingml/2006/main">
            <a:off x="1504950" y="446722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0758A"/>
                </a:solidFill>
              </a:defRPr>
            </a:pPr>
            <a:r>
              <a:rPr sz="1050" b="0">
                <a:solidFill>
                  <a:srgbClr val="60758A"/>
                </a:solidFill>
              </a:rPr>
              <a:t>자원 존재를 숨기기 위해 404 반환</a:t>
            </a:r>
          </a:p>
        </p:txBody>
      </p:sp>
      <p:sp>
        <p:nvSpPr>
          <p:cNvPr id="22" name="">
            <a:extLst xmlns:a="http://schemas.openxmlformats.org/drawingml/2006/main">
              <a:ext uri="{FF2B5EF4-FFF2-40B4-BE49-F238E27FC236}">
                <a16:creationId xmlns:a16="http://schemas.microsoft.com/office/drawing/2014/main" id="{41A241A7-EAAC-451B-B88A-7D3E2A873534}"/>
              </a:ext>
            </a:extLst>
          </p:cNvPr>
          <p:cNvSpPr>
            <a:spLocks xmlns:a="http://schemas.openxmlformats.org/drawingml/2006/main" noGrp="1"/>
          </p:cNvSpPr>
          <p:nvPr/>
        </p:nvSpPr>
        <p:spPr>
          <a:xfrm xmlns:a="http://schemas.openxmlformats.org/drawingml/2006/main">
            <a:off x="5048250" y="1524000"/>
            <a:ext cx="6572250" cy="4248150"/>
          </a:xfrm>
          <a:prstGeom xmlns:a="http://schemas.openxmlformats.org/drawingml/2006/main" prst="roundRect">
            <a:avLst>
              <a:gd name="adj" fmla="val 2691"/>
            </a:avLst>
          </a:prstGeom>
          <a:solidFill xmlns:a="http://schemas.openxmlformats.org/drawingml/2006/main">
            <a:srgbClr val="FFFFFF"/>
          </a:solidFill>
          <a:ln xmlns:a="http://schemas.openxmlformats.org/drawingml/2006/main" w="9525">
            <a:solidFill>
              <a:srgbClr val="D7E2EA"/>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e45994d826124084"/>
          <a:stretch xmlns:a="http://schemas.openxmlformats.org/drawingml/2006/main"/>
        </p:blipFill>
        <p:spPr>
          <a:xfrm xmlns:a="http://schemas.openxmlformats.org/drawingml/2006/main">
            <a:off x="5446304" y="1562100"/>
            <a:ext cx="5776142" cy="4171950"/>
          </a:xfrm>
          <a:prstGeom xmlns:a="http://schemas.openxmlformats.org/drawingml/2006/main" prst="roundRect">
            <a:avLst>
              <a:gd name="adj" fmla="val 2740"/>
            </a:avLst>
          </a:prstGeom>
        </p:spPr>
      </p:pic>
    </p:spTree>
    <p:extLst>
      <p:ext uri="{BB962C8B-B14F-4D97-AF65-F5344CB8AC3E}">
        <p14:creationId xmlns:p14="http://schemas.microsoft.com/office/powerpoint/2010/main" val="20472011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2167A023-999A-4F2E-A0F8-08E829AD83F0}"/>
              </a:ext>
            </a:extLst>
          </p:cNvPr>
          <p:cNvSpPr>
            <a:spLocks xmlns:a="http://schemas.openxmlformats.org/drawingml/2006/main" noGrp="1"/>
          </p:cNvSpPr>
          <p:nvPr/>
        </p:nvSpPr>
        <p:spPr>
          <a:xfrm xmlns:a="http://schemas.openxmlformats.org/drawingml/2006/main">
            <a:off x="609600" y="3619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F6EA5"/>
                </a:solidFill>
              </a:defRPr>
            </a:pPr>
            <a:r>
              <a:rPr sz="975" b="1">
                <a:solidFill>
                  <a:srgbClr val="1F6EA5"/>
                </a:solidFill>
              </a:rPr>
              <a:t>업로드·작업공간</a:t>
            </a:r>
          </a:p>
        </p:txBody>
      </p:sp>
      <p:sp>
        <p:nvSpPr>
          <p:cNvPr id="2" name="">
            <a:extLst xmlns:a="http://schemas.openxmlformats.org/drawingml/2006/main">
              <a:ext uri="{FF2B5EF4-FFF2-40B4-BE49-F238E27FC236}">
                <a16:creationId xmlns:a16="http://schemas.microsoft.com/office/drawing/2014/main" id="{9E216514-9644-454D-B914-8227A55A006E}"/>
              </a:ext>
            </a:extLst>
          </p:cNvPr>
          <p:cNvSpPr>
            <a:spLocks xmlns:a="http://schemas.openxmlformats.org/drawingml/2006/main" noGrp="1"/>
          </p:cNvSpPr>
          <p:nvPr/>
        </p:nvSpPr>
        <p:spPr>
          <a:xfrm xmlns:a="http://schemas.openxmlformats.org/drawingml/2006/main">
            <a:off x="609600" y="64770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52536"/>
                </a:solidFill>
              </a:defRPr>
            </a:pPr>
            <a:r>
              <a:rPr sz="2550" b="1">
                <a:solidFill>
                  <a:srgbClr val="152536"/>
                </a:solidFill>
              </a:rPr>
              <a:t>업로드 파일을 신뢰하지 않고 분석마다 복사본을 격리합니다</a:t>
            </a:r>
          </a:p>
        </p:txBody>
      </p:sp>
      <p:sp>
        <p:nvSpPr>
          <p:cNvPr id="3" name="">
            <a:extLst xmlns:a="http://schemas.openxmlformats.org/drawingml/2006/main">
              <a:ext uri="{FF2B5EF4-FFF2-40B4-BE49-F238E27FC236}">
                <a16:creationId xmlns:a16="http://schemas.microsoft.com/office/drawing/2014/main" id="{E3D017A5-0213-4559-91A1-2BB41109673F}"/>
              </a:ext>
            </a:extLst>
          </p:cNvPr>
          <p:cNvSpPr>
            <a:spLocks xmlns:a="http://schemas.openxmlformats.org/drawingml/2006/main" noGrp="1"/>
          </p:cNvSpPr>
          <p:nvPr/>
        </p:nvSpPr>
        <p:spPr>
          <a:xfrm xmlns:a="http://schemas.openxmlformats.org/drawingml/2006/main">
            <a:off x="8534400" y="361950"/>
            <a:ext cx="3048000" cy="266700"/>
          </a:xfrm>
          <a:prstGeom xmlns:a="http://schemas.openxmlformats.org/drawingml/2006/main" prst="roundRect">
            <a:avLst>
              <a:gd name="adj" fmla="val 42857"/>
            </a:avLst>
          </a:prstGeom>
          <a:solidFill xmlns:a="http://schemas.openxmlformats.org/drawingml/2006/main">
            <a:srgbClr val="F4F8F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EDAF56D-5E78-4C21-8A86-F6EF89243C1F}"/>
              </a:ext>
            </a:extLst>
          </p:cNvPr>
          <p:cNvSpPr>
            <a:spLocks xmlns:a="http://schemas.openxmlformats.org/drawingml/2006/main" noGrp="1"/>
          </p:cNvSpPr>
          <p:nvPr/>
        </p:nvSpPr>
        <p:spPr>
          <a:xfrm xmlns:a="http://schemas.openxmlformats.org/drawingml/2006/main">
            <a:off x="8534400" y="400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60758A"/>
                </a:solidFill>
              </a:defRPr>
            </a:pPr>
            <a:r>
              <a:rPr sz="825" b="1">
                <a:solidFill>
                  <a:srgbClr val="60758A"/>
                </a:solidFill>
              </a:rPr>
              <a:t>SFR-008 · SEC-007~009 · TST-004</a:t>
            </a:r>
          </a:p>
        </p:txBody>
      </p:sp>
      <p:sp>
        <p:nvSpPr>
          <p:cNvPr id="5" name="">
            <a:extLst xmlns:a="http://schemas.openxmlformats.org/drawingml/2006/main">
              <a:ext uri="{FF2B5EF4-FFF2-40B4-BE49-F238E27FC236}">
                <a16:creationId xmlns:a16="http://schemas.microsoft.com/office/drawing/2014/main" id="{2BB3A93F-3327-498A-90E9-DAE47310F0E3}"/>
              </a:ext>
            </a:extLst>
          </p:cNvPr>
          <p:cNvSpPr>
            <a:spLocks xmlns:a="http://schemas.openxmlformats.org/drawingml/2006/main" noGrp="1"/>
          </p:cNvSpPr>
          <p:nvPr/>
        </p:nvSpPr>
        <p:spPr>
          <a:xfrm xmlns:a="http://schemas.openxmlformats.org/drawingml/2006/main">
            <a:off x="609600" y="1238250"/>
            <a:ext cx="10972800" cy="0"/>
          </a:xfrm>
          <a:prstGeom xmlns:a="http://schemas.openxmlformats.org/drawingml/2006/main" prst="line">
            <a:avLst/>
          </a:prstGeom>
          <a:noFill xmlns:a="http://schemas.openxmlformats.org/drawingml/2006/main"/>
          <a:ln xmlns:a="http://schemas.openxmlformats.org/drawingml/2006/main" w="9525">
            <a:solidFill>
              <a:srgbClr val="D7E2EA"/>
            </a:solidFill>
            <a:prstDash val="solid"/>
          </a:ln>
        </p:spPr>
      </p:sp>
      <p:sp>
        <p:nvSpPr>
          <p:cNvPr id="6" name="">
            <a:extLst xmlns:a="http://schemas.openxmlformats.org/drawingml/2006/main">
              <a:ext uri="{FF2B5EF4-FFF2-40B4-BE49-F238E27FC236}">
                <a16:creationId xmlns:a16="http://schemas.microsoft.com/office/drawing/2014/main" id="{7693F076-B3D5-47B6-8C8A-765B8CED0F84}"/>
              </a:ext>
            </a:extLst>
          </p:cNvPr>
          <p:cNvSpPr>
            <a:spLocks xmlns:a="http://schemas.openxmlformats.org/drawingml/2006/main" noGrp="1"/>
          </p:cNvSpPr>
          <p:nvPr/>
        </p:nvSpPr>
        <p:spPr>
          <a:xfrm xmlns:a="http://schemas.openxmlformats.org/drawingml/2006/main">
            <a:off x="609600" y="65532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0758A"/>
                </a:solidFill>
              </a:defRPr>
            </a:pPr>
            <a:r>
              <a:rPr sz="825" b="0">
                <a:solidFill>
                  <a:srgbClr val="60758A"/>
                </a:solidFill>
              </a:rPr>
              <a:t>SecureScan · 중간발표</a:t>
            </a:r>
          </a:p>
        </p:txBody>
      </p:sp>
      <p:sp>
        <p:nvSpPr>
          <p:cNvPr id="7" name="">
            <a:extLst xmlns:a="http://schemas.openxmlformats.org/drawingml/2006/main">
              <a:ext uri="{FF2B5EF4-FFF2-40B4-BE49-F238E27FC236}">
                <a16:creationId xmlns:a16="http://schemas.microsoft.com/office/drawing/2014/main" id="{F63A40CD-6126-4D9C-8E19-C42D7223BE8C}"/>
              </a:ext>
            </a:extLst>
          </p:cNvPr>
          <p:cNvSpPr>
            <a:spLocks xmlns:a="http://schemas.openxmlformats.org/drawingml/2006/main" noGrp="1"/>
          </p:cNvSpPr>
          <p:nvPr/>
        </p:nvSpPr>
        <p:spPr>
          <a:xfrm xmlns:a="http://schemas.openxmlformats.org/drawingml/2006/main">
            <a:off x="11220450" y="65532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0758A"/>
                </a:solidFill>
              </a:defRPr>
            </a:pPr>
            <a:r>
              <a:rPr sz="825" b="1">
                <a:solidFill>
                  <a:srgbClr val="60758A"/>
                </a:solidFill>
              </a:rPr>
              <a:t>05</a:t>
            </a:r>
          </a:p>
        </p:txBody>
      </p:sp>
      <p:sp>
        <p:nvSpPr>
          <p:cNvPr id="8" name="">
            <a:extLst xmlns:a="http://schemas.openxmlformats.org/drawingml/2006/main">
              <a:ext uri="{FF2B5EF4-FFF2-40B4-BE49-F238E27FC236}">
                <a16:creationId xmlns:a16="http://schemas.microsoft.com/office/drawing/2014/main" id="{5749A031-DCAB-44C2-ACE7-BB3ACE15D3A4}"/>
              </a:ext>
            </a:extLst>
          </p:cNvPr>
          <p:cNvSpPr>
            <a:spLocks xmlns:a="http://schemas.openxmlformats.org/drawingml/2006/main" noGrp="1"/>
          </p:cNvSpPr>
          <p:nvPr/>
        </p:nvSpPr>
        <p:spPr>
          <a:xfrm xmlns:a="http://schemas.openxmlformats.org/drawingml/2006/main">
            <a:off x="2381250" y="2600325"/>
            <a:ext cx="590550" cy="323850"/>
          </a:xfrm>
          <a:prstGeom xmlns:a="http://schemas.openxmlformats.org/drawingml/2006/main" prst="rightArrow">
            <a:avLst/>
          </a:prstGeom>
          <a:solidFill xmlns:a="http://schemas.openxmlformats.org/drawingml/2006/main">
            <a:srgbClr val="EAF3F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5083C52-ACB7-44FF-AB9F-4FED15662E6A}"/>
              </a:ext>
            </a:extLst>
          </p:cNvPr>
          <p:cNvSpPr>
            <a:spLocks xmlns:a="http://schemas.openxmlformats.org/drawingml/2006/main" noGrp="1"/>
          </p:cNvSpPr>
          <p:nvPr/>
        </p:nvSpPr>
        <p:spPr>
          <a:xfrm xmlns:a="http://schemas.openxmlformats.org/drawingml/2006/main">
            <a:off x="4610100" y="2600325"/>
            <a:ext cx="590550" cy="323850"/>
          </a:xfrm>
          <a:prstGeom xmlns:a="http://schemas.openxmlformats.org/drawingml/2006/main" prst="rightArrow">
            <a:avLst/>
          </a:prstGeom>
          <a:solidFill xmlns:a="http://schemas.openxmlformats.org/drawingml/2006/main">
            <a:srgbClr val="EAF3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A374CDE-DAF8-413C-ABC7-E709B61C5437}"/>
              </a:ext>
            </a:extLst>
          </p:cNvPr>
          <p:cNvSpPr>
            <a:spLocks xmlns:a="http://schemas.openxmlformats.org/drawingml/2006/main" noGrp="1"/>
          </p:cNvSpPr>
          <p:nvPr/>
        </p:nvSpPr>
        <p:spPr>
          <a:xfrm xmlns:a="http://schemas.openxmlformats.org/drawingml/2006/main">
            <a:off x="6838950" y="2600325"/>
            <a:ext cx="590550" cy="323850"/>
          </a:xfrm>
          <a:prstGeom xmlns:a="http://schemas.openxmlformats.org/drawingml/2006/main" prst="rightArrow">
            <a:avLst/>
          </a:prstGeom>
          <a:solidFill xmlns:a="http://schemas.openxmlformats.org/drawingml/2006/main">
            <a:srgbClr val="EAF3F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32C74A5-8E60-4A54-9CD5-E7D5B553C21B}"/>
              </a:ext>
            </a:extLst>
          </p:cNvPr>
          <p:cNvSpPr>
            <a:spLocks xmlns:a="http://schemas.openxmlformats.org/drawingml/2006/main" noGrp="1"/>
          </p:cNvSpPr>
          <p:nvPr/>
        </p:nvSpPr>
        <p:spPr>
          <a:xfrm xmlns:a="http://schemas.openxmlformats.org/drawingml/2006/main">
            <a:off x="9067800" y="2600325"/>
            <a:ext cx="590550" cy="323850"/>
          </a:xfrm>
          <a:prstGeom xmlns:a="http://schemas.openxmlformats.org/drawingml/2006/main" prst="rightArrow">
            <a:avLst/>
          </a:prstGeom>
          <a:solidFill xmlns:a="http://schemas.openxmlformats.org/drawingml/2006/main">
            <a:srgbClr val="EAF3F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4A2324E-EED5-4E5B-B445-8CDAD873151B}"/>
              </a:ext>
            </a:extLst>
          </p:cNvPr>
          <p:cNvSpPr>
            <a:spLocks xmlns:a="http://schemas.openxmlformats.org/drawingml/2006/main" noGrp="1"/>
          </p:cNvSpPr>
          <p:nvPr/>
        </p:nvSpPr>
        <p:spPr>
          <a:xfrm xmlns:a="http://schemas.openxmlformats.org/drawingml/2006/main">
            <a:off x="685800" y="2190750"/>
            <a:ext cx="1695450" cy="1143000"/>
          </a:xfrm>
          <a:prstGeom xmlns:a="http://schemas.openxmlformats.org/drawingml/2006/main" prst="roundRect">
            <a:avLst>
              <a:gd name="adj" fmla="val 10000"/>
            </a:avLst>
          </a:prstGeom>
          <a:solidFill xmlns:a="http://schemas.openxmlformats.org/drawingml/2006/main">
            <a:srgbClr val="F4F8FB"/>
          </a:solidFill>
          <a:ln xmlns:a="http://schemas.openxmlformats.org/drawingml/2006/main" w="9525">
            <a:solidFill>
              <a:srgbClr val="D7E2EA"/>
            </a:solidFill>
            <a:prstDash val="solid"/>
          </a:ln>
        </p:spPr>
      </p:sp>
      <p:sp>
        <p:nvSpPr>
          <p:cNvPr id="13" name="">
            <a:extLst xmlns:a="http://schemas.openxmlformats.org/drawingml/2006/main">
              <a:ext uri="{FF2B5EF4-FFF2-40B4-BE49-F238E27FC236}">
                <a16:creationId xmlns:a16="http://schemas.microsoft.com/office/drawing/2014/main" id="{688D627C-A886-4C64-B926-A3D2E33609C3}"/>
              </a:ext>
            </a:extLst>
          </p:cNvPr>
          <p:cNvSpPr>
            <a:spLocks xmlns:a="http://schemas.openxmlformats.org/drawingml/2006/main" noGrp="1"/>
          </p:cNvSpPr>
          <p:nvPr/>
        </p:nvSpPr>
        <p:spPr>
          <a:xfrm xmlns:a="http://schemas.openxmlformats.org/drawingml/2006/main">
            <a:off x="838200" y="23241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F6EA5"/>
                </a:solidFill>
              </a:defRPr>
            </a:pPr>
            <a:r>
              <a:rPr sz="975" b="1">
                <a:solidFill>
                  <a:srgbClr val="1F6EA5"/>
                </a:solidFill>
              </a:rPr>
              <a:t>01</a:t>
            </a:r>
          </a:p>
        </p:txBody>
      </p:sp>
      <p:sp>
        <p:nvSpPr>
          <p:cNvPr id="14" name="">
            <a:extLst xmlns:a="http://schemas.openxmlformats.org/drawingml/2006/main">
              <a:ext uri="{FF2B5EF4-FFF2-40B4-BE49-F238E27FC236}">
                <a16:creationId xmlns:a16="http://schemas.microsoft.com/office/drawing/2014/main" id="{4ED9DE4A-1EBA-4348-A3A8-77D6CE2CC1B5}"/>
              </a:ext>
            </a:extLst>
          </p:cNvPr>
          <p:cNvSpPr>
            <a:spLocks xmlns:a="http://schemas.openxmlformats.org/drawingml/2006/main" noGrp="1"/>
          </p:cNvSpPr>
          <p:nvPr/>
        </p:nvSpPr>
        <p:spPr>
          <a:xfrm xmlns:a="http://schemas.openxmlformats.org/drawingml/2006/main">
            <a:off x="838200" y="26193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52536"/>
                </a:solidFill>
              </a:defRPr>
            </a:pPr>
            <a:r>
              <a:rPr sz="1275" b="1">
                <a:solidFill>
                  <a:srgbClr val="152536"/>
                </a:solidFill>
              </a:rPr>
              <a:t>ZIP 검증</a:t>
            </a:r>
          </a:p>
        </p:txBody>
      </p:sp>
      <p:sp>
        <p:nvSpPr>
          <p:cNvPr id="15" name="">
            <a:extLst xmlns:a="http://schemas.openxmlformats.org/drawingml/2006/main">
              <a:ext uri="{FF2B5EF4-FFF2-40B4-BE49-F238E27FC236}">
                <a16:creationId xmlns:a16="http://schemas.microsoft.com/office/drawing/2014/main" id="{83E90F2B-8360-43F0-ACBC-0865CBC43A86}"/>
              </a:ext>
            </a:extLst>
          </p:cNvPr>
          <p:cNvSpPr>
            <a:spLocks xmlns:a="http://schemas.openxmlformats.org/drawingml/2006/main" noGrp="1"/>
          </p:cNvSpPr>
          <p:nvPr/>
        </p:nvSpPr>
        <p:spPr>
          <a:xfrm xmlns:a="http://schemas.openxmlformats.org/drawingml/2006/main">
            <a:off x="838200" y="292417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0758A"/>
                </a:solidFill>
              </a:defRPr>
            </a:pPr>
            <a:r>
              <a:rPr sz="900" b="0">
                <a:solidFill>
                  <a:srgbClr val="60758A"/>
                </a:solidFill>
              </a:rPr>
              <a:t>서명·경로·링크·암호화</a:t>
            </a:r>
          </a:p>
        </p:txBody>
      </p:sp>
      <p:sp>
        <p:nvSpPr>
          <p:cNvPr id="16" name="">
            <a:extLst xmlns:a="http://schemas.openxmlformats.org/drawingml/2006/main">
              <a:ext uri="{FF2B5EF4-FFF2-40B4-BE49-F238E27FC236}">
                <a16:creationId xmlns:a16="http://schemas.microsoft.com/office/drawing/2014/main" id="{9151AD66-1CC2-47CF-AC3C-FA66DAFC4C25}"/>
              </a:ext>
            </a:extLst>
          </p:cNvPr>
          <p:cNvSpPr>
            <a:spLocks xmlns:a="http://schemas.openxmlformats.org/drawingml/2006/main" noGrp="1"/>
          </p:cNvSpPr>
          <p:nvPr/>
        </p:nvSpPr>
        <p:spPr>
          <a:xfrm xmlns:a="http://schemas.openxmlformats.org/drawingml/2006/main">
            <a:off x="2914650" y="2190750"/>
            <a:ext cx="1695450" cy="1143000"/>
          </a:xfrm>
          <a:prstGeom xmlns:a="http://schemas.openxmlformats.org/drawingml/2006/main" prst="roundRect">
            <a:avLst>
              <a:gd name="adj" fmla="val 10000"/>
            </a:avLst>
          </a:prstGeom>
          <a:solidFill xmlns:a="http://schemas.openxmlformats.org/drawingml/2006/main">
            <a:srgbClr val="F4F8FB"/>
          </a:solidFill>
          <a:ln xmlns:a="http://schemas.openxmlformats.org/drawingml/2006/main" w="9525">
            <a:solidFill>
              <a:srgbClr val="D7E2EA"/>
            </a:solidFill>
            <a:prstDash val="solid"/>
          </a:ln>
        </p:spPr>
      </p:sp>
      <p:sp>
        <p:nvSpPr>
          <p:cNvPr id="17" name="">
            <a:extLst xmlns:a="http://schemas.openxmlformats.org/drawingml/2006/main">
              <a:ext uri="{FF2B5EF4-FFF2-40B4-BE49-F238E27FC236}">
                <a16:creationId xmlns:a16="http://schemas.microsoft.com/office/drawing/2014/main" id="{ADF78A46-0600-497C-B979-DD1F6CD48470}"/>
              </a:ext>
            </a:extLst>
          </p:cNvPr>
          <p:cNvSpPr>
            <a:spLocks xmlns:a="http://schemas.openxmlformats.org/drawingml/2006/main" noGrp="1"/>
          </p:cNvSpPr>
          <p:nvPr/>
        </p:nvSpPr>
        <p:spPr>
          <a:xfrm xmlns:a="http://schemas.openxmlformats.org/drawingml/2006/main">
            <a:off x="3067050" y="23241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F6EA5"/>
                </a:solidFill>
              </a:defRPr>
            </a:pPr>
            <a:r>
              <a:rPr sz="975" b="1">
                <a:solidFill>
                  <a:srgbClr val="1F6EA5"/>
                </a:solidFill>
              </a:rPr>
              <a:t>02</a:t>
            </a:r>
          </a:p>
        </p:txBody>
      </p:sp>
      <p:sp>
        <p:nvSpPr>
          <p:cNvPr id="18" name="">
            <a:extLst xmlns:a="http://schemas.openxmlformats.org/drawingml/2006/main">
              <a:ext uri="{FF2B5EF4-FFF2-40B4-BE49-F238E27FC236}">
                <a16:creationId xmlns:a16="http://schemas.microsoft.com/office/drawing/2014/main" id="{7DB09A06-B5F5-4774-B028-B9D85B2C56AE}"/>
              </a:ext>
            </a:extLst>
          </p:cNvPr>
          <p:cNvSpPr>
            <a:spLocks xmlns:a="http://schemas.openxmlformats.org/drawingml/2006/main" noGrp="1"/>
          </p:cNvSpPr>
          <p:nvPr/>
        </p:nvSpPr>
        <p:spPr>
          <a:xfrm xmlns:a="http://schemas.openxmlformats.org/drawingml/2006/main">
            <a:off x="3067050" y="26193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52536"/>
                </a:solidFill>
              </a:defRPr>
            </a:pPr>
            <a:r>
              <a:rPr sz="1275" b="1">
                <a:solidFill>
                  <a:srgbClr val="152536"/>
                </a:solidFill>
              </a:rPr>
              <a:t>프로젝트 소스</a:t>
            </a:r>
          </a:p>
        </p:txBody>
      </p:sp>
      <p:sp>
        <p:nvSpPr>
          <p:cNvPr id="19" name="">
            <a:extLst xmlns:a="http://schemas.openxmlformats.org/drawingml/2006/main">
              <a:ext uri="{FF2B5EF4-FFF2-40B4-BE49-F238E27FC236}">
                <a16:creationId xmlns:a16="http://schemas.microsoft.com/office/drawing/2014/main" id="{4AD0623B-B773-41CF-8F2B-8F7AEC456CB7}"/>
              </a:ext>
            </a:extLst>
          </p:cNvPr>
          <p:cNvSpPr>
            <a:spLocks xmlns:a="http://schemas.openxmlformats.org/drawingml/2006/main" noGrp="1"/>
          </p:cNvSpPr>
          <p:nvPr/>
        </p:nvSpPr>
        <p:spPr>
          <a:xfrm xmlns:a="http://schemas.openxmlformats.org/drawingml/2006/main">
            <a:off x="3067050" y="292417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0758A"/>
                </a:solidFill>
              </a:defRPr>
            </a:pPr>
            <a:r>
              <a:rPr sz="900" b="0">
                <a:solidFill>
                  <a:srgbClr val="60758A"/>
                </a:solidFill>
              </a:rPr>
              <a:t>검증된 원본을 지속 보관</a:t>
            </a:r>
          </a:p>
        </p:txBody>
      </p:sp>
      <p:sp>
        <p:nvSpPr>
          <p:cNvPr id="20" name="">
            <a:extLst xmlns:a="http://schemas.openxmlformats.org/drawingml/2006/main">
              <a:ext uri="{FF2B5EF4-FFF2-40B4-BE49-F238E27FC236}">
                <a16:creationId xmlns:a16="http://schemas.microsoft.com/office/drawing/2014/main" id="{9C78F598-1D20-4879-93AC-E7976A65C060}"/>
              </a:ext>
            </a:extLst>
          </p:cNvPr>
          <p:cNvSpPr>
            <a:spLocks xmlns:a="http://schemas.openxmlformats.org/drawingml/2006/main" noGrp="1"/>
          </p:cNvSpPr>
          <p:nvPr/>
        </p:nvSpPr>
        <p:spPr>
          <a:xfrm xmlns:a="http://schemas.openxmlformats.org/drawingml/2006/main">
            <a:off x="5143500" y="2190750"/>
            <a:ext cx="1695450" cy="1143000"/>
          </a:xfrm>
          <a:prstGeom xmlns:a="http://schemas.openxmlformats.org/drawingml/2006/main" prst="roundRect">
            <a:avLst>
              <a:gd name="adj" fmla="val 10000"/>
            </a:avLst>
          </a:prstGeom>
          <a:solidFill xmlns:a="http://schemas.openxmlformats.org/drawingml/2006/main">
            <a:srgbClr val="0B2236"/>
          </a:solidFill>
          <a:ln xmlns:a="http://schemas.openxmlformats.org/drawingml/2006/main" w="9525">
            <a:solidFill>
              <a:srgbClr val="0B2236"/>
            </a:solidFill>
            <a:prstDash val="solid"/>
          </a:ln>
        </p:spPr>
      </p:sp>
      <p:sp>
        <p:nvSpPr>
          <p:cNvPr id="21" name="">
            <a:extLst xmlns:a="http://schemas.openxmlformats.org/drawingml/2006/main">
              <a:ext uri="{FF2B5EF4-FFF2-40B4-BE49-F238E27FC236}">
                <a16:creationId xmlns:a16="http://schemas.microsoft.com/office/drawing/2014/main" id="{5B7B8C0B-398E-43AF-A747-E751F0C632EB}"/>
              </a:ext>
            </a:extLst>
          </p:cNvPr>
          <p:cNvSpPr>
            <a:spLocks xmlns:a="http://schemas.openxmlformats.org/drawingml/2006/main" noGrp="1"/>
          </p:cNvSpPr>
          <p:nvPr/>
        </p:nvSpPr>
        <p:spPr>
          <a:xfrm xmlns:a="http://schemas.openxmlformats.org/drawingml/2006/main">
            <a:off x="5295900" y="23241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9CC5DF"/>
                </a:solidFill>
              </a:defRPr>
            </a:pPr>
            <a:r>
              <a:rPr sz="975" b="1">
                <a:solidFill>
                  <a:srgbClr val="9CC5DF"/>
                </a:solidFill>
              </a:rPr>
              <a:t>03</a:t>
            </a:r>
          </a:p>
        </p:txBody>
      </p:sp>
      <p:sp>
        <p:nvSpPr>
          <p:cNvPr id="22" name="">
            <a:extLst xmlns:a="http://schemas.openxmlformats.org/drawingml/2006/main">
              <a:ext uri="{FF2B5EF4-FFF2-40B4-BE49-F238E27FC236}">
                <a16:creationId xmlns:a16="http://schemas.microsoft.com/office/drawing/2014/main" id="{3C87A5A2-6C21-4197-993C-E0D67030A254}"/>
              </a:ext>
            </a:extLst>
          </p:cNvPr>
          <p:cNvSpPr>
            <a:spLocks xmlns:a="http://schemas.openxmlformats.org/drawingml/2006/main" noGrp="1"/>
          </p:cNvSpPr>
          <p:nvPr/>
        </p:nvSpPr>
        <p:spPr>
          <a:xfrm xmlns:a="http://schemas.openxmlformats.org/drawingml/2006/main">
            <a:off x="5295900" y="26193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분석별 작업공간</a:t>
            </a:r>
          </a:p>
        </p:txBody>
      </p:sp>
      <p:sp>
        <p:nvSpPr>
          <p:cNvPr id="23" name="">
            <a:extLst xmlns:a="http://schemas.openxmlformats.org/drawingml/2006/main">
              <a:ext uri="{FF2B5EF4-FFF2-40B4-BE49-F238E27FC236}">
                <a16:creationId xmlns:a16="http://schemas.microsoft.com/office/drawing/2014/main" id="{D3160104-A98C-46CE-9132-B5EBB031B192}"/>
              </a:ext>
            </a:extLst>
          </p:cNvPr>
          <p:cNvSpPr>
            <a:spLocks xmlns:a="http://schemas.openxmlformats.org/drawingml/2006/main" noGrp="1"/>
          </p:cNvSpPr>
          <p:nvPr/>
        </p:nvSpPr>
        <p:spPr>
          <a:xfrm xmlns:a="http://schemas.openxmlformats.org/drawingml/2006/main">
            <a:off x="5295900" y="292417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B7CCDB"/>
                </a:solidFill>
              </a:defRPr>
            </a:pPr>
            <a:r>
              <a:rPr sz="900" b="0">
                <a:solidFill>
                  <a:srgbClr val="B7CCDB"/>
                </a:solidFill>
              </a:rPr>
              <a:t>정규 파일만 고유 공간에 복사</a:t>
            </a:r>
          </a:p>
        </p:txBody>
      </p:sp>
      <p:sp>
        <p:nvSpPr>
          <p:cNvPr id="24" name="">
            <a:extLst xmlns:a="http://schemas.openxmlformats.org/drawingml/2006/main">
              <a:ext uri="{FF2B5EF4-FFF2-40B4-BE49-F238E27FC236}">
                <a16:creationId xmlns:a16="http://schemas.microsoft.com/office/drawing/2014/main" id="{0A389896-98FD-4551-B7D5-68C4B76F61FD}"/>
              </a:ext>
            </a:extLst>
          </p:cNvPr>
          <p:cNvSpPr>
            <a:spLocks xmlns:a="http://schemas.openxmlformats.org/drawingml/2006/main" noGrp="1"/>
          </p:cNvSpPr>
          <p:nvPr/>
        </p:nvSpPr>
        <p:spPr>
          <a:xfrm xmlns:a="http://schemas.openxmlformats.org/drawingml/2006/main">
            <a:off x="7372350" y="2190750"/>
            <a:ext cx="1695450" cy="1143000"/>
          </a:xfrm>
          <a:prstGeom xmlns:a="http://schemas.openxmlformats.org/drawingml/2006/main" prst="roundRect">
            <a:avLst>
              <a:gd name="adj" fmla="val 10000"/>
            </a:avLst>
          </a:prstGeom>
          <a:solidFill xmlns:a="http://schemas.openxmlformats.org/drawingml/2006/main">
            <a:srgbClr val="F4F8FB"/>
          </a:solidFill>
          <a:ln xmlns:a="http://schemas.openxmlformats.org/drawingml/2006/main" w="9525">
            <a:solidFill>
              <a:srgbClr val="D7E2EA"/>
            </a:solidFill>
            <a:prstDash val="solid"/>
          </a:ln>
        </p:spPr>
      </p:sp>
      <p:sp>
        <p:nvSpPr>
          <p:cNvPr id="25" name="">
            <a:extLst xmlns:a="http://schemas.openxmlformats.org/drawingml/2006/main">
              <a:ext uri="{FF2B5EF4-FFF2-40B4-BE49-F238E27FC236}">
                <a16:creationId xmlns:a16="http://schemas.microsoft.com/office/drawing/2014/main" id="{A52DF657-A4DC-42C8-863F-7B7103FEF690}"/>
              </a:ext>
            </a:extLst>
          </p:cNvPr>
          <p:cNvSpPr>
            <a:spLocks xmlns:a="http://schemas.openxmlformats.org/drawingml/2006/main" noGrp="1"/>
          </p:cNvSpPr>
          <p:nvPr/>
        </p:nvSpPr>
        <p:spPr>
          <a:xfrm xmlns:a="http://schemas.openxmlformats.org/drawingml/2006/main">
            <a:off x="7524750" y="23241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F6EA5"/>
                </a:solidFill>
              </a:defRPr>
            </a:pPr>
            <a:r>
              <a:rPr sz="975" b="1">
                <a:solidFill>
                  <a:srgbClr val="1F6EA5"/>
                </a:solidFill>
              </a:rPr>
              <a:t>04</a:t>
            </a:r>
          </a:p>
        </p:txBody>
      </p:sp>
      <p:sp>
        <p:nvSpPr>
          <p:cNvPr id="26" name="">
            <a:extLst xmlns:a="http://schemas.openxmlformats.org/drawingml/2006/main">
              <a:ext uri="{FF2B5EF4-FFF2-40B4-BE49-F238E27FC236}">
                <a16:creationId xmlns:a16="http://schemas.microsoft.com/office/drawing/2014/main" id="{1C61CE94-1778-4C8A-A295-4FC4250B8A6F}"/>
              </a:ext>
            </a:extLst>
          </p:cNvPr>
          <p:cNvSpPr>
            <a:spLocks xmlns:a="http://schemas.openxmlformats.org/drawingml/2006/main" noGrp="1"/>
          </p:cNvSpPr>
          <p:nvPr/>
        </p:nvSpPr>
        <p:spPr>
          <a:xfrm xmlns:a="http://schemas.openxmlformats.org/drawingml/2006/main">
            <a:off x="7524750" y="26193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52536"/>
                </a:solidFill>
              </a:defRPr>
            </a:pPr>
            <a:r>
              <a:rPr sz="1275" b="1">
                <a:solidFill>
                  <a:srgbClr val="152536"/>
                </a:solidFill>
              </a:rPr>
              <a:t>Semgrep 실행</a:t>
            </a:r>
          </a:p>
        </p:txBody>
      </p:sp>
      <p:sp>
        <p:nvSpPr>
          <p:cNvPr id="27" name="">
            <a:extLst xmlns:a="http://schemas.openxmlformats.org/drawingml/2006/main">
              <a:ext uri="{FF2B5EF4-FFF2-40B4-BE49-F238E27FC236}">
                <a16:creationId xmlns:a16="http://schemas.microsoft.com/office/drawing/2014/main" id="{69A92D0D-DA67-4E74-80CB-C26D3B9FDBA7}"/>
              </a:ext>
            </a:extLst>
          </p:cNvPr>
          <p:cNvSpPr>
            <a:spLocks xmlns:a="http://schemas.openxmlformats.org/drawingml/2006/main" noGrp="1"/>
          </p:cNvSpPr>
          <p:nvPr/>
        </p:nvSpPr>
        <p:spPr>
          <a:xfrm xmlns:a="http://schemas.openxmlformats.org/drawingml/2006/main">
            <a:off x="7524750" y="292417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0758A"/>
                </a:solidFill>
              </a:defRPr>
            </a:pPr>
            <a:r>
              <a:rPr sz="900" b="0">
                <a:solidFill>
                  <a:srgbClr val="60758A"/>
                </a:solidFill>
              </a:rPr>
              <a:t>60초·2 jobs·메모리·출력 제한</a:t>
            </a:r>
          </a:p>
        </p:txBody>
      </p:sp>
      <p:sp>
        <p:nvSpPr>
          <p:cNvPr id="28" name="">
            <a:extLst xmlns:a="http://schemas.openxmlformats.org/drawingml/2006/main">
              <a:ext uri="{FF2B5EF4-FFF2-40B4-BE49-F238E27FC236}">
                <a16:creationId xmlns:a16="http://schemas.microsoft.com/office/drawing/2014/main" id="{DD807F0D-B4D9-4E6B-B3AF-1E823D3B5AFB}"/>
              </a:ext>
            </a:extLst>
          </p:cNvPr>
          <p:cNvSpPr>
            <a:spLocks xmlns:a="http://schemas.openxmlformats.org/drawingml/2006/main" noGrp="1"/>
          </p:cNvSpPr>
          <p:nvPr/>
        </p:nvSpPr>
        <p:spPr>
          <a:xfrm xmlns:a="http://schemas.openxmlformats.org/drawingml/2006/main">
            <a:off x="9601200" y="2190750"/>
            <a:ext cx="1695450" cy="1143000"/>
          </a:xfrm>
          <a:prstGeom xmlns:a="http://schemas.openxmlformats.org/drawingml/2006/main" prst="roundRect">
            <a:avLst>
              <a:gd name="adj" fmla="val 10000"/>
            </a:avLst>
          </a:prstGeom>
          <a:solidFill xmlns:a="http://schemas.openxmlformats.org/drawingml/2006/main">
            <a:srgbClr val="F4F8FB"/>
          </a:solidFill>
          <a:ln xmlns:a="http://schemas.openxmlformats.org/drawingml/2006/main" w="9525">
            <a:solidFill>
              <a:srgbClr val="D7E2EA"/>
            </a:solidFill>
            <a:prstDash val="solid"/>
          </a:ln>
        </p:spPr>
      </p:sp>
      <p:sp>
        <p:nvSpPr>
          <p:cNvPr id="29" name="">
            <a:extLst xmlns:a="http://schemas.openxmlformats.org/drawingml/2006/main">
              <a:ext uri="{FF2B5EF4-FFF2-40B4-BE49-F238E27FC236}">
                <a16:creationId xmlns:a16="http://schemas.microsoft.com/office/drawing/2014/main" id="{F0F3863C-E573-4C87-B49F-AC2C4E84711B}"/>
              </a:ext>
            </a:extLst>
          </p:cNvPr>
          <p:cNvSpPr>
            <a:spLocks xmlns:a="http://schemas.openxmlformats.org/drawingml/2006/main" noGrp="1"/>
          </p:cNvSpPr>
          <p:nvPr/>
        </p:nvSpPr>
        <p:spPr>
          <a:xfrm xmlns:a="http://schemas.openxmlformats.org/drawingml/2006/main">
            <a:off x="9753600" y="23241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F6EA5"/>
                </a:solidFill>
              </a:defRPr>
            </a:pPr>
            <a:r>
              <a:rPr sz="975" b="1">
                <a:solidFill>
                  <a:srgbClr val="1F6EA5"/>
                </a:solidFill>
              </a:rPr>
              <a:t>05</a:t>
            </a:r>
          </a:p>
        </p:txBody>
      </p:sp>
      <p:sp>
        <p:nvSpPr>
          <p:cNvPr id="30" name="">
            <a:extLst xmlns:a="http://schemas.openxmlformats.org/drawingml/2006/main">
              <a:ext uri="{FF2B5EF4-FFF2-40B4-BE49-F238E27FC236}">
                <a16:creationId xmlns:a16="http://schemas.microsoft.com/office/drawing/2014/main" id="{DE55BB25-6143-4486-B488-A2450BD8FCD0}"/>
              </a:ext>
            </a:extLst>
          </p:cNvPr>
          <p:cNvSpPr>
            <a:spLocks xmlns:a="http://schemas.openxmlformats.org/drawingml/2006/main" noGrp="1"/>
          </p:cNvSpPr>
          <p:nvPr/>
        </p:nvSpPr>
        <p:spPr>
          <a:xfrm xmlns:a="http://schemas.openxmlformats.org/drawingml/2006/main">
            <a:off x="9753600" y="26193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52536"/>
                </a:solidFill>
              </a:defRPr>
            </a:pPr>
            <a:r>
              <a:rPr sz="1275" b="1">
                <a:solidFill>
                  <a:srgbClr val="152536"/>
                </a:solidFill>
              </a:rPr>
              <a:t>임시 공간 삭제</a:t>
            </a:r>
          </a:p>
        </p:txBody>
      </p:sp>
      <p:sp>
        <p:nvSpPr>
          <p:cNvPr id="31" name="">
            <a:extLst xmlns:a="http://schemas.openxmlformats.org/drawingml/2006/main">
              <a:ext uri="{FF2B5EF4-FFF2-40B4-BE49-F238E27FC236}">
                <a16:creationId xmlns:a16="http://schemas.microsoft.com/office/drawing/2014/main" id="{22F90D15-E5E1-4417-8493-11D0A43D7A09}"/>
              </a:ext>
            </a:extLst>
          </p:cNvPr>
          <p:cNvSpPr>
            <a:spLocks xmlns:a="http://schemas.openxmlformats.org/drawingml/2006/main" noGrp="1"/>
          </p:cNvSpPr>
          <p:nvPr/>
        </p:nvSpPr>
        <p:spPr>
          <a:xfrm xmlns:a="http://schemas.openxmlformats.org/drawingml/2006/main">
            <a:off x="9753600" y="292417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0758A"/>
                </a:solidFill>
              </a:defRPr>
            </a:pPr>
            <a:r>
              <a:rPr sz="900" b="0">
                <a:solidFill>
                  <a:srgbClr val="60758A"/>
                </a:solidFill>
              </a:rPr>
              <a:t>성공·실패와 무관하게 정리</a:t>
            </a:r>
          </a:p>
        </p:txBody>
      </p:sp>
      <p:sp>
        <p:nvSpPr>
          <p:cNvPr id="32" name="">
            <a:extLst xmlns:a="http://schemas.openxmlformats.org/drawingml/2006/main">
              <a:ext uri="{FF2B5EF4-FFF2-40B4-BE49-F238E27FC236}">
                <a16:creationId xmlns:a16="http://schemas.microsoft.com/office/drawing/2014/main" id="{DEC37F06-CBAF-4BF4-B503-E909737FAE05}"/>
              </a:ext>
            </a:extLst>
          </p:cNvPr>
          <p:cNvSpPr>
            <a:spLocks xmlns:a="http://schemas.openxmlformats.org/drawingml/2006/main" noGrp="1"/>
          </p:cNvSpPr>
          <p:nvPr/>
        </p:nvSpPr>
        <p:spPr>
          <a:xfrm xmlns:a="http://schemas.openxmlformats.org/drawingml/2006/main">
            <a:off x="685800" y="3829050"/>
            <a:ext cx="10610850" cy="1619250"/>
          </a:xfrm>
          <a:prstGeom xmlns:a="http://schemas.openxmlformats.org/drawingml/2006/main" prst="roundRect">
            <a:avLst>
              <a:gd name="adj" fmla="val 7059"/>
            </a:avLst>
          </a:prstGeom>
          <a:solidFill xmlns:a="http://schemas.openxmlformats.org/drawingml/2006/main">
            <a:srgbClr val="EAF3F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BF411CE-ACB1-4FA6-AF0B-9F994B767F8E}"/>
              </a:ext>
            </a:extLst>
          </p:cNvPr>
          <p:cNvSpPr>
            <a:spLocks xmlns:a="http://schemas.openxmlformats.org/drawingml/2006/main" noGrp="1"/>
          </p:cNvSpPr>
          <p:nvPr/>
        </p:nvSpPr>
        <p:spPr>
          <a:xfrm xmlns:a="http://schemas.openxmlformats.org/drawingml/2006/main">
            <a:off x="933450" y="40767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F6EA5"/>
                </a:solidFill>
              </a:defRPr>
            </a:pPr>
            <a:r>
              <a:rPr sz="1500" b="1">
                <a:solidFill>
                  <a:srgbClr val="1F6EA5"/>
                </a:solidFill>
              </a:rPr>
              <a:t>원본과 복사본의 차이</a:t>
            </a:r>
          </a:p>
        </p:txBody>
      </p:sp>
      <p:sp>
        <p:nvSpPr>
          <p:cNvPr id="34" name="">
            <a:extLst xmlns:a="http://schemas.openxmlformats.org/drawingml/2006/main">
              <a:ext uri="{FF2B5EF4-FFF2-40B4-BE49-F238E27FC236}">
                <a16:creationId xmlns:a16="http://schemas.microsoft.com/office/drawing/2014/main" id="{9B73753A-EFFB-4069-870A-D87E944725C1}"/>
              </a:ext>
            </a:extLst>
          </p:cNvPr>
          <p:cNvSpPr>
            <a:spLocks xmlns:a="http://schemas.openxmlformats.org/drawingml/2006/main" noGrp="1"/>
          </p:cNvSpPr>
          <p:nvPr/>
        </p:nvSpPr>
        <p:spPr>
          <a:xfrm xmlns:a="http://schemas.openxmlformats.org/drawingml/2006/main">
            <a:off x="933450" y="45339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52536"/>
                </a:solidFill>
              </a:defRPr>
            </a:pPr>
            <a:r>
              <a:rPr sz="1275" b="1">
                <a:solidFill>
                  <a:srgbClr val="152536"/>
                </a:solidFill>
              </a:rPr>
              <a:t>프로젝트 소스</a:t>
            </a:r>
          </a:p>
        </p:txBody>
      </p:sp>
      <p:sp>
        <p:nvSpPr>
          <p:cNvPr id="35" name="">
            <a:extLst xmlns:a="http://schemas.openxmlformats.org/drawingml/2006/main">
              <a:ext uri="{FF2B5EF4-FFF2-40B4-BE49-F238E27FC236}">
                <a16:creationId xmlns:a16="http://schemas.microsoft.com/office/drawing/2014/main" id="{3975784D-D41F-47A7-AE47-103E21C0820A}"/>
              </a:ext>
            </a:extLst>
          </p:cNvPr>
          <p:cNvSpPr>
            <a:spLocks xmlns:a="http://schemas.openxmlformats.org/drawingml/2006/main" noGrp="1"/>
          </p:cNvSpPr>
          <p:nvPr/>
        </p:nvSpPr>
        <p:spPr>
          <a:xfrm xmlns:a="http://schemas.openxmlformats.org/drawingml/2006/main">
            <a:off x="2571750" y="45339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0758A"/>
                </a:solidFill>
              </a:defRPr>
            </a:pPr>
            <a:r>
              <a:rPr sz="1200" b="0">
                <a:solidFill>
                  <a:srgbClr val="60758A"/>
                </a:solidFill>
              </a:rPr>
              <a:t>다음 분석에서도 사용할 검증된 소스이므로 보관</a:t>
            </a:r>
          </a:p>
        </p:txBody>
      </p:sp>
      <p:sp>
        <p:nvSpPr>
          <p:cNvPr id="36" name="">
            <a:extLst xmlns:a="http://schemas.openxmlformats.org/drawingml/2006/main">
              <a:ext uri="{FF2B5EF4-FFF2-40B4-BE49-F238E27FC236}">
                <a16:creationId xmlns:a16="http://schemas.microsoft.com/office/drawing/2014/main" id="{6A263990-EC99-4ED5-8498-6DE77FC3411A}"/>
              </a:ext>
            </a:extLst>
          </p:cNvPr>
          <p:cNvSpPr>
            <a:spLocks xmlns:a="http://schemas.openxmlformats.org/drawingml/2006/main" noGrp="1"/>
          </p:cNvSpPr>
          <p:nvPr/>
        </p:nvSpPr>
        <p:spPr>
          <a:xfrm xmlns:a="http://schemas.openxmlformats.org/drawingml/2006/main">
            <a:off x="933450" y="49530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52536"/>
                </a:solidFill>
              </a:defRPr>
            </a:pPr>
            <a:r>
              <a:rPr sz="1275" b="1">
                <a:solidFill>
                  <a:srgbClr val="152536"/>
                </a:solidFill>
              </a:rPr>
              <a:t>분석 작업공간</a:t>
            </a:r>
          </a:p>
        </p:txBody>
      </p:sp>
      <p:sp>
        <p:nvSpPr>
          <p:cNvPr id="37" name="">
            <a:extLst xmlns:a="http://schemas.openxmlformats.org/drawingml/2006/main">
              <a:ext uri="{FF2B5EF4-FFF2-40B4-BE49-F238E27FC236}">
                <a16:creationId xmlns:a16="http://schemas.microsoft.com/office/drawing/2014/main" id="{5C4F9FB1-490A-4C90-A5A8-B39887ACD6E5}"/>
              </a:ext>
            </a:extLst>
          </p:cNvPr>
          <p:cNvSpPr>
            <a:spLocks xmlns:a="http://schemas.openxmlformats.org/drawingml/2006/main" noGrp="1"/>
          </p:cNvSpPr>
          <p:nvPr/>
        </p:nvSpPr>
        <p:spPr>
          <a:xfrm xmlns:a="http://schemas.openxmlformats.org/drawingml/2006/main">
            <a:off x="2571750" y="49530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0758A"/>
                </a:solidFill>
              </a:defRPr>
            </a:pPr>
            <a:r>
              <a:rPr sz="1200" b="0">
                <a:solidFill>
                  <a:srgbClr val="60758A"/>
                </a:solidFill>
              </a:rPr>
              <a:t>한 번의 분석을 위한 임시 복사본이며 실행 직후 삭제</a:t>
            </a:r>
          </a:p>
        </p:txBody>
      </p:sp>
      <p:sp>
        <p:nvSpPr>
          <p:cNvPr id="38" name="">
            <a:extLst xmlns:a="http://schemas.openxmlformats.org/drawingml/2006/main">
              <a:ext uri="{FF2B5EF4-FFF2-40B4-BE49-F238E27FC236}">
                <a16:creationId xmlns:a16="http://schemas.microsoft.com/office/drawing/2014/main" id="{E24D773B-F9C2-4D4F-AD2A-374C57A71775}"/>
              </a:ext>
            </a:extLst>
          </p:cNvPr>
          <p:cNvSpPr>
            <a:spLocks xmlns:a="http://schemas.openxmlformats.org/drawingml/2006/main" noGrp="1"/>
          </p:cNvSpPr>
          <p:nvPr/>
        </p:nvSpPr>
        <p:spPr>
          <a:xfrm xmlns:a="http://schemas.openxmlformats.org/drawingml/2006/main">
            <a:off x="7048500" y="4533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52536"/>
                </a:solidFill>
              </a:defRPr>
            </a:pPr>
            <a:r>
              <a:rPr sz="1275" b="1">
                <a:solidFill>
                  <a:srgbClr val="152536"/>
                </a:solidFill>
              </a:rPr>
              <a:t>DB 경로도 다시 검증</a:t>
            </a:r>
          </a:p>
        </p:txBody>
      </p:sp>
      <p:sp>
        <p:nvSpPr>
          <p:cNvPr id="39" name="">
            <a:extLst xmlns:a="http://schemas.openxmlformats.org/drawingml/2006/main">
              <a:ext uri="{FF2B5EF4-FFF2-40B4-BE49-F238E27FC236}">
                <a16:creationId xmlns:a16="http://schemas.microsoft.com/office/drawing/2014/main" id="{8D0EB7D8-0199-4811-A972-139D5B866A1A}"/>
              </a:ext>
            </a:extLst>
          </p:cNvPr>
          <p:cNvSpPr>
            <a:spLocks xmlns:a="http://schemas.openxmlformats.org/drawingml/2006/main" noGrp="1"/>
          </p:cNvSpPr>
          <p:nvPr/>
        </p:nvSpPr>
        <p:spPr>
          <a:xfrm xmlns:a="http://schemas.openxmlformats.org/drawingml/2006/main">
            <a:off x="7048500" y="48768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0758A"/>
                </a:solidFill>
              </a:defRPr>
            </a:pPr>
            <a:r>
              <a:rPr sz="1200" b="0">
                <a:solidFill>
                  <a:srgbClr val="60758A"/>
                </a:solidFill>
              </a:rPr>
              <a:t>저장된 값이 프로젝트 경계를 벗어나면 실행하지 않음</a:t>
            </a:r>
          </a:p>
        </p:txBody>
      </p:sp>
    </p:spTree>
    <p:extLst>
      <p:ext uri="{BB962C8B-B14F-4D97-AF65-F5344CB8AC3E}">
        <p14:creationId xmlns:p14="http://schemas.microsoft.com/office/powerpoint/2010/main" val="2899114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A4B3A1E-67CC-4FE3-9625-4C8258C92FF7}"/>
              </a:ext>
            </a:extLst>
          </p:cNvPr>
          <p:cNvSpPr>
            <a:spLocks xmlns:a="http://schemas.openxmlformats.org/drawingml/2006/main" noGrp="1"/>
          </p:cNvSpPr>
          <p:nvPr/>
        </p:nvSpPr>
        <p:spPr>
          <a:xfrm xmlns:a="http://schemas.openxmlformats.org/drawingml/2006/main">
            <a:off x="609600" y="3619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F6EA5"/>
                </a:solidFill>
              </a:defRPr>
            </a:pPr>
            <a:r>
              <a:rPr sz="975" b="1">
                <a:solidFill>
                  <a:srgbClr val="1F6EA5"/>
                </a:solidFill>
              </a:rPr>
              <a:t>분석·결과 정규화</a:t>
            </a:r>
          </a:p>
        </p:txBody>
      </p:sp>
      <p:sp>
        <p:nvSpPr>
          <p:cNvPr id="2" name="">
            <a:extLst xmlns:a="http://schemas.openxmlformats.org/drawingml/2006/main">
              <a:ext uri="{FF2B5EF4-FFF2-40B4-BE49-F238E27FC236}">
                <a16:creationId xmlns:a16="http://schemas.microsoft.com/office/drawing/2014/main" id="{57D5070D-7945-4DD6-A9C6-FA9EE207E8CE}"/>
              </a:ext>
            </a:extLst>
          </p:cNvPr>
          <p:cNvSpPr>
            <a:spLocks xmlns:a="http://schemas.openxmlformats.org/drawingml/2006/main" noGrp="1"/>
          </p:cNvSpPr>
          <p:nvPr/>
        </p:nvSpPr>
        <p:spPr>
          <a:xfrm xmlns:a="http://schemas.openxmlformats.org/drawingml/2006/main">
            <a:off x="609600" y="64770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52536"/>
                </a:solidFill>
              </a:defRPr>
            </a:pPr>
            <a:r>
              <a:rPr sz="2550" b="1">
                <a:solidFill>
                  <a:srgbClr val="152536"/>
                </a:solidFill>
              </a:rPr>
              <a:t>Semgrep 결과를 분석별 이력과 공통 Finding으로 남깁니다</a:t>
            </a:r>
          </a:p>
        </p:txBody>
      </p:sp>
      <p:sp>
        <p:nvSpPr>
          <p:cNvPr id="3" name="">
            <a:extLst xmlns:a="http://schemas.openxmlformats.org/drawingml/2006/main">
              <a:ext uri="{FF2B5EF4-FFF2-40B4-BE49-F238E27FC236}">
                <a16:creationId xmlns:a16="http://schemas.microsoft.com/office/drawing/2014/main" id="{F991ED0B-B256-4902-81E4-BE46486BA93B}"/>
              </a:ext>
            </a:extLst>
          </p:cNvPr>
          <p:cNvSpPr>
            <a:spLocks xmlns:a="http://schemas.openxmlformats.org/drawingml/2006/main" noGrp="1"/>
          </p:cNvSpPr>
          <p:nvPr/>
        </p:nvSpPr>
        <p:spPr>
          <a:xfrm xmlns:a="http://schemas.openxmlformats.org/drawingml/2006/main">
            <a:off x="8534400" y="361950"/>
            <a:ext cx="3048000" cy="266700"/>
          </a:xfrm>
          <a:prstGeom xmlns:a="http://schemas.openxmlformats.org/drawingml/2006/main" prst="roundRect">
            <a:avLst>
              <a:gd name="adj" fmla="val 42857"/>
            </a:avLst>
          </a:prstGeom>
          <a:solidFill xmlns:a="http://schemas.openxmlformats.org/drawingml/2006/main">
            <a:srgbClr val="F4F8F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E02AA5A-6E8D-4E1F-8E31-FBD120346143}"/>
              </a:ext>
            </a:extLst>
          </p:cNvPr>
          <p:cNvSpPr>
            <a:spLocks xmlns:a="http://schemas.openxmlformats.org/drawingml/2006/main" noGrp="1"/>
          </p:cNvSpPr>
          <p:nvPr/>
        </p:nvSpPr>
        <p:spPr>
          <a:xfrm xmlns:a="http://schemas.openxmlformats.org/drawingml/2006/main">
            <a:off x="8534400" y="400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60758A"/>
                </a:solidFill>
              </a:defRPr>
            </a:pPr>
            <a:r>
              <a:rPr sz="825" b="1">
                <a:solidFill>
                  <a:srgbClr val="60758A"/>
                </a:solidFill>
              </a:rPr>
              <a:t>SFR-009·010 · DAR-005·006·008·009 · QLT-003~005</a:t>
            </a:r>
          </a:p>
        </p:txBody>
      </p:sp>
      <p:sp>
        <p:nvSpPr>
          <p:cNvPr id="5" name="">
            <a:extLst xmlns:a="http://schemas.openxmlformats.org/drawingml/2006/main">
              <a:ext uri="{FF2B5EF4-FFF2-40B4-BE49-F238E27FC236}">
                <a16:creationId xmlns:a16="http://schemas.microsoft.com/office/drawing/2014/main" id="{B42DF6B6-EFF1-44CA-A57E-21AA6CF4FE16}"/>
              </a:ext>
            </a:extLst>
          </p:cNvPr>
          <p:cNvSpPr>
            <a:spLocks xmlns:a="http://schemas.openxmlformats.org/drawingml/2006/main" noGrp="1"/>
          </p:cNvSpPr>
          <p:nvPr/>
        </p:nvSpPr>
        <p:spPr>
          <a:xfrm xmlns:a="http://schemas.openxmlformats.org/drawingml/2006/main">
            <a:off x="609600" y="1238250"/>
            <a:ext cx="10972800" cy="0"/>
          </a:xfrm>
          <a:prstGeom xmlns:a="http://schemas.openxmlformats.org/drawingml/2006/main" prst="line">
            <a:avLst/>
          </a:prstGeom>
          <a:noFill xmlns:a="http://schemas.openxmlformats.org/drawingml/2006/main"/>
          <a:ln xmlns:a="http://schemas.openxmlformats.org/drawingml/2006/main" w="9525">
            <a:solidFill>
              <a:srgbClr val="D7E2EA"/>
            </a:solidFill>
            <a:prstDash val="solid"/>
          </a:ln>
        </p:spPr>
      </p:sp>
      <p:sp>
        <p:nvSpPr>
          <p:cNvPr id="6" name="">
            <a:extLst xmlns:a="http://schemas.openxmlformats.org/drawingml/2006/main">
              <a:ext uri="{FF2B5EF4-FFF2-40B4-BE49-F238E27FC236}">
                <a16:creationId xmlns:a16="http://schemas.microsoft.com/office/drawing/2014/main" id="{5EA8FBEC-66C2-4AE4-8141-0C98C77E5946}"/>
              </a:ext>
            </a:extLst>
          </p:cNvPr>
          <p:cNvSpPr>
            <a:spLocks xmlns:a="http://schemas.openxmlformats.org/drawingml/2006/main" noGrp="1"/>
          </p:cNvSpPr>
          <p:nvPr/>
        </p:nvSpPr>
        <p:spPr>
          <a:xfrm xmlns:a="http://schemas.openxmlformats.org/drawingml/2006/main">
            <a:off x="609600" y="65532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0758A"/>
                </a:solidFill>
              </a:defRPr>
            </a:pPr>
            <a:r>
              <a:rPr sz="825" b="0">
                <a:solidFill>
                  <a:srgbClr val="60758A"/>
                </a:solidFill>
              </a:rPr>
              <a:t>SecureScan · 중간발표</a:t>
            </a:r>
          </a:p>
        </p:txBody>
      </p:sp>
      <p:sp>
        <p:nvSpPr>
          <p:cNvPr id="7" name="">
            <a:extLst xmlns:a="http://schemas.openxmlformats.org/drawingml/2006/main">
              <a:ext uri="{FF2B5EF4-FFF2-40B4-BE49-F238E27FC236}">
                <a16:creationId xmlns:a16="http://schemas.microsoft.com/office/drawing/2014/main" id="{EE93AC9B-0D57-4BC3-B117-EE391E2D6D77}"/>
              </a:ext>
            </a:extLst>
          </p:cNvPr>
          <p:cNvSpPr>
            <a:spLocks xmlns:a="http://schemas.openxmlformats.org/drawingml/2006/main" noGrp="1"/>
          </p:cNvSpPr>
          <p:nvPr/>
        </p:nvSpPr>
        <p:spPr>
          <a:xfrm xmlns:a="http://schemas.openxmlformats.org/drawingml/2006/main">
            <a:off x="11220450" y="65532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0758A"/>
                </a:solidFill>
              </a:defRPr>
            </a:pPr>
            <a:r>
              <a:rPr sz="825" b="1">
                <a:solidFill>
                  <a:srgbClr val="60758A"/>
                </a:solidFill>
              </a:rPr>
              <a:t>06</a:t>
            </a:r>
          </a:p>
        </p:txBody>
      </p:sp>
      <p:sp>
        <p:nvSpPr>
          <p:cNvPr id="8" name="">
            <a:extLst xmlns:a="http://schemas.openxmlformats.org/drawingml/2006/main">
              <a:ext uri="{FF2B5EF4-FFF2-40B4-BE49-F238E27FC236}">
                <a16:creationId xmlns:a16="http://schemas.microsoft.com/office/drawing/2014/main" id="{52C89C95-3A78-4353-A276-563F35454283}"/>
              </a:ext>
            </a:extLst>
          </p:cNvPr>
          <p:cNvSpPr>
            <a:spLocks xmlns:a="http://schemas.openxmlformats.org/drawingml/2006/main" noGrp="1"/>
          </p:cNvSpPr>
          <p:nvPr/>
        </p:nvSpPr>
        <p:spPr>
          <a:xfrm xmlns:a="http://schemas.openxmlformats.org/drawingml/2006/main">
            <a:off x="571500" y="1524000"/>
            <a:ext cx="6096000" cy="4248150"/>
          </a:xfrm>
          <a:prstGeom xmlns:a="http://schemas.openxmlformats.org/drawingml/2006/main" prst="roundRect">
            <a:avLst>
              <a:gd name="adj" fmla="val 2691"/>
            </a:avLst>
          </a:prstGeom>
          <a:solidFill xmlns:a="http://schemas.openxmlformats.org/drawingml/2006/main">
            <a:srgbClr val="FFFFFF"/>
          </a:solidFill>
          <a:ln xmlns:a="http://schemas.openxmlformats.org/drawingml/2006/main" w="9525">
            <a:solidFill>
              <a:srgbClr val="D7E2EA"/>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deae5d407bdc4775"/>
          <a:stretch xmlns:a="http://schemas.openxmlformats.org/drawingml/2006/main"/>
        </p:blipFill>
        <p:spPr>
          <a:xfrm xmlns:a="http://schemas.openxmlformats.org/drawingml/2006/main">
            <a:off x="731429" y="1562100"/>
            <a:ext cx="5776142" cy="4171950"/>
          </a:xfrm>
          <a:prstGeom xmlns:a="http://schemas.openxmlformats.org/drawingml/2006/main" prst="roundRect">
            <a:avLst>
              <a:gd name="adj" fmla="val 2740"/>
            </a:avLst>
          </a:prstGeom>
        </p:spPr>
      </p:pic>
      <p:sp>
        <p:nvSpPr>
          <p:cNvPr id="10" name="">
            <a:extLst xmlns:a="http://schemas.openxmlformats.org/drawingml/2006/main">
              <a:ext uri="{FF2B5EF4-FFF2-40B4-BE49-F238E27FC236}">
                <a16:creationId xmlns:a16="http://schemas.microsoft.com/office/drawing/2014/main" id="{9F0727DB-4549-4975-8361-5F37A1670981}"/>
              </a:ext>
            </a:extLst>
          </p:cNvPr>
          <p:cNvSpPr>
            <a:spLocks xmlns:a="http://schemas.openxmlformats.org/drawingml/2006/main" noGrp="1"/>
          </p:cNvSpPr>
          <p:nvPr/>
        </p:nvSpPr>
        <p:spPr>
          <a:xfrm xmlns:a="http://schemas.openxmlformats.org/drawingml/2006/main">
            <a:off x="7048500" y="1562100"/>
            <a:ext cx="4533900" cy="4171950"/>
          </a:xfrm>
          <a:prstGeom xmlns:a="http://schemas.openxmlformats.org/drawingml/2006/main" prst="roundRect">
            <a:avLst>
              <a:gd name="adj" fmla="val 2740"/>
            </a:avLst>
          </a:prstGeom>
          <a:solidFill xmlns:a="http://schemas.openxmlformats.org/drawingml/2006/main">
            <a:srgbClr val="F4F8FB"/>
          </a:solidFill>
          <a:ln xmlns:a="http://schemas.openxmlformats.org/drawingml/2006/main" w="9525">
            <a:solidFill>
              <a:srgbClr val="D7E2EA"/>
            </a:solidFill>
            <a:prstDash val="solid"/>
          </a:ln>
        </p:spPr>
      </p:sp>
      <p:sp>
        <p:nvSpPr>
          <p:cNvPr id="11" name="">
            <a:extLst xmlns:a="http://schemas.openxmlformats.org/drawingml/2006/main">
              <a:ext uri="{FF2B5EF4-FFF2-40B4-BE49-F238E27FC236}">
                <a16:creationId xmlns:a16="http://schemas.microsoft.com/office/drawing/2014/main" id="{C3FC26B7-A3FB-47D3-BA55-AE1251B575BA}"/>
              </a:ext>
            </a:extLst>
          </p:cNvPr>
          <p:cNvSpPr>
            <a:spLocks xmlns:a="http://schemas.openxmlformats.org/drawingml/2006/main" noGrp="1"/>
          </p:cNvSpPr>
          <p:nvPr/>
        </p:nvSpPr>
        <p:spPr>
          <a:xfrm xmlns:a="http://schemas.openxmlformats.org/drawingml/2006/main">
            <a:off x="7353300" y="18669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F6EA5"/>
                </a:solidFill>
              </a:defRPr>
            </a:pPr>
            <a:r>
              <a:rPr sz="1350" b="1">
                <a:solidFill>
                  <a:srgbClr val="1F6EA5"/>
                </a:solidFill>
              </a:rPr>
              <a:t>Semgrep JSON</a:t>
            </a:r>
          </a:p>
        </p:txBody>
      </p:sp>
      <p:sp>
        <p:nvSpPr>
          <p:cNvPr id="12" name="">
            <a:extLst xmlns:a="http://schemas.openxmlformats.org/drawingml/2006/main">
              <a:ext uri="{FF2B5EF4-FFF2-40B4-BE49-F238E27FC236}">
                <a16:creationId xmlns:a16="http://schemas.microsoft.com/office/drawing/2014/main" id="{36ED5D48-B4D1-49DB-BE4D-1C781BD09797}"/>
              </a:ext>
            </a:extLst>
          </p:cNvPr>
          <p:cNvSpPr>
            <a:spLocks xmlns:a="http://schemas.openxmlformats.org/drawingml/2006/main" noGrp="1"/>
          </p:cNvSpPr>
          <p:nvPr/>
        </p:nvSpPr>
        <p:spPr>
          <a:xfrm xmlns:a="http://schemas.openxmlformats.org/drawingml/2006/main">
            <a:off x="7353300" y="222885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0758A"/>
                </a:solidFill>
              </a:defRPr>
            </a:pPr>
            <a:r>
              <a:rPr sz="1125" b="1">
                <a:solidFill>
                  <a:srgbClr val="60758A"/>
                </a:solidFill>
              </a:rPr>
              <a:t>↓  normalizer</a:t>
            </a:r>
          </a:p>
        </p:txBody>
      </p:sp>
      <p:sp>
        <p:nvSpPr>
          <p:cNvPr id="13" name="">
            <a:extLst xmlns:a="http://schemas.openxmlformats.org/drawingml/2006/main">
              <a:ext uri="{FF2B5EF4-FFF2-40B4-BE49-F238E27FC236}">
                <a16:creationId xmlns:a16="http://schemas.microsoft.com/office/drawing/2014/main" id="{F25C0FC1-DBF1-4021-B54B-B5F0E6E60A5A}"/>
              </a:ext>
            </a:extLst>
          </p:cNvPr>
          <p:cNvSpPr>
            <a:spLocks xmlns:a="http://schemas.openxmlformats.org/drawingml/2006/main" noGrp="1"/>
          </p:cNvSpPr>
          <p:nvPr/>
        </p:nvSpPr>
        <p:spPr>
          <a:xfrm xmlns:a="http://schemas.openxmlformats.org/drawingml/2006/main">
            <a:off x="7353300" y="26098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52536"/>
                </a:solidFill>
              </a:defRPr>
            </a:pPr>
            <a:r>
              <a:rPr sz="1800" b="1">
                <a:solidFill>
                  <a:srgbClr val="152536"/>
                </a:solidFill>
              </a:rPr>
              <a:t>공통 Finding</a:t>
            </a:r>
          </a:p>
        </p:txBody>
      </p:sp>
      <p:sp>
        <p:nvSpPr>
          <p:cNvPr id="14" name="">
            <a:extLst xmlns:a="http://schemas.openxmlformats.org/drawingml/2006/main">
              <a:ext uri="{FF2B5EF4-FFF2-40B4-BE49-F238E27FC236}">
                <a16:creationId xmlns:a16="http://schemas.microsoft.com/office/drawing/2014/main" id="{4C0C23D6-D9F9-4C1F-AFAA-6B6D8BA14558}"/>
              </a:ext>
            </a:extLst>
          </p:cNvPr>
          <p:cNvSpPr>
            <a:spLocks xmlns:a="http://schemas.openxmlformats.org/drawingml/2006/main" noGrp="1"/>
          </p:cNvSpPr>
          <p:nvPr/>
        </p:nvSpPr>
        <p:spPr>
          <a:xfrm xmlns:a="http://schemas.openxmlformats.org/drawingml/2006/main">
            <a:off x="7353300" y="3086100"/>
            <a:ext cx="133350" cy="133350"/>
          </a:xfrm>
          <a:prstGeom xmlns:a="http://schemas.openxmlformats.org/drawingml/2006/main" prst="roundRect">
            <a:avLst>
              <a:gd name="adj" fmla="val 50000"/>
            </a:avLst>
          </a:prstGeom>
          <a:solidFill xmlns:a="http://schemas.openxmlformats.org/drawingml/2006/main">
            <a:srgbClr val="1F6EA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532BFEA-8C0E-4907-98B0-E14DE20C8C73}"/>
              </a:ext>
            </a:extLst>
          </p:cNvPr>
          <p:cNvSpPr>
            <a:spLocks xmlns:a="http://schemas.openxmlformats.org/drawingml/2006/main" noGrp="1"/>
          </p:cNvSpPr>
          <p:nvPr/>
        </p:nvSpPr>
        <p:spPr>
          <a:xfrm xmlns:a="http://schemas.openxmlformats.org/drawingml/2006/main">
            <a:off x="7620000" y="3009900"/>
            <a:ext cx="3486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52536"/>
                </a:solidFill>
              </a:defRPr>
            </a:pPr>
            <a:r>
              <a:rPr sz="1200" b="0">
                <a:solidFill>
                  <a:srgbClr val="152536"/>
                </a:solidFill>
              </a:rPr>
              <a:t>상대 파일 경로와 줄·열</a:t>
            </a:r>
          </a:p>
        </p:txBody>
      </p:sp>
      <p:sp>
        <p:nvSpPr>
          <p:cNvPr id="16" name="">
            <a:extLst xmlns:a="http://schemas.openxmlformats.org/drawingml/2006/main">
              <a:ext uri="{FF2B5EF4-FFF2-40B4-BE49-F238E27FC236}">
                <a16:creationId xmlns:a16="http://schemas.microsoft.com/office/drawing/2014/main" id="{18EB8A5F-63A8-4CB9-9C1A-08C13DA7BE53}"/>
              </a:ext>
            </a:extLst>
          </p:cNvPr>
          <p:cNvSpPr>
            <a:spLocks xmlns:a="http://schemas.openxmlformats.org/drawingml/2006/main" noGrp="1"/>
          </p:cNvSpPr>
          <p:nvPr/>
        </p:nvSpPr>
        <p:spPr>
          <a:xfrm xmlns:a="http://schemas.openxmlformats.org/drawingml/2006/main">
            <a:off x="7353300" y="3543300"/>
            <a:ext cx="133350" cy="133350"/>
          </a:xfrm>
          <a:prstGeom xmlns:a="http://schemas.openxmlformats.org/drawingml/2006/main" prst="roundRect">
            <a:avLst>
              <a:gd name="adj" fmla="val 50000"/>
            </a:avLst>
          </a:prstGeom>
          <a:solidFill xmlns:a="http://schemas.openxmlformats.org/drawingml/2006/main">
            <a:srgbClr val="1F6EA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E81D9CE-AAB7-4533-B327-0A91AD1ABF97}"/>
              </a:ext>
            </a:extLst>
          </p:cNvPr>
          <p:cNvSpPr>
            <a:spLocks xmlns:a="http://schemas.openxmlformats.org/drawingml/2006/main" noGrp="1"/>
          </p:cNvSpPr>
          <p:nvPr/>
        </p:nvSpPr>
        <p:spPr>
          <a:xfrm xmlns:a="http://schemas.openxmlformats.org/drawingml/2006/main">
            <a:off x="7620000" y="3467100"/>
            <a:ext cx="3486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52536"/>
                </a:solidFill>
              </a:defRPr>
            </a:pPr>
            <a:r>
              <a:rPr sz="1200" b="0">
                <a:solidFill>
                  <a:srgbClr val="152536"/>
                </a:solidFill>
              </a:rPr>
              <a:t>심각도·신뢰도·메시지</a:t>
            </a:r>
          </a:p>
        </p:txBody>
      </p:sp>
      <p:sp>
        <p:nvSpPr>
          <p:cNvPr id="18" name="">
            <a:extLst xmlns:a="http://schemas.openxmlformats.org/drawingml/2006/main">
              <a:ext uri="{FF2B5EF4-FFF2-40B4-BE49-F238E27FC236}">
                <a16:creationId xmlns:a16="http://schemas.microsoft.com/office/drawing/2014/main" id="{CC418FB2-0BFF-4071-9203-26F9C3A3DDC2}"/>
              </a:ext>
            </a:extLst>
          </p:cNvPr>
          <p:cNvSpPr>
            <a:spLocks xmlns:a="http://schemas.openxmlformats.org/drawingml/2006/main" noGrp="1"/>
          </p:cNvSpPr>
          <p:nvPr/>
        </p:nvSpPr>
        <p:spPr>
          <a:xfrm xmlns:a="http://schemas.openxmlformats.org/drawingml/2006/main">
            <a:off x="7353300" y="4000500"/>
            <a:ext cx="133350" cy="133350"/>
          </a:xfrm>
          <a:prstGeom xmlns:a="http://schemas.openxmlformats.org/drawingml/2006/main" prst="roundRect">
            <a:avLst>
              <a:gd name="adj" fmla="val 50000"/>
            </a:avLst>
          </a:prstGeom>
          <a:solidFill xmlns:a="http://schemas.openxmlformats.org/drawingml/2006/main">
            <a:srgbClr val="1F6EA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6985790-ABD5-4AE2-8F5D-95DBFED0EFDC}"/>
              </a:ext>
            </a:extLst>
          </p:cNvPr>
          <p:cNvSpPr>
            <a:spLocks xmlns:a="http://schemas.openxmlformats.org/drawingml/2006/main" noGrp="1"/>
          </p:cNvSpPr>
          <p:nvPr/>
        </p:nvSpPr>
        <p:spPr>
          <a:xfrm xmlns:a="http://schemas.openxmlformats.org/drawingml/2006/main">
            <a:off x="7620000" y="3924300"/>
            <a:ext cx="3486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52536"/>
                </a:solidFill>
              </a:defRPr>
            </a:pPr>
            <a:r>
              <a:rPr sz="1200" b="0">
                <a:solidFill>
                  <a:srgbClr val="152536"/>
                </a:solidFill>
              </a:rPr>
              <a:t>근거 코드·권고·원본 결과</a:t>
            </a:r>
          </a:p>
        </p:txBody>
      </p:sp>
      <p:sp>
        <p:nvSpPr>
          <p:cNvPr id="20" name="">
            <a:extLst xmlns:a="http://schemas.openxmlformats.org/drawingml/2006/main">
              <a:ext uri="{FF2B5EF4-FFF2-40B4-BE49-F238E27FC236}">
                <a16:creationId xmlns:a16="http://schemas.microsoft.com/office/drawing/2014/main" id="{E62162DA-A6D0-499E-85A7-3CBD7EAF1D75}"/>
              </a:ext>
            </a:extLst>
          </p:cNvPr>
          <p:cNvSpPr>
            <a:spLocks xmlns:a="http://schemas.openxmlformats.org/drawingml/2006/main" noGrp="1"/>
          </p:cNvSpPr>
          <p:nvPr/>
        </p:nvSpPr>
        <p:spPr>
          <a:xfrm xmlns:a="http://schemas.openxmlformats.org/drawingml/2006/main">
            <a:off x="7353300" y="4457700"/>
            <a:ext cx="133350" cy="133350"/>
          </a:xfrm>
          <a:prstGeom xmlns:a="http://schemas.openxmlformats.org/drawingml/2006/main" prst="roundRect">
            <a:avLst>
              <a:gd name="adj" fmla="val 50000"/>
            </a:avLst>
          </a:prstGeom>
          <a:solidFill xmlns:a="http://schemas.openxmlformats.org/drawingml/2006/main">
            <a:srgbClr val="23855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77A2E9F-B40F-48E9-AB3F-308E73619493}"/>
              </a:ext>
            </a:extLst>
          </p:cNvPr>
          <p:cNvSpPr>
            <a:spLocks xmlns:a="http://schemas.openxmlformats.org/drawingml/2006/main" noGrp="1"/>
          </p:cNvSpPr>
          <p:nvPr/>
        </p:nvSpPr>
        <p:spPr>
          <a:xfrm xmlns:a="http://schemas.openxmlformats.org/drawingml/2006/main">
            <a:off x="7620000" y="4381500"/>
            <a:ext cx="3486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52536"/>
                </a:solidFill>
              </a:defRPr>
            </a:pPr>
            <a:r>
              <a:rPr sz="1200" b="1">
                <a:solidFill>
                  <a:srgbClr val="152536"/>
                </a:solidFill>
              </a:rPr>
              <a:t>분석 시점 Rule 메타데이터</a:t>
            </a:r>
          </a:p>
        </p:txBody>
      </p:sp>
      <p:sp>
        <p:nvSpPr>
          <p:cNvPr id="22" name="">
            <a:extLst xmlns:a="http://schemas.openxmlformats.org/drawingml/2006/main">
              <a:ext uri="{FF2B5EF4-FFF2-40B4-BE49-F238E27FC236}">
                <a16:creationId xmlns:a16="http://schemas.microsoft.com/office/drawing/2014/main" id="{A6FC6874-077A-41DE-B1A3-B57F483DE097}"/>
              </a:ext>
            </a:extLst>
          </p:cNvPr>
          <p:cNvSpPr>
            <a:spLocks xmlns:a="http://schemas.openxmlformats.org/drawingml/2006/main" noGrp="1"/>
          </p:cNvSpPr>
          <p:nvPr/>
        </p:nvSpPr>
        <p:spPr>
          <a:xfrm xmlns:a="http://schemas.openxmlformats.org/drawingml/2006/main">
            <a:off x="7353300" y="5010150"/>
            <a:ext cx="3676650" cy="0"/>
          </a:xfrm>
          <a:prstGeom xmlns:a="http://schemas.openxmlformats.org/drawingml/2006/main" prst="line">
            <a:avLst/>
          </a:prstGeom>
          <a:noFill xmlns:a="http://schemas.openxmlformats.org/drawingml/2006/main"/>
          <a:ln xmlns:a="http://schemas.openxmlformats.org/drawingml/2006/main" w="9525">
            <a:solidFill>
              <a:srgbClr val="D7E2EA"/>
            </a:solidFill>
            <a:prstDash val="solid"/>
          </a:ln>
        </p:spPr>
      </p:sp>
      <p:sp>
        <p:nvSpPr>
          <p:cNvPr id="23" name="">
            <a:extLst xmlns:a="http://schemas.openxmlformats.org/drawingml/2006/main">
              <a:ext uri="{FF2B5EF4-FFF2-40B4-BE49-F238E27FC236}">
                <a16:creationId xmlns:a16="http://schemas.microsoft.com/office/drawing/2014/main" id="{E2B25E4D-2752-476C-9F5C-FBE86B138993}"/>
              </a:ext>
            </a:extLst>
          </p:cNvPr>
          <p:cNvSpPr>
            <a:spLocks xmlns:a="http://schemas.openxmlformats.org/drawingml/2006/main" noGrp="1"/>
          </p:cNvSpPr>
          <p:nvPr/>
        </p:nvSpPr>
        <p:spPr>
          <a:xfrm xmlns:a="http://schemas.openxmlformats.org/drawingml/2006/main">
            <a:off x="7353300" y="51816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F6EA5"/>
                </a:solidFill>
              </a:defRPr>
            </a:pPr>
            <a:r>
              <a:rPr sz="1125" b="1">
                <a:solidFill>
                  <a:srgbClr val="1F6EA5"/>
                </a:solidFill>
              </a:rPr>
              <a:t>분석별 재현 정보</a:t>
            </a:r>
          </a:p>
        </p:txBody>
      </p:sp>
      <p:sp>
        <p:nvSpPr>
          <p:cNvPr id="24" name="">
            <a:extLst xmlns:a="http://schemas.openxmlformats.org/drawingml/2006/main">
              <a:ext uri="{FF2B5EF4-FFF2-40B4-BE49-F238E27FC236}">
                <a16:creationId xmlns:a16="http://schemas.microsoft.com/office/drawing/2014/main" id="{B19F47DD-D3C0-470D-BF3B-123A612E4F31}"/>
              </a:ext>
            </a:extLst>
          </p:cNvPr>
          <p:cNvSpPr>
            <a:spLocks xmlns:a="http://schemas.openxmlformats.org/drawingml/2006/main" noGrp="1"/>
          </p:cNvSpPr>
          <p:nvPr/>
        </p:nvSpPr>
        <p:spPr>
          <a:xfrm xmlns:a="http://schemas.openxmlformats.org/drawingml/2006/main">
            <a:off x="8953500" y="515302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60758A"/>
                </a:solidFill>
              </a:defRPr>
            </a:pPr>
            <a:r>
              <a:rPr sz="975" b="0">
                <a:solidFill>
                  <a:srgbClr val="60758A"/>
                </a:solidFill>
              </a:rPr>
              <a:t>소스·규칙 SHA-256 / Semgrep 버전 / 활성 Rule 목록</a:t>
            </a:r>
          </a:p>
        </p:txBody>
      </p:sp>
    </p:spTree>
    <p:extLst>
      <p:ext uri="{BB962C8B-B14F-4D97-AF65-F5344CB8AC3E}">
        <p14:creationId xmlns:p14="http://schemas.microsoft.com/office/powerpoint/2010/main" val="2427015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859F3ED-E7C1-4C31-83F2-61B7E5F3B976}"/>
              </a:ext>
            </a:extLst>
          </p:cNvPr>
          <p:cNvSpPr>
            <a:spLocks xmlns:a="http://schemas.openxmlformats.org/drawingml/2006/main" noGrp="1"/>
          </p:cNvSpPr>
          <p:nvPr/>
        </p:nvSpPr>
        <p:spPr>
          <a:xfrm xmlns:a="http://schemas.openxmlformats.org/drawingml/2006/main">
            <a:off x="609600" y="3619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F6EA5"/>
                </a:solidFill>
              </a:defRPr>
            </a:pPr>
            <a:r>
              <a:rPr sz="975" b="1">
                <a:solidFill>
                  <a:srgbClr val="1F6EA5"/>
                </a:solidFill>
              </a:rPr>
              <a:t>KISA 규칙</a:t>
            </a:r>
          </a:p>
        </p:txBody>
      </p:sp>
      <p:sp>
        <p:nvSpPr>
          <p:cNvPr id="2" name="">
            <a:extLst xmlns:a="http://schemas.openxmlformats.org/drawingml/2006/main">
              <a:ext uri="{FF2B5EF4-FFF2-40B4-BE49-F238E27FC236}">
                <a16:creationId xmlns:a16="http://schemas.microsoft.com/office/drawing/2014/main" id="{9AD5A8B3-B783-4F59-AAAA-265BB6EE2322}"/>
              </a:ext>
            </a:extLst>
          </p:cNvPr>
          <p:cNvSpPr>
            <a:spLocks xmlns:a="http://schemas.openxmlformats.org/drawingml/2006/main" noGrp="1"/>
          </p:cNvSpPr>
          <p:nvPr/>
        </p:nvSpPr>
        <p:spPr>
          <a:xfrm xmlns:a="http://schemas.openxmlformats.org/drawingml/2006/main">
            <a:off x="609600" y="64770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52536"/>
                </a:solidFill>
              </a:defRPr>
            </a:pPr>
            <a:r>
              <a:rPr sz="2550" b="1">
                <a:solidFill>
                  <a:srgbClr val="152536"/>
                </a:solidFill>
              </a:rPr>
              <a:t>49개 카탈로그와 자동 탐지 범위를 분리해 과장 없이 관리합니다</a:t>
            </a:r>
          </a:p>
        </p:txBody>
      </p:sp>
      <p:sp>
        <p:nvSpPr>
          <p:cNvPr id="3" name="">
            <a:extLst xmlns:a="http://schemas.openxmlformats.org/drawingml/2006/main">
              <a:ext uri="{FF2B5EF4-FFF2-40B4-BE49-F238E27FC236}">
                <a16:creationId xmlns:a16="http://schemas.microsoft.com/office/drawing/2014/main" id="{6596930E-B5DC-47A1-A66F-78BC3DD56006}"/>
              </a:ext>
            </a:extLst>
          </p:cNvPr>
          <p:cNvSpPr>
            <a:spLocks xmlns:a="http://schemas.openxmlformats.org/drawingml/2006/main" noGrp="1"/>
          </p:cNvSpPr>
          <p:nvPr/>
        </p:nvSpPr>
        <p:spPr>
          <a:xfrm xmlns:a="http://schemas.openxmlformats.org/drawingml/2006/main">
            <a:off x="8534400" y="361950"/>
            <a:ext cx="3048000" cy="266700"/>
          </a:xfrm>
          <a:prstGeom xmlns:a="http://schemas.openxmlformats.org/drawingml/2006/main" prst="roundRect">
            <a:avLst>
              <a:gd name="adj" fmla="val 42857"/>
            </a:avLst>
          </a:prstGeom>
          <a:solidFill xmlns:a="http://schemas.openxmlformats.org/drawingml/2006/main">
            <a:srgbClr val="F4F8F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AC81EC9-6285-455D-BC7C-2420BF731CC2}"/>
              </a:ext>
            </a:extLst>
          </p:cNvPr>
          <p:cNvSpPr>
            <a:spLocks xmlns:a="http://schemas.openxmlformats.org/drawingml/2006/main" noGrp="1"/>
          </p:cNvSpPr>
          <p:nvPr/>
        </p:nvSpPr>
        <p:spPr>
          <a:xfrm xmlns:a="http://schemas.openxmlformats.org/drawingml/2006/main">
            <a:off x="8534400" y="400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60758A"/>
                </a:solidFill>
              </a:defRPr>
            </a:pPr>
            <a:r>
              <a:rPr sz="825" b="1">
                <a:solidFill>
                  <a:srgbClr val="60758A"/>
                </a:solidFill>
              </a:rPr>
              <a:t>SFR-011~013 · DAR-007 · QLT-002 · TST-005·006</a:t>
            </a:r>
          </a:p>
        </p:txBody>
      </p:sp>
      <p:sp>
        <p:nvSpPr>
          <p:cNvPr id="5" name="">
            <a:extLst xmlns:a="http://schemas.openxmlformats.org/drawingml/2006/main">
              <a:ext uri="{FF2B5EF4-FFF2-40B4-BE49-F238E27FC236}">
                <a16:creationId xmlns:a16="http://schemas.microsoft.com/office/drawing/2014/main" id="{DB78D90B-AE60-4600-B3FB-B66C707C5C75}"/>
              </a:ext>
            </a:extLst>
          </p:cNvPr>
          <p:cNvSpPr>
            <a:spLocks xmlns:a="http://schemas.openxmlformats.org/drawingml/2006/main" noGrp="1"/>
          </p:cNvSpPr>
          <p:nvPr/>
        </p:nvSpPr>
        <p:spPr>
          <a:xfrm xmlns:a="http://schemas.openxmlformats.org/drawingml/2006/main">
            <a:off x="609600" y="1238250"/>
            <a:ext cx="10972800" cy="0"/>
          </a:xfrm>
          <a:prstGeom xmlns:a="http://schemas.openxmlformats.org/drawingml/2006/main" prst="line">
            <a:avLst/>
          </a:prstGeom>
          <a:noFill xmlns:a="http://schemas.openxmlformats.org/drawingml/2006/main"/>
          <a:ln xmlns:a="http://schemas.openxmlformats.org/drawingml/2006/main" w="9525">
            <a:solidFill>
              <a:srgbClr val="D7E2EA"/>
            </a:solidFill>
            <a:prstDash val="solid"/>
          </a:ln>
        </p:spPr>
      </p:sp>
      <p:sp>
        <p:nvSpPr>
          <p:cNvPr id="6" name="">
            <a:extLst xmlns:a="http://schemas.openxmlformats.org/drawingml/2006/main">
              <a:ext uri="{FF2B5EF4-FFF2-40B4-BE49-F238E27FC236}">
                <a16:creationId xmlns:a16="http://schemas.microsoft.com/office/drawing/2014/main" id="{2BCD51E8-0C6F-4A4E-9E74-CC9AD7C0E1D2}"/>
              </a:ext>
            </a:extLst>
          </p:cNvPr>
          <p:cNvSpPr>
            <a:spLocks xmlns:a="http://schemas.openxmlformats.org/drawingml/2006/main" noGrp="1"/>
          </p:cNvSpPr>
          <p:nvPr/>
        </p:nvSpPr>
        <p:spPr>
          <a:xfrm xmlns:a="http://schemas.openxmlformats.org/drawingml/2006/main">
            <a:off x="609600" y="65532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0758A"/>
                </a:solidFill>
              </a:defRPr>
            </a:pPr>
            <a:r>
              <a:rPr sz="825" b="0">
                <a:solidFill>
                  <a:srgbClr val="60758A"/>
                </a:solidFill>
              </a:rPr>
              <a:t>SecureScan · 중간발표</a:t>
            </a:r>
          </a:p>
        </p:txBody>
      </p:sp>
      <p:sp>
        <p:nvSpPr>
          <p:cNvPr id="7" name="">
            <a:extLst xmlns:a="http://schemas.openxmlformats.org/drawingml/2006/main">
              <a:ext uri="{FF2B5EF4-FFF2-40B4-BE49-F238E27FC236}">
                <a16:creationId xmlns:a16="http://schemas.microsoft.com/office/drawing/2014/main" id="{F3CB5099-7E0D-4BA2-ACD8-6A7C9893DAC7}"/>
              </a:ext>
            </a:extLst>
          </p:cNvPr>
          <p:cNvSpPr>
            <a:spLocks xmlns:a="http://schemas.openxmlformats.org/drawingml/2006/main" noGrp="1"/>
          </p:cNvSpPr>
          <p:nvPr/>
        </p:nvSpPr>
        <p:spPr>
          <a:xfrm xmlns:a="http://schemas.openxmlformats.org/drawingml/2006/main">
            <a:off x="11220450" y="65532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0758A"/>
                </a:solidFill>
              </a:defRPr>
            </a:pPr>
            <a:r>
              <a:rPr sz="825" b="1">
                <a:solidFill>
                  <a:srgbClr val="60758A"/>
                </a:solidFill>
              </a:rPr>
              <a:t>07</a:t>
            </a:r>
          </a:p>
        </p:txBody>
      </p:sp>
      <p:sp>
        <p:nvSpPr>
          <p:cNvPr id="8" name="">
            <a:extLst xmlns:a="http://schemas.openxmlformats.org/drawingml/2006/main">
              <a:ext uri="{FF2B5EF4-FFF2-40B4-BE49-F238E27FC236}">
                <a16:creationId xmlns:a16="http://schemas.microsoft.com/office/drawing/2014/main" id="{93CA0D2F-A124-4B40-A44C-527250CFB8C3}"/>
              </a:ext>
            </a:extLst>
          </p:cNvPr>
          <p:cNvSpPr>
            <a:spLocks xmlns:a="http://schemas.openxmlformats.org/drawingml/2006/main" noGrp="1"/>
          </p:cNvSpPr>
          <p:nvPr/>
        </p:nvSpPr>
        <p:spPr>
          <a:xfrm xmlns:a="http://schemas.openxmlformats.org/drawingml/2006/main">
            <a:off x="609600" y="1562100"/>
            <a:ext cx="3848100" cy="4171950"/>
          </a:xfrm>
          <a:prstGeom xmlns:a="http://schemas.openxmlformats.org/drawingml/2006/main" prst="roundRect">
            <a:avLst>
              <a:gd name="adj" fmla="val 2970"/>
            </a:avLst>
          </a:prstGeom>
          <a:solidFill xmlns:a="http://schemas.openxmlformats.org/drawingml/2006/main">
            <a:srgbClr val="0B223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229FAB0-9A78-41BC-963F-03B986C4A769}"/>
              </a:ext>
            </a:extLst>
          </p:cNvPr>
          <p:cNvSpPr>
            <a:spLocks xmlns:a="http://schemas.openxmlformats.org/drawingml/2006/main" noGrp="1"/>
          </p:cNvSpPr>
          <p:nvPr/>
        </p:nvSpPr>
        <p:spPr>
          <a:xfrm xmlns:a="http://schemas.openxmlformats.org/drawingml/2006/main">
            <a:off x="914400" y="1847850"/>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FFFFFF"/>
                </a:solidFill>
              </a:defRPr>
            </a:pPr>
            <a:r>
              <a:rPr sz="3600" b="1">
                <a:solidFill>
                  <a:srgbClr val="FFFFFF"/>
                </a:solidFill>
              </a:rPr>
              <a:t>49</a:t>
            </a:r>
          </a:p>
        </p:txBody>
      </p:sp>
      <p:sp>
        <p:nvSpPr>
          <p:cNvPr id="10" name="">
            <a:extLst xmlns:a="http://schemas.openxmlformats.org/drawingml/2006/main">
              <a:ext uri="{FF2B5EF4-FFF2-40B4-BE49-F238E27FC236}">
                <a16:creationId xmlns:a16="http://schemas.microsoft.com/office/drawing/2014/main" id="{FD9A3ACD-0329-4BC4-B1CD-1A86843D93B8}"/>
              </a:ext>
            </a:extLst>
          </p:cNvPr>
          <p:cNvSpPr>
            <a:spLocks xmlns:a="http://schemas.openxmlformats.org/drawingml/2006/main" noGrp="1"/>
          </p:cNvSpPr>
          <p:nvPr/>
        </p:nvSpPr>
        <p:spPr>
          <a:xfrm xmlns:a="http://schemas.openxmlformats.org/drawingml/2006/main">
            <a:off x="914400" y="24479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KISA 카탈로그</a:t>
            </a:r>
          </a:p>
        </p:txBody>
      </p:sp>
      <p:sp>
        <p:nvSpPr>
          <p:cNvPr id="11" name="">
            <a:extLst xmlns:a="http://schemas.openxmlformats.org/drawingml/2006/main">
              <a:ext uri="{FF2B5EF4-FFF2-40B4-BE49-F238E27FC236}">
                <a16:creationId xmlns:a16="http://schemas.microsoft.com/office/drawing/2014/main" id="{485D431C-E1B7-4066-816A-DB9B86FF1579}"/>
              </a:ext>
            </a:extLst>
          </p:cNvPr>
          <p:cNvSpPr>
            <a:spLocks xmlns:a="http://schemas.openxmlformats.org/drawingml/2006/main" noGrp="1"/>
          </p:cNvSpPr>
          <p:nvPr/>
        </p:nvSpPr>
        <p:spPr>
          <a:xfrm xmlns:a="http://schemas.openxmlformats.org/drawingml/2006/main">
            <a:off x="914400" y="27146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9CC5DF"/>
                </a:solidFill>
              </a:defRPr>
            </a:pPr>
            <a:r>
              <a:rPr sz="975" b="0">
                <a:solidFill>
                  <a:srgbClr val="9CC5DF"/>
                </a:solidFill>
              </a:rPr>
              <a:t>공식 항목 전체 등록</a:t>
            </a:r>
          </a:p>
        </p:txBody>
      </p:sp>
      <p:sp>
        <p:nvSpPr>
          <p:cNvPr id="12" name="">
            <a:extLst xmlns:a="http://schemas.openxmlformats.org/drawingml/2006/main">
              <a:ext uri="{FF2B5EF4-FFF2-40B4-BE49-F238E27FC236}">
                <a16:creationId xmlns:a16="http://schemas.microsoft.com/office/drawing/2014/main" id="{C8A80436-8775-43E0-A349-58CCE2C94157}"/>
              </a:ext>
            </a:extLst>
          </p:cNvPr>
          <p:cNvSpPr>
            <a:spLocks xmlns:a="http://schemas.openxmlformats.org/drawingml/2006/main" noGrp="1"/>
          </p:cNvSpPr>
          <p:nvPr/>
        </p:nvSpPr>
        <p:spPr>
          <a:xfrm xmlns:a="http://schemas.openxmlformats.org/drawingml/2006/main">
            <a:off x="2533650" y="1847850"/>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77C5A2"/>
                </a:solidFill>
              </a:defRPr>
            </a:pPr>
            <a:r>
              <a:rPr sz="3600" b="1">
                <a:solidFill>
                  <a:srgbClr val="77C5A2"/>
                </a:solidFill>
              </a:rPr>
              <a:t>8</a:t>
            </a:r>
          </a:p>
        </p:txBody>
      </p:sp>
      <p:sp>
        <p:nvSpPr>
          <p:cNvPr id="13" name="">
            <a:extLst xmlns:a="http://schemas.openxmlformats.org/drawingml/2006/main">
              <a:ext uri="{FF2B5EF4-FFF2-40B4-BE49-F238E27FC236}">
                <a16:creationId xmlns:a16="http://schemas.microsoft.com/office/drawing/2014/main" id="{670DBFA9-B66A-4B63-B77A-06AF15FCDC26}"/>
              </a:ext>
            </a:extLst>
          </p:cNvPr>
          <p:cNvSpPr>
            <a:spLocks xmlns:a="http://schemas.openxmlformats.org/drawingml/2006/main" noGrp="1"/>
          </p:cNvSpPr>
          <p:nvPr/>
        </p:nvSpPr>
        <p:spPr>
          <a:xfrm xmlns:a="http://schemas.openxmlformats.org/drawingml/2006/main">
            <a:off x="2533650" y="24479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PARTIAL 자동 탐지</a:t>
            </a:r>
          </a:p>
        </p:txBody>
      </p:sp>
      <p:sp>
        <p:nvSpPr>
          <p:cNvPr id="14" name="">
            <a:extLst xmlns:a="http://schemas.openxmlformats.org/drawingml/2006/main">
              <a:ext uri="{FF2B5EF4-FFF2-40B4-BE49-F238E27FC236}">
                <a16:creationId xmlns:a16="http://schemas.microsoft.com/office/drawing/2014/main" id="{5048B122-B66A-43BE-8B53-8246D8D32FAB}"/>
              </a:ext>
            </a:extLst>
          </p:cNvPr>
          <p:cNvSpPr>
            <a:spLocks xmlns:a="http://schemas.openxmlformats.org/drawingml/2006/main" noGrp="1"/>
          </p:cNvSpPr>
          <p:nvPr/>
        </p:nvSpPr>
        <p:spPr>
          <a:xfrm xmlns:a="http://schemas.openxmlformats.org/drawingml/2006/main">
            <a:off x="2533650" y="27146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9CC5DF"/>
                </a:solidFill>
              </a:defRPr>
            </a:pPr>
            <a:r>
              <a:rPr sz="975" b="0">
                <a:solidFill>
                  <a:srgbClr val="9CC5DF"/>
                </a:solidFill>
              </a:rPr>
              <a:t>3개 언어별 규칙 검증</a:t>
            </a:r>
          </a:p>
        </p:txBody>
      </p:sp>
      <p:sp>
        <p:nvSpPr>
          <p:cNvPr id="15" name="">
            <a:extLst xmlns:a="http://schemas.openxmlformats.org/drawingml/2006/main">
              <a:ext uri="{FF2B5EF4-FFF2-40B4-BE49-F238E27FC236}">
                <a16:creationId xmlns:a16="http://schemas.microsoft.com/office/drawing/2014/main" id="{89CB817C-456F-4DF2-B21A-F1C736AA7409}"/>
              </a:ext>
            </a:extLst>
          </p:cNvPr>
          <p:cNvSpPr>
            <a:spLocks xmlns:a="http://schemas.openxmlformats.org/drawingml/2006/main" noGrp="1"/>
          </p:cNvSpPr>
          <p:nvPr/>
        </p:nvSpPr>
        <p:spPr>
          <a:xfrm xmlns:a="http://schemas.openxmlformats.org/drawingml/2006/main">
            <a:off x="914400" y="3352800"/>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F4BC65"/>
                </a:solidFill>
              </a:defRPr>
            </a:pPr>
            <a:r>
              <a:rPr sz="3600" b="1">
                <a:solidFill>
                  <a:srgbClr val="F4BC65"/>
                </a:solidFill>
              </a:rPr>
              <a:t>41</a:t>
            </a:r>
          </a:p>
        </p:txBody>
      </p:sp>
      <p:sp>
        <p:nvSpPr>
          <p:cNvPr id="16" name="">
            <a:extLst xmlns:a="http://schemas.openxmlformats.org/drawingml/2006/main">
              <a:ext uri="{FF2B5EF4-FFF2-40B4-BE49-F238E27FC236}">
                <a16:creationId xmlns:a16="http://schemas.microsoft.com/office/drawing/2014/main" id="{95D271C6-1103-499D-8580-8B9F6B9D6848}"/>
              </a:ext>
            </a:extLst>
          </p:cNvPr>
          <p:cNvSpPr>
            <a:spLocks xmlns:a="http://schemas.openxmlformats.org/drawingml/2006/main" noGrp="1"/>
          </p:cNvSpPr>
          <p:nvPr/>
        </p:nvSpPr>
        <p:spPr>
          <a:xfrm xmlns:a="http://schemas.openxmlformats.org/drawingml/2006/main">
            <a:off x="914400" y="39528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NOT_IMPLEMENTED</a:t>
            </a:r>
          </a:p>
        </p:txBody>
      </p:sp>
      <p:sp>
        <p:nvSpPr>
          <p:cNvPr id="17" name="">
            <a:extLst xmlns:a="http://schemas.openxmlformats.org/drawingml/2006/main">
              <a:ext uri="{FF2B5EF4-FFF2-40B4-BE49-F238E27FC236}">
                <a16:creationId xmlns:a16="http://schemas.microsoft.com/office/drawing/2014/main" id="{3BA9BDCC-8AA8-422B-89A2-8844754E5186}"/>
              </a:ext>
            </a:extLst>
          </p:cNvPr>
          <p:cNvSpPr>
            <a:spLocks xmlns:a="http://schemas.openxmlformats.org/drawingml/2006/main" noGrp="1"/>
          </p:cNvSpPr>
          <p:nvPr/>
        </p:nvSpPr>
        <p:spPr>
          <a:xfrm xmlns:a="http://schemas.openxmlformats.org/drawingml/2006/main">
            <a:off x="914400" y="421957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9CC5DF"/>
                </a:solidFill>
              </a:defRPr>
            </a:pPr>
            <a:r>
              <a:rPr sz="975" b="0">
                <a:solidFill>
                  <a:srgbClr val="9CC5DF"/>
                </a:solidFill>
              </a:rPr>
              <a:t>자동 탐지를 주장하지 않음</a:t>
            </a:r>
          </a:p>
        </p:txBody>
      </p:sp>
      <p:sp>
        <p:nvSpPr>
          <p:cNvPr id="18" name="">
            <a:extLst xmlns:a="http://schemas.openxmlformats.org/drawingml/2006/main">
              <a:ext uri="{FF2B5EF4-FFF2-40B4-BE49-F238E27FC236}">
                <a16:creationId xmlns:a16="http://schemas.microsoft.com/office/drawing/2014/main" id="{AA26A3D0-04B5-4F17-AF4E-A81FB80EA38A}"/>
              </a:ext>
            </a:extLst>
          </p:cNvPr>
          <p:cNvSpPr>
            <a:spLocks xmlns:a="http://schemas.openxmlformats.org/drawingml/2006/main" noGrp="1"/>
          </p:cNvSpPr>
          <p:nvPr/>
        </p:nvSpPr>
        <p:spPr>
          <a:xfrm xmlns:a="http://schemas.openxmlformats.org/drawingml/2006/main">
            <a:off x="2533650" y="34290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9CC5DF"/>
                </a:solidFill>
              </a:defRPr>
            </a:pPr>
            <a:r>
              <a:rPr sz="1125" b="1">
                <a:solidFill>
                  <a:srgbClr val="9CC5DF"/>
                </a:solidFill>
              </a:rPr>
              <a:t>지원 언어</a:t>
            </a:r>
          </a:p>
        </p:txBody>
      </p:sp>
      <p:sp>
        <p:nvSpPr>
          <p:cNvPr id="19" name="">
            <a:extLst xmlns:a="http://schemas.openxmlformats.org/drawingml/2006/main">
              <a:ext uri="{FF2B5EF4-FFF2-40B4-BE49-F238E27FC236}">
                <a16:creationId xmlns:a16="http://schemas.microsoft.com/office/drawing/2014/main" id="{F44BA04F-CA98-4803-8956-DED715B47EFD}"/>
              </a:ext>
            </a:extLst>
          </p:cNvPr>
          <p:cNvSpPr>
            <a:spLocks xmlns:a="http://schemas.openxmlformats.org/drawingml/2006/main" noGrp="1"/>
          </p:cNvSpPr>
          <p:nvPr/>
        </p:nvSpPr>
        <p:spPr>
          <a:xfrm xmlns:a="http://schemas.openxmlformats.org/drawingml/2006/main">
            <a:off x="2533650" y="3752850"/>
            <a:ext cx="114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Java</a:t>
            </a:r>
          </a:p>
          <a:p xmlns:a="http://schemas.openxmlformats.org/drawingml/2006/main">
            <a:pPr algn="l">
              <a:defRPr sz="1425" b="1">
                <a:solidFill>
                  <a:srgbClr val="FFFFFF"/>
                </a:solidFill>
              </a:defRPr>
            </a:pPr>
            <a:r>
              <a:rPr sz="1425" b="1">
                <a:solidFill>
                  <a:srgbClr val="FFFFFF"/>
                </a:solidFill>
              </a:rPr>
              <a:t>JavaScript</a:t>
            </a:r>
          </a:p>
          <a:p xmlns:a="http://schemas.openxmlformats.org/drawingml/2006/main">
            <a:pPr algn="l">
              <a:defRPr sz="1425" b="1">
                <a:solidFill>
                  <a:srgbClr val="FFFFFF"/>
                </a:solidFill>
              </a:defRPr>
            </a:pPr>
            <a:r>
              <a:rPr sz="1425" b="1">
                <a:solidFill>
                  <a:srgbClr val="FFFFFF"/>
                </a:solidFill>
              </a:rPr>
              <a:t>Python</a:t>
            </a:r>
          </a:p>
        </p:txBody>
      </p:sp>
      <p:sp>
        <p:nvSpPr>
          <p:cNvPr id="20" name="">
            <a:extLst xmlns:a="http://schemas.openxmlformats.org/drawingml/2006/main">
              <a:ext uri="{FF2B5EF4-FFF2-40B4-BE49-F238E27FC236}">
                <a16:creationId xmlns:a16="http://schemas.microsoft.com/office/drawing/2014/main" id="{F2493957-1C4E-45C8-AD65-AB8A960528D0}"/>
              </a:ext>
            </a:extLst>
          </p:cNvPr>
          <p:cNvSpPr>
            <a:spLocks xmlns:a="http://schemas.openxmlformats.org/drawingml/2006/main" noGrp="1"/>
          </p:cNvSpPr>
          <p:nvPr/>
        </p:nvSpPr>
        <p:spPr>
          <a:xfrm xmlns:a="http://schemas.openxmlformats.org/drawingml/2006/main">
            <a:off x="914400" y="4914900"/>
            <a:ext cx="2857500" cy="0"/>
          </a:xfrm>
          <a:prstGeom xmlns:a="http://schemas.openxmlformats.org/drawingml/2006/main" prst="line">
            <a:avLst/>
          </a:prstGeom>
          <a:noFill xmlns:a="http://schemas.openxmlformats.org/drawingml/2006/main"/>
          <a:ln xmlns:a="http://schemas.openxmlformats.org/drawingml/2006/main" w="9525">
            <a:solidFill>
              <a:srgbClr val="31516A"/>
            </a:solidFill>
            <a:prstDash val="solid"/>
          </a:ln>
        </p:spPr>
      </p:sp>
      <p:sp>
        <p:nvSpPr>
          <p:cNvPr id="21" name="">
            <a:extLst xmlns:a="http://schemas.openxmlformats.org/drawingml/2006/main">
              <a:ext uri="{FF2B5EF4-FFF2-40B4-BE49-F238E27FC236}">
                <a16:creationId xmlns:a16="http://schemas.microsoft.com/office/drawing/2014/main" id="{9D29D984-1747-4BB4-B4B5-6692FE84B3C0}"/>
              </a:ext>
            </a:extLst>
          </p:cNvPr>
          <p:cNvSpPr>
            <a:spLocks xmlns:a="http://schemas.openxmlformats.org/drawingml/2006/main" noGrp="1"/>
          </p:cNvSpPr>
          <p:nvPr/>
        </p:nvSpPr>
        <p:spPr>
          <a:xfrm xmlns:a="http://schemas.openxmlformats.org/drawingml/2006/main">
            <a:off x="914400" y="51054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C7D8E5"/>
                </a:solidFill>
              </a:defRPr>
            </a:pPr>
            <a:r>
              <a:rPr sz="1050" b="0">
                <a:solidFill>
                  <a:srgbClr val="C7D8E5"/>
                </a:solidFill>
              </a:rPr>
              <a:t>YAML은 개발자가 작성하고,</a:t>
            </a:r>
          </a:p>
          <a:p xmlns:a="http://schemas.openxmlformats.org/drawingml/2006/main">
            <a:pPr algn="l">
              <a:defRPr sz="1050" b="0">
                <a:solidFill>
                  <a:srgbClr val="C7D8E5"/>
                </a:solidFill>
              </a:defRPr>
            </a:pPr>
            <a:r>
              <a:rPr sz="1050" b="0">
                <a:solidFill>
                  <a:srgbClr val="C7D8E5"/>
                </a:solidFill>
              </a:rPr>
              <a:t>관리자는 KISA 항목·언어·Rule ID 연결만 DB에 등록합니다.</a:t>
            </a:r>
          </a:p>
        </p:txBody>
      </p:sp>
      <p:sp>
        <p:nvSpPr>
          <p:cNvPr id="22" name="">
            <a:extLst xmlns:a="http://schemas.openxmlformats.org/drawingml/2006/main">
              <a:ext uri="{FF2B5EF4-FFF2-40B4-BE49-F238E27FC236}">
                <a16:creationId xmlns:a16="http://schemas.microsoft.com/office/drawing/2014/main" id="{5FBFCC25-136D-43AA-9281-AA31B011B084}"/>
              </a:ext>
            </a:extLst>
          </p:cNvPr>
          <p:cNvSpPr>
            <a:spLocks xmlns:a="http://schemas.openxmlformats.org/drawingml/2006/main" noGrp="1"/>
          </p:cNvSpPr>
          <p:nvPr/>
        </p:nvSpPr>
        <p:spPr>
          <a:xfrm xmlns:a="http://schemas.openxmlformats.org/drawingml/2006/main">
            <a:off x="4819650" y="1524000"/>
            <a:ext cx="6800850" cy="4248150"/>
          </a:xfrm>
          <a:prstGeom xmlns:a="http://schemas.openxmlformats.org/drawingml/2006/main" prst="roundRect">
            <a:avLst>
              <a:gd name="adj" fmla="val 2691"/>
            </a:avLst>
          </a:prstGeom>
          <a:solidFill xmlns:a="http://schemas.openxmlformats.org/drawingml/2006/main">
            <a:srgbClr val="FFFFFF"/>
          </a:solidFill>
          <a:ln xmlns:a="http://schemas.openxmlformats.org/drawingml/2006/main" w="9525">
            <a:solidFill>
              <a:srgbClr val="D7E2EA"/>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95ad20f3d0e24dbd"/>
          <a:stretch xmlns:a="http://schemas.openxmlformats.org/drawingml/2006/main"/>
        </p:blipFill>
        <p:spPr>
          <a:xfrm xmlns:a="http://schemas.openxmlformats.org/drawingml/2006/main">
            <a:off x="5490066" y="1562100"/>
            <a:ext cx="5460018" cy="4171950"/>
          </a:xfrm>
          <a:prstGeom xmlns:a="http://schemas.openxmlformats.org/drawingml/2006/main" prst="roundRect">
            <a:avLst>
              <a:gd name="adj" fmla="val 2740"/>
            </a:avLst>
          </a:prstGeom>
        </p:spPr>
      </p:pic>
    </p:spTree>
    <p:extLst>
      <p:ext uri="{BB962C8B-B14F-4D97-AF65-F5344CB8AC3E}">
        <p14:creationId xmlns:p14="http://schemas.microsoft.com/office/powerpoint/2010/main" val="8500788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21BD6481-9B53-4DB8-84D4-06F466DF633F}"/>
              </a:ext>
            </a:extLst>
          </p:cNvPr>
          <p:cNvSpPr>
            <a:spLocks xmlns:a="http://schemas.openxmlformats.org/drawingml/2006/main" noGrp="1"/>
          </p:cNvSpPr>
          <p:nvPr/>
        </p:nvSpPr>
        <p:spPr>
          <a:xfrm xmlns:a="http://schemas.openxmlformats.org/drawingml/2006/main">
            <a:off x="609600" y="3619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F6EA5"/>
                </a:solidFill>
              </a:defRPr>
            </a:pPr>
            <a:r>
              <a:rPr sz="975" b="1">
                <a:solidFill>
                  <a:srgbClr val="1F6EA5"/>
                </a:solidFill>
              </a:rPr>
              <a:t>검증·남은 일정</a:t>
            </a:r>
          </a:p>
        </p:txBody>
      </p:sp>
      <p:sp>
        <p:nvSpPr>
          <p:cNvPr id="2" name="">
            <a:extLst xmlns:a="http://schemas.openxmlformats.org/drawingml/2006/main">
              <a:ext uri="{FF2B5EF4-FFF2-40B4-BE49-F238E27FC236}">
                <a16:creationId xmlns:a16="http://schemas.microsoft.com/office/drawing/2014/main" id="{FD6C9F30-8F65-429B-BFB4-D1BDE28BCA97}"/>
              </a:ext>
            </a:extLst>
          </p:cNvPr>
          <p:cNvSpPr>
            <a:spLocks xmlns:a="http://schemas.openxmlformats.org/drawingml/2006/main" noGrp="1"/>
          </p:cNvSpPr>
          <p:nvPr/>
        </p:nvSpPr>
        <p:spPr>
          <a:xfrm xmlns:a="http://schemas.openxmlformats.org/drawingml/2006/main">
            <a:off x="609600" y="64770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52536"/>
                </a:solidFill>
              </a:defRPr>
            </a:pPr>
            <a:r>
              <a:rPr sz="2550" b="1">
                <a:solidFill>
                  <a:srgbClr val="152536"/>
                </a:solidFill>
              </a:rPr>
              <a:t>중간점검은 통과했고, 최종발표까지는 안정화와 범위 합의가 남았습니다</a:t>
            </a:r>
          </a:p>
        </p:txBody>
      </p:sp>
      <p:sp>
        <p:nvSpPr>
          <p:cNvPr id="3" name="">
            <a:extLst xmlns:a="http://schemas.openxmlformats.org/drawingml/2006/main">
              <a:ext uri="{FF2B5EF4-FFF2-40B4-BE49-F238E27FC236}">
                <a16:creationId xmlns:a16="http://schemas.microsoft.com/office/drawing/2014/main" id="{A4C9109F-03F0-405F-BB9B-DE66E8AF5FD5}"/>
              </a:ext>
            </a:extLst>
          </p:cNvPr>
          <p:cNvSpPr>
            <a:spLocks xmlns:a="http://schemas.openxmlformats.org/drawingml/2006/main" noGrp="1"/>
          </p:cNvSpPr>
          <p:nvPr/>
        </p:nvSpPr>
        <p:spPr>
          <a:xfrm xmlns:a="http://schemas.openxmlformats.org/drawingml/2006/main">
            <a:off x="8534400" y="361950"/>
            <a:ext cx="3048000" cy="266700"/>
          </a:xfrm>
          <a:prstGeom xmlns:a="http://schemas.openxmlformats.org/drawingml/2006/main" prst="roundRect">
            <a:avLst>
              <a:gd name="adj" fmla="val 42857"/>
            </a:avLst>
          </a:prstGeom>
          <a:solidFill xmlns:a="http://schemas.openxmlformats.org/drawingml/2006/main">
            <a:srgbClr val="F4F8F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ABEAC61-CF2B-410C-B774-43967FF6324D}"/>
              </a:ext>
            </a:extLst>
          </p:cNvPr>
          <p:cNvSpPr>
            <a:spLocks xmlns:a="http://schemas.openxmlformats.org/drawingml/2006/main" noGrp="1"/>
          </p:cNvSpPr>
          <p:nvPr/>
        </p:nvSpPr>
        <p:spPr>
          <a:xfrm xmlns:a="http://schemas.openxmlformats.org/drawingml/2006/main">
            <a:off x="8534400" y="400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60758A"/>
                </a:solidFill>
              </a:defRPr>
            </a:pPr>
            <a:r>
              <a:rPr sz="825" b="1">
                <a:solidFill>
                  <a:srgbClr val="60758A"/>
                </a:solidFill>
              </a:rPr>
              <a:t>48 tests passed · 2026.08.30</a:t>
            </a:r>
          </a:p>
        </p:txBody>
      </p:sp>
      <p:sp>
        <p:nvSpPr>
          <p:cNvPr id="5" name="">
            <a:extLst xmlns:a="http://schemas.openxmlformats.org/drawingml/2006/main">
              <a:ext uri="{FF2B5EF4-FFF2-40B4-BE49-F238E27FC236}">
                <a16:creationId xmlns:a16="http://schemas.microsoft.com/office/drawing/2014/main" id="{62CD97A5-CBFE-44B5-BC0E-E9C42FFC7EB0}"/>
              </a:ext>
            </a:extLst>
          </p:cNvPr>
          <p:cNvSpPr>
            <a:spLocks xmlns:a="http://schemas.openxmlformats.org/drawingml/2006/main" noGrp="1"/>
          </p:cNvSpPr>
          <p:nvPr/>
        </p:nvSpPr>
        <p:spPr>
          <a:xfrm xmlns:a="http://schemas.openxmlformats.org/drawingml/2006/main">
            <a:off x="609600" y="1238250"/>
            <a:ext cx="10972800" cy="0"/>
          </a:xfrm>
          <a:prstGeom xmlns:a="http://schemas.openxmlformats.org/drawingml/2006/main" prst="line">
            <a:avLst/>
          </a:prstGeom>
          <a:noFill xmlns:a="http://schemas.openxmlformats.org/drawingml/2006/main"/>
          <a:ln xmlns:a="http://schemas.openxmlformats.org/drawingml/2006/main" w="9525">
            <a:solidFill>
              <a:srgbClr val="D7E2EA"/>
            </a:solidFill>
            <a:prstDash val="solid"/>
          </a:ln>
        </p:spPr>
      </p:sp>
      <p:sp>
        <p:nvSpPr>
          <p:cNvPr id="6" name="">
            <a:extLst xmlns:a="http://schemas.openxmlformats.org/drawingml/2006/main">
              <a:ext uri="{FF2B5EF4-FFF2-40B4-BE49-F238E27FC236}">
                <a16:creationId xmlns:a16="http://schemas.microsoft.com/office/drawing/2014/main" id="{F885DF9E-5E17-4D5F-A64D-EC4A44EAD4DA}"/>
              </a:ext>
            </a:extLst>
          </p:cNvPr>
          <p:cNvSpPr>
            <a:spLocks xmlns:a="http://schemas.openxmlformats.org/drawingml/2006/main" noGrp="1"/>
          </p:cNvSpPr>
          <p:nvPr/>
        </p:nvSpPr>
        <p:spPr>
          <a:xfrm xmlns:a="http://schemas.openxmlformats.org/drawingml/2006/main">
            <a:off x="609600" y="65532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0758A"/>
                </a:solidFill>
              </a:defRPr>
            </a:pPr>
            <a:r>
              <a:rPr sz="825" b="0">
                <a:solidFill>
                  <a:srgbClr val="60758A"/>
                </a:solidFill>
              </a:rPr>
              <a:t>SecureScan · 중간발표</a:t>
            </a:r>
          </a:p>
        </p:txBody>
      </p:sp>
      <p:sp>
        <p:nvSpPr>
          <p:cNvPr id="7" name="">
            <a:extLst xmlns:a="http://schemas.openxmlformats.org/drawingml/2006/main">
              <a:ext uri="{FF2B5EF4-FFF2-40B4-BE49-F238E27FC236}">
                <a16:creationId xmlns:a16="http://schemas.microsoft.com/office/drawing/2014/main" id="{A8B92835-691F-4978-BF53-1C54256C241E}"/>
              </a:ext>
            </a:extLst>
          </p:cNvPr>
          <p:cNvSpPr>
            <a:spLocks xmlns:a="http://schemas.openxmlformats.org/drawingml/2006/main" noGrp="1"/>
          </p:cNvSpPr>
          <p:nvPr/>
        </p:nvSpPr>
        <p:spPr>
          <a:xfrm xmlns:a="http://schemas.openxmlformats.org/drawingml/2006/main">
            <a:off x="11220450" y="65532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0758A"/>
                </a:solidFill>
              </a:defRPr>
            </a:pPr>
            <a:r>
              <a:rPr sz="825" b="1">
                <a:solidFill>
                  <a:srgbClr val="60758A"/>
                </a:solidFill>
              </a:rPr>
              <a:t>08</a:t>
            </a:r>
          </a:p>
        </p:txBody>
      </p:sp>
      <p:sp>
        <p:nvSpPr>
          <p:cNvPr id="8" name="">
            <a:extLst xmlns:a="http://schemas.openxmlformats.org/drawingml/2006/main">
              <a:ext uri="{FF2B5EF4-FFF2-40B4-BE49-F238E27FC236}">
                <a16:creationId xmlns:a16="http://schemas.microsoft.com/office/drawing/2014/main" id="{D7831413-1ACE-4B93-BD56-1FE61AD58662}"/>
              </a:ext>
            </a:extLst>
          </p:cNvPr>
          <p:cNvSpPr>
            <a:spLocks xmlns:a="http://schemas.openxmlformats.org/drawingml/2006/main" noGrp="1"/>
          </p:cNvSpPr>
          <p:nvPr/>
        </p:nvSpPr>
        <p:spPr>
          <a:xfrm xmlns:a="http://schemas.openxmlformats.org/drawingml/2006/main">
            <a:off x="609600" y="1543050"/>
            <a:ext cx="3219450" cy="2362200"/>
          </a:xfrm>
          <a:prstGeom xmlns:a="http://schemas.openxmlformats.org/drawingml/2006/main" prst="roundRect">
            <a:avLst>
              <a:gd name="adj" fmla="val 4839"/>
            </a:avLst>
          </a:prstGeom>
          <a:solidFill xmlns:a="http://schemas.openxmlformats.org/drawingml/2006/main">
            <a:srgbClr val="0B223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CB1B4CB-5B21-4319-B569-E11E2D3BCE7B}"/>
              </a:ext>
            </a:extLst>
          </p:cNvPr>
          <p:cNvSpPr>
            <a:spLocks xmlns:a="http://schemas.openxmlformats.org/drawingml/2006/main" noGrp="1"/>
          </p:cNvSpPr>
          <p:nvPr/>
        </p:nvSpPr>
        <p:spPr>
          <a:xfrm xmlns:a="http://schemas.openxmlformats.org/drawingml/2006/main">
            <a:off x="895350" y="1790700"/>
            <a:ext cx="1524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200" b="1">
                <a:solidFill>
                  <a:srgbClr val="FFFFFF"/>
                </a:solidFill>
              </a:defRPr>
            </a:pPr>
            <a:r>
              <a:rPr sz="4200" b="1">
                <a:solidFill>
                  <a:srgbClr val="FFFFFF"/>
                </a:solidFill>
              </a:rPr>
              <a:t>48</a:t>
            </a:r>
          </a:p>
        </p:txBody>
      </p:sp>
      <p:sp>
        <p:nvSpPr>
          <p:cNvPr id="10" name="">
            <a:extLst xmlns:a="http://schemas.openxmlformats.org/drawingml/2006/main">
              <a:ext uri="{FF2B5EF4-FFF2-40B4-BE49-F238E27FC236}">
                <a16:creationId xmlns:a16="http://schemas.microsoft.com/office/drawing/2014/main" id="{6DFD0C21-C025-431B-8239-5BB310BEA06D}"/>
              </a:ext>
            </a:extLst>
          </p:cNvPr>
          <p:cNvSpPr>
            <a:spLocks xmlns:a="http://schemas.openxmlformats.org/drawingml/2006/main" noGrp="1"/>
          </p:cNvSpPr>
          <p:nvPr/>
        </p:nvSpPr>
        <p:spPr>
          <a:xfrm xmlns:a="http://schemas.openxmlformats.org/drawingml/2006/main">
            <a:off x="895350" y="24955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9CC5DF"/>
                </a:solidFill>
              </a:defRPr>
            </a:pPr>
            <a:r>
              <a:rPr sz="1500" b="1">
                <a:solidFill>
                  <a:srgbClr val="9CC5DF"/>
                </a:solidFill>
              </a:rPr>
              <a:t>자동 테스트 통과</a:t>
            </a:r>
          </a:p>
        </p:txBody>
      </p:sp>
      <p:sp>
        <p:nvSpPr>
          <p:cNvPr id="11" name="">
            <a:extLst xmlns:a="http://schemas.openxmlformats.org/drawingml/2006/main">
              <a:ext uri="{FF2B5EF4-FFF2-40B4-BE49-F238E27FC236}">
                <a16:creationId xmlns:a16="http://schemas.microsoft.com/office/drawing/2014/main" id="{968D1D10-9285-49B5-BFF5-DE129F0BE7BA}"/>
              </a:ext>
            </a:extLst>
          </p:cNvPr>
          <p:cNvSpPr>
            <a:spLocks xmlns:a="http://schemas.openxmlformats.org/drawingml/2006/main" noGrp="1"/>
          </p:cNvSpPr>
          <p:nvPr/>
        </p:nvSpPr>
        <p:spPr>
          <a:xfrm xmlns:a="http://schemas.openxmlformats.org/drawingml/2006/main">
            <a:off x="895350" y="3009900"/>
            <a:ext cx="2514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C7D8E5"/>
                </a:solidFill>
              </a:defRPr>
            </a:pPr>
            <a:r>
              <a:rPr sz="1125" b="0">
                <a:solidFill>
                  <a:srgbClr val="C7D8E5"/>
                </a:solidFill>
              </a:rPr>
              <a:t>인증·권한·ZIP 방어·실제 Semgrep·</a:t>
            </a:r>
          </a:p>
          <a:p xmlns:a="http://schemas.openxmlformats.org/drawingml/2006/main">
            <a:pPr algn="l">
              <a:defRPr sz="1125" b="0">
                <a:solidFill>
                  <a:srgbClr val="C7D8E5"/>
                </a:solidFill>
              </a:defRPr>
            </a:pPr>
            <a:r>
              <a:rPr sz="1125" b="0">
                <a:solidFill>
                  <a:srgbClr val="C7D8E5"/>
                </a:solidFill>
              </a:rPr>
              <a:t>Finding·규칙·DB 무결성·품질 구조</a:t>
            </a:r>
          </a:p>
        </p:txBody>
      </p:sp>
      <p:sp>
        <p:nvSpPr>
          <p:cNvPr id="12" name="">
            <a:extLst xmlns:a="http://schemas.openxmlformats.org/drawingml/2006/main">
              <a:ext uri="{FF2B5EF4-FFF2-40B4-BE49-F238E27FC236}">
                <a16:creationId xmlns:a16="http://schemas.microsoft.com/office/drawing/2014/main" id="{C341B381-408A-4632-8560-4235FDBE9987}"/>
              </a:ext>
            </a:extLst>
          </p:cNvPr>
          <p:cNvSpPr>
            <a:spLocks xmlns:a="http://schemas.openxmlformats.org/drawingml/2006/main" noGrp="1"/>
          </p:cNvSpPr>
          <p:nvPr/>
        </p:nvSpPr>
        <p:spPr>
          <a:xfrm xmlns:a="http://schemas.openxmlformats.org/drawingml/2006/main">
            <a:off x="4210050" y="1600200"/>
            <a:ext cx="1257300" cy="266700"/>
          </a:xfrm>
          <a:prstGeom xmlns:a="http://schemas.openxmlformats.org/drawingml/2006/main" prst="roundRect">
            <a:avLst>
              <a:gd name="adj" fmla="val 42857"/>
            </a:avLst>
          </a:prstGeom>
          <a:solidFill xmlns:a="http://schemas.openxmlformats.org/drawingml/2006/main">
            <a:srgbClr val="EAF3F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0ECA787-7527-4FA3-8104-788E9B7AF4A7}"/>
              </a:ext>
            </a:extLst>
          </p:cNvPr>
          <p:cNvSpPr>
            <a:spLocks xmlns:a="http://schemas.openxmlformats.org/drawingml/2006/main" noGrp="1"/>
          </p:cNvSpPr>
          <p:nvPr/>
        </p:nvSpPr>
        <p:spPr>
          <a:xfrm xmlns:a="http://schemas.openxmlformats.org/drawingml/2006/main">
            <a:off x="4210050" y="163830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1F6EA5"/>
                </a:solidFill>
              </a:defRPr>
            </a:pPr>
            <a:r>
              <a:rPr sz="975" b="1">
                <a:solidFill>
                  <a:srgbClr val="1F6EA5"/>
                </a:solidFill>
              </a:rPr>
              <a:t>D-14 ~ D-10</a:t>
            </a:r>
          </a:p>
        </p:txBody>
      </p:sp>
      <p:sp>
        <p:nvSpPr>
          <p:cNvPr id="14" name="">
            <a:extLst xmlns:a="http://schemas.openxmlformats.org/drawingml/2006/main">
              <a:ext uri="{FF2B5EF4-FFF2-40B4-BE49-F238E27FC236}">
                <a16:creationId xmlns:a16="http://schemas.microsoft.com/office/drawing/2014/main" id="{0215511E-6E65-42EA-B19E-8232113B7F32}"/>
              </a:ext>
            </a:extLst>
          </p:cNvPr>
          <p:cNvSpPr>
            <a:spLocks xmlns:a="http://schemas.openxmlformats.org/drawingml/2006/main" noGrp="1"/>
          </p:cNvSpPr>
          <p:nvPr/>
        </p:nvSpPr>
        <p:spPr>
          <a:xfrm xmlns:a="http://schemas.openxmlformats.org/drawingml/2006/main">
            <a:off x="5676900" y="159067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52536"/>
                </a:solidFill>
              </a:defRPr>
            </a:pPr>
            <a:r>
              <a:rPr sz="1350" b="1">
                <a:solidFill>
                  <a:srgbClr val="152536"/>
                </a:solidFill>
              </a:rPr>
              <a:t>1차 안정화</a:t>
            </a:r>
          </a:p>
        </p:txBody>
      </p:sp>
      <p:sp>
        <p:nvSpPr>
          <p:cNvPr id="15" name="">
            <a:extLst xmlns:a="http://schemas.openxmlformats.org/drawingml/2006/main">
              <a:ext uri="{FF2B5EF4-FFF2-40B4-BE49-F238E27FC236}">
                <a16:creationId xmlns:a16="http://schemas.microsoft.com/office/drawing/2014/main" id="{7E0AB120-92FB-4F6E-A362-290A5DC1CCF6}"/>
              </a:ext>
            </a:extLst>
          </p:cNvPr>
          <p:cNvSpPr>
            <a:spLocks xmlns:a="http://schemas.openxmlformats.org/drawingml/2006/main" noGrp="1"/>
          </p:cNvSpPr>
          <p:nvPr/>
        </p:nvSpPr>
        <p:spPr>
          <a:xfrm xmlns:a="http://schemas.openxmlformats.org/drawingml/2006/main">
            <a:off x="7524750" y="1590675"/>
            <a:ext cx="3981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0758A"/>
                </a:solidFill>
              </a:defRPr>
            </a:pPr>
            <a:r>
              <a:rPr sz="1050" b="0">
                <a:solidFill>
                  <a:srgbClr val="60758A"/>
                </a:solidFill>
              </a:rPr>
              <a:t>수동 인수시험·실패 시나리오·시연 데이터 고정</a:t>
            </a:r>
          </a:p>
        </p:txBody>
      </p:sp>
      <p:sp>
        <p:nvSpPr>
          <p:cNvPr id="16" name="">
            <a:extLst xmlns:a="http://schemas.openxmlformats.org/drawingml/2006/main">
              <a:ext uri="{FF2B5EF4-FFF2-40B4-BE49-F238E27FC236}">
                <a16:creationId xmlns:a16="http://schemas.microsoft.com/office/drawing/2014/main" id="{AC8CF220-9F83-4410-B5E8-2FA6D9C76C31}"/>
              </a:ext>
            </a:extLst>
          </p:cNvPr>
          <p:cNvSpPr>
            <a:spLocks xmlns:a="http://schemas.openxmlformats.org/drawingml/2006/main" noGrp="1"/>
          </p:cNvSpPr>
          <p:nvPr/>
        </p:nvSpPr>
        <p:spPr>
          <a:xfrm xmlns:a="http://schemas.openxmlformats.org/drawingml/2006/main">
            <a:off x="4210050" y="2114550"/>
            <a:ext cx="7296150" cy="0"/>
          </a:xfrm>
          <a:prstGeom xmlns:a="http://schemas.openxmlformats.org/drawingml/2006/main" prst="line">
            <a:avLst/>
          </a:prstGeom>
          <a:noFill xmlns:a="http://schemas.openxmlformats.org/drawingml/2006/main"/>
          <a:ln xmlns:a="http://schemas.openxmlformats.org/drawingml/2006/main" w="9525">
            <a:solidFill>
              <a:srgbClr val="D7E2EA"/>
            </a:solidFill>
            <a:prstDash val="solid"/>
          </a:ln>
        </p:spPr>
      </p:sp>
      <p:sp>
        <p:nvSpPr>
          <p:cNvPr id="17" name="">
            <a:extLst xmlns:a="http://schemas.openxmlformats.org/drawingml/2006/main">
              <a:ext uri="{FF2B5EF4-FFF2-40B4-BE49-F238E27FC236}">
                <a16:creationId xmlns:a16="http://schemas.microsoft.com/office/drawing/2014/main" id="{F62A79B0-BDDB-40BF-AC04-1EB0548FEB2F}"/>
              </a:ext>
            </a:extLst>
          </p:cNvPr>
          <p:cNvSpPr>
            <a:spLocks xmlns:a="http://schemas.openxmlformats.org/drawingml/2006/main" noGrp="1"/>
          </p:cNvSpPr>
          <p:nvPr/>
        </p:nvSpPr>
        <p:spPr>
          <a:xfrm xmlns:a="http://schemas.openxmlformats.org/drawingml/2006/main">
            <a:off x="4210050" y="2362200"/>
            <a:ext cx="1257300" cy="266700"/>
          </a:xfrm>
          <a:prstGeom xmlns:a="http://schemas.openxmlformats.org/drawingml/2006/main" prst="roundRect">
            <a:avLst>
              <a:gd name="adj" fmla="val 42857"/>
            </a:avLst>
          </a:prstGeom>
          <a:solidFill xmlns:a="http://schemas.openxmlformats.org/drawingml/2006/main">
            <a:srgbClr val="EAF3F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7B8D665-95BE-4C3A-9D77-CB396AC07D2E}"/>
              </a:ext>
            </a:extLst>
          </p:cNvPr>
          <p:cNvSpPr>
            <a:spLocks xmlns:a="http://schemas.openxmlformats.org/drawingml/2006/main" noGrp="1"/>
          </p:cNvSpPr>
          <p:nvPr/>
        </p:nvSpPr>
        <p:spPr>
          <a:xfrm xmlns:a="http://schemas.openxmlformats.org/drawingml/2006/main">
            <a:off x="4210050" y="240030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1F6EA5"/>
                </a:solidFill>
              </a:defRPr>
            </a:pPr>
            <a:r>
              <a:rPr sz="975" b="1">
                <a:solidFill>
                  <a:srgbClr val="1F6EA5"/>
                </a:solidFill>
              </a:rPr>
              <a:t>D-9 ~ D-4</a:t>
            </a:r>
          </a:p>
        </p:txBody>
      </p:sp>
      <p:sp>
        <p:nvSpPr>
          <p:cNvPr id="19" name="">
            <a:extLst xmlns:a="http://schemas.openxmlformats.org/drawingml/2006/main">
              <a:ext uri="{FF2B5EF4-FFF2-40B4-BE49-F238E27FC236}">
                <a16:creationId xmlns:a16="http://schemas.microsoft.com/office/drawing/2014/main" id="{22E116E3-E8A9-46A7-828C-A793DC8BFB18}"/>
              </a:ext>
            </a:extLst>
          </p:cNvPr>
          <p:cNvSpPr>
            <a:spLocks xmlns:a="http://schemas.openxmlformats.org/drawingml/2006/main" noGrp="1"/>
          </p:cNvSpPr>
          <p:nvPr/>
        </p:nvSpPr>
        <p:spPr>
          <a:xfrm xmlns:a="http://schemas.openxmlformats.org/drawingml/2006/main">
            <a:off x="5676900" y="235267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52536"/>
                </a:solidFill>
              </a:defRPr>
            </a:pPr>
            <a:r>
              <a:rPr sz="1350" b="1">
                <a:solidFill>
                  <a:srgbClr val="152536"/>
                </a:solidFill>
              </a:rPr>
              <a:t>범위 합의·보강</a:t>
            </a:r>
          </a:p>
        </p:txBody>
      </p:sp>
      <p:sp>
        <p:nvSpPr>
          <p:cNvPr id="20" name="">
            <a:extLst xmlns:a="http://schemas.openxmlformats.org/drawingml/2006/main">
              <a:ext uri="{FF2B5EF4-FFF2-40B4-BE49-F238E27FC236}">
                <a16:creationId xmlns:a16="http://schemas.microsoft.com/office/drawing/2014/main" id="{84E09376-DBFE-4190-8F6D-83D251729736}"/>
              </a:ext>
            </a:extLst>
          </p:cNvPr>
          <p:cNvSpPr>
            <a:spLocks xmlns:a="http://schemas.openxmlformats.org/drawingml/2006/main" noGrp="1"/>
          </p:cNvSpPr>
          <p:nvPr/>
        </p:nvSpPr>
        <p:spPr>
          <a:xfrm xmlns:a="http://schemas.openxmlformats.org/drawingml/2006/main">
            <a:off x="7524750" y="2352675"/>
            <a:ext cx="3981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0758A"/>
                </a:solidFill>
              </a:defRPr>
            </a:pPr>
            <a:r>
              <a:rPr sz="1050" b="0">
                <a:solidFill>
                  <a:srgbClr val="60758A"/>
                </a:solidFill>
              </a:rPr>
              <a:t>우선순위 진단 항목과 오탐·미탐 개선 범위 협의</a:t>
            </a:r>
          </a:p>
        </p:txBody>
      </p:sp>
      <p:sp>
        <p:nvSpPr>
          <p:cNvPr id="21" name="">
            <a:extLst xmlns:a="http://schemas.openxmlformats.org/drawingml/2006/main">
              <a:ext uri="{FF2B5EF4-FFF2-40B4-BE49-F238E27FC236}">
                <a16:creationId xmlns:a16="http://schemas.microsoft.com/office/drawing/2014/main" id="{AED87AF3-E3EB-477F-A620-B6E85C1102F3}"/>
              </a:ext>
            </a:extLst>
          </p:cNvPr>
          <p:cNvSpPr>
            <a:spLocks xmlns:a="http://schemas.openxmlformats.org/drawingml/2006/main" noGrp="1"/>
          </p:cNvSpPr>
          <p:nvPr/>
        </p:nvSpPr>
        <p:spPr>
          <a:xfrm xmlns:a="http://schemas.openxmlformats.org/drawingml/2006/main">
            <a:off x="4210050" y="2876550"/>
            <a:ext cx="7296150" cy="0"/>
          </a:xfrm>
          <a:prstGeom xmlns:a="http://schemas.openxmlformats.org/drawingml/2006/main" prst="line">
            <a:avLst/>
          </a:prstGeom>
          <a:noFill xmlns:a="http://schemas.openxmlformats.org/drawingml/2006/main"/>
          <a:ln xmlns:a="http://schemas.openxmlformats.org/drawingml/2006/main" w="9525">
            <a:solidFill>
              <a:srgbClr val="D7E2EA"/>
            </a:solidFill>
            <a:prstDash val="solid"/>
          </a:ln>
        </p:spPr>
      </p:sp>
      <p:sp>
        <p:nvSpPr>
          <p:cNvPr id="22" name="">
            <a:extLst xmlns:a="http://schemas.openxmlformats.org/drawingml/2006/main">
              <a:ext uri="{FF2B5EF4-FFF2-40B4-BE49-F238E27FC236}">
                <a16:creationId xmlns:a16="http://schemas.microsoft.com/office/drawing/2014/main" id="{C9C6BA26-E3EF-4D62-B454-D5B896B56FB2}"/>
              </a:ext>
            </a:extLst>
          </p:cNvPr>
          <p:cNvSpPr>
            <a:spLocks xmlns:a="http://schemas.openxmlformats.org/drawingml/2006/main" noGrp="1"/>
          </p:cNvSpPr>
          <p:nvPr/>
        </p:nvSpPr>
        <p:spPr>
          <a:xfrm xmlns:a="http://schemas.openxmlformats.org/drawingml/2006/main">
            <a:off x="4210050" y="3124200"/>
            <a:ext cx="1257300" cy="266700"/>
          </a:xfrm>
          <a:prstGeom xmlns:a="http://schemas.openxmlformats.org/drawingml/2006/main" prst="roundRect">
            <a:avLst>
              <a:gd name="adj" fmla="val 42857"/>
            </a:avLst>
          </a:prstGeom>
          <a:solidFill xmlns:a="http://schemas.openxmlformats.org/drawingml/2006/main">
            <a:srgbClr val="E5F5E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DA0EF6F-747A-4D5E-9A91-5FD94D14F42E}"/>
              </a:ext>
            </a:extLst>
          </p:cNvPr>
          <p:cNvSpPr>
            <a:spLocks xmlns:a="http://schemas.openxmlformats.org/drawingml/2006/main" noGrp="1"/>
          </p:cNvSpPr>
          <p:nvPr/>
        </p:nvSpPr>
        <p:spPr>
          <a:xfrm xmlns:a="http://schemas.openxmlformats.org/drawingml/2006/main">
            <a:off x="4210050" y="316230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3855B"/>
                </a:solidFill>
              </a:defRPr>
            </a:pPr>
            <a:r>
              <a:rPr sz="975" b="1">
                <a:solidFill>
                  <a:srgbClr val="23855B"/>
                </a:solidFill>
              </a:rPr>
              <a:t>D-3 ~ D-day</a:t>
            </a:r>
          </a:p>
        </p:txBody>
      </p:sp>
      <p:sp>
        <p:nvSpPr>
          <p:cNvPr id="24" name="">
            <a:extLst xmlns:a="http://schemas.openxmlformats.org/drawingml/2006/main">
              <a:ext uri="{FF2B5EF4-FFF2-40B4-BE49-F238E27FC236}">
                <a16:creationId xmlns:a16="http://schemas.microsoft.com/office/drawing/2014/main" id="{C79270CB-44F5-401A-A07D-1B56060187B2}"/>
              </a:ext>
            </a:extLst>
          </p:cNvPr>
          <p:cNvSpPr>
            <a:spLocks xmlns:a="http://schemas.openxmlformats.org/drawingml/2006/main" noGrp="1"/>
          </p:cNvSpPr>
          <p:nvPr/>
        </p:nvSpPr>
        <p:spPr>
          <a:xfrm xmlns:a="http://schemas.openxmlformats.org/drawingml/2006/main">
            <a:off x="5676900" y="311467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52536"/>
                </a:solidFill>
              </a:defRPr>
            </a:pPr>
            <a:r>
              <a:rPr sz="1350" b="1">
                <a:solidFill>
                  <a:srgbClr val="152536"/>
                </a:solidFill>
              </a:rPr>
              <a:t>최종 리허설</a:t>
            </a:r>
          </a:p>
        </p:txBody>
      </p:sp>
      <p:sp>
        <p:nvSpPr>
          <p:cNvPr id="25" name="">
            <a:extLst xmlns:a="http://schemas.openxmlformats.org/drawingml/2006/main">
              <a:ext uri="{FF2B5EF4-FFF2-40B4-BE49-F238E27FC236}">
                <a16:creationId xmlns:a16="http://schemas.microsoft.com/office/drawing/2014/main" id="{995CAECF-737E-4527-A699-67820D2D6E1F}"/>
              </a:ext>
            </a:extLst>
          </p:cNvPr>
          <p:cNvSpPr>
            <a:spLocks xmlns:a="http://schemas.openxmlformats.org/drawingml/2006/main" noGrp="1"/>
          </p:cNvSpPr>
          <p:nvPr/>
        </p:nvSpPr>
        <p:spPr>
          <a:xfrm xmlns:a="http://schemas.openxmlformats.org/drawingml/2006/main">
            <a:off x="7524750" y="3114675"/>
            <a:ext cx="3981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0758A"/>
                </a:solidFill>
              </a:defRPr>
            </a:pPr>
            <a:r>
              <a:rPr sz="1050" b="0">
                <a:solidFill>
                  <a:srgbClr val="60758A"/>
                </a:solidFill>
              </a:rPr>
              <a:t>배포 보안 점검·백업 시연·최종 추적표 갱신</a:t>
            </a:r>
          </a:p>
        </p:txBody>
      </p:sp>
      <p:sp>
        <p:nvSpPr>
          <p:cNvPr id="26" name="">
            <a:extLst xmlns:a="http://schemas.openxmlformats.org/drawingml/2006/main">
              <a:ext uri="{FF2B5EF4-FFF2-40B4-BE49-F238E27FC236}">
                <a16:creationId xmlns:a16="http://schemas.microsoft.com/office/drawing/2014/main" id="{2403B2A1-FAF7-4B3E-A889-2CD7594F7596}"/>
              </a:ext>
            </a:extLst>
          </p:cNvPr>
          <p:cNvSpPr>
            <a:spLocks xmlns:a="http://schemas.openxmlformats.org/drawingml/2006/main" noGrp="1"/>
          </p:cNvSpPr>
          <p:nvPr/>
        </p:nvSpPr>
        <p:spPr>
          <a:xfrm xmlns:a="http://schemas.openxmlformats.org/drawingml/2006/main">
            <a:off x="609600" y="43624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52536"/>
                </a:solidFill>
              </a:defRPr>
            </a:pPr>
            <a:r>
              <a:rPr sz="1575" b="1">
                <a:solidFill>
                  <a:srgbClr val="152536"/>
                </a:solidFill>
              </a:rPr>
              <a:t>시연 순서</a:t>
            </a:r>
          </a:p>
        </p:txBody>
      </p:sp>
      <p:sp>
        <p:nvSpPr>
          <p:cNvPr id="27" name="">
            <a:extLst xmlns:a="http://schemas.openxmlformats.org/drawingml/2006/main">
              <a:ext uri="{FF2B5EF4-FFF2-40B4-BE49-F238E27FC236}">
                <a16:creationId xmlns:a16="http://schemas.microsoft.com/office/drawing/2014/main" id="{75FA7FD3-3286-4733-8A16-5AD6E47EC588}"/>
              </a:ext>
            </a:extLst>
          </p:cNvPr>
          <p:cNvSpPr>
            <a:spLocks xmlns:a="http://schemas.openxmlformats.org/drawingml/2006/main" noGrp="1"/>
          </p:cNvSpPr>
          <p:nvPr/>
        </p:nvSpPr>
        <p:spPr>
          <a:xfrm xmlns:a="http://schemas.openxmlformats.org/drawingml/2006/main">
            <a:off x="2419350" y="5124450"/>
            <a:ext cx="285750" cy="228600"/>
          </a:xfrm>
          <a:prstGeom xmlns:a="http://schemas.openxmlformats.org/drawingml/2006/main" prst="rightArrow">
            <a:avLst/>
          </a:prstGeom>
          <a:solidFill xmlns:a="http://schemas.openxmlformats.org/drawingml/2006/main">
            <a:srgbClr val="EAF3F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4CD18EE-99B8-4972-9ADE-B6F8EF297710}"/>
              </a:ext>
            </a:extLst>
          </p:cNvPr>
          <p:cNvSpPr>
            <a:spLocks xmlns:a="http://schemas.openxmlformats.org/drawingml/2006/main" noGrp="1"/>
          </p:cNvSpPr>
          <p:nvPr/>
        </p:nvSpPr>
        <p:spPr>
          <a:xfrm xmlns:a="http://schemas.openxmlformats.org/drawingml/2006/main">
            <a:off x="609600" y="4876800"/>
            <a:ext cx="1828800" cy="876300"/>
          </a:xfrm>
          <a:prstGeom xmlns:a="http://schemas.openxmlformats.org/drawingml/2006/main" prst="roundRect">
            <a:avLst>
              <a:gd name="adj" fmla="val 13043"/>
            </a:avLst>
          </a:prstGeom>
          <a:solidFill xmlns:a="http://schemas.openxmlformats.org/drawingml/2006/main">
            <a:srgbClr val="F4F8FB"/>
          </a:solidFill>
          <a:ln xmlns:a="http://schemas.openxmlformats.org/drawingml/2006/main" w="9525">
            <a:solidFill>
              <a:srgbClr val="D7E2EA"/>
            </a:solidFill>
            <a:prstDash val="solid"/>
          </a:ln>
        </p:spPr>
      </p:sp>
      <p:sp>
        <p:nvSpPr>
          <p:cNvPr id="29" name="">
            <a:extLst xmlns:a="http://schemas.openxmlformats.org/drawingml/2006/main">
              <a:ext uri="{FF2B5EF4-FFF2-40B4-BE49-F238E27FC236}">
                <a16:creationId xmlns:a16="http://schemas.microsoft.com/office/drawing/2014/main" id="{026750E4-8A52-4C9D-A192-BED69A56E68A}"/>
              </a:ext>
            </a:extLst>
          </p:cNvPr>
          <p:cNvSpPr>
            <a:spLocks xmlns:a="http://schemas.openxmlformats.org/drawingml/2006/main" noGrp="1"/>
          </p:cNvSpPr>
          <p:nvPr/>
        </p:nvSpPr>
        <p:spPr>
          <a:xfrm xmlns:a="http://schemas.openxmlformats.org/drawingml/2006/main">
            <a:off x="742950" y="50101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F6EA5"/>
                </a:solidFill>
              </a:defRPr>
            </a:pPr>
            <a:r>
              <a:rPr sz="975" b="1">
                <a:solidFill>
                  <a:srgbClr val="1F6EA5"/>
                </a:solidFill>
              </a:rPr>
              <a:t>1</a:t>
            </a:r>
          </a:p>
        </p:txBody>
      </p:sp>
      <p:sp>
        <p:nvSpPr>
          <p:cNvPr id="30" name="">
            <a:extLst xmlns:a="http://schemas.openxmlformats.org/drawingml/2006/main">
              <a:ext uri="{FF2B5EF4-FFF2-40B4-BE49-F238E27FC236}">
                <a16:creationId xmlns:a16="http://schemas.microsoft.com/office/drawing/2014/main" id="{708A1DB1-161E-475D-A72A-CEB19E16511F}"/>
              </a:ext>
            </a:extLst>
          </p:cNvPr>
          <p:cNvSpPr>
            <a:spLocks xmlns:a="http://schemas.openxmlformats.org/drawingml/2006/main" noGrp="1"/>
          </p:cNvSpPr>
          <p:nvPr/>
        </p:nvSpPr>
        <p:spPr>
          <a:xfrm xmlns:a="http://schemas.openxmlformats.org/drawingml/2006/main">
            <a:off x="742950" y="531495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52536"/>
                </a:solidFill>
              </a:defRPr>
            </a:pPr>
            <a:r>
              <a:rPr sz="1125" b="1">
                <a:solidFill>
                  <a:srgbClr val="152536"/>
                </a:solidFill>
              </a:rPr>
              <a:t>로그인</a:t>
            </a:r>
          </a:p>
        </p:txBody>
      </p:sp>
      <p:sp>
        <p:nvSpPr>
          <p:cNvPr id="31" name="">
            <a:extLst xmlns:a="http://schemas.openxmlformats.org/drawingml/2006/main">
              <a:ext uri="{FF2B5EF4-FFF2-40B4-BE49-F238E27FC236}">
                <a16:creationId xmlns:a16="http://schemas.microsoft.com/office/drawing/2014/main" id="{468B6E86-3BCB-4241-BFE5-22501B568EC1}"/>
              </a:ext>
            </a:extLst>
          </p:cNvPr>
          <p:cNvSpPr>
            <a:spLocks xmlns:a="http://schemas.openxmlformats.org/drawingml/2006/main" noGrp="1"/>
          </p:cNvSpPr>
          <p:nvPr/>
        </p:nvSpPr>
        <p:spPr>
          <a:xfrm xmlns:a="http://schemas.openxmlformats.org/drawingml/2006/main">
            <a:off x="4610100" y="5124450"/>
            <a:ext cx="285750" cy="228600"/>
          </a:xfrm>
          <a:prstGeom xmlns:a="http://schemas.openxmlformats.org/drawingml/2006/main" prst="rightArrow">
            <a:avLst/>
          </a:prstGeom>
          <a:solidFill xmlns:a="http://schemas.openxmlformats.org/drawingml/2006/main">
            <a:srgbClr val="EAF3F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BA6C1B8-77BA-4BEB-BD7E-72E4AE715F9A}"/>
              </a:ext>
            </a:extLst>
          </p:cNvPr>
          <p:cNvSpPr>
            <a:spLocks xmlns:a="http://schemas.openxmlformats.org/drawingml/2006/main" noGrp="1"/>
          </p:cNvSpPr>
          <p:nvPr/>
        </p:nvSpPr>
        <p:spPr>
          <a:xfrm xmlns:a="http://schemas.openxmlformats.org/drawingml/2006/main">
            <a:off x="2800350" y="4876800"/>
            <a:ext cx="1828800" cy="876300"/>
          </a:xfrm>
          <a:prstGeom xmlns:a="http://schemas.openxmlformats.org/drawingml/2006/main" prst="roundRect">
            <a:avLst>
              <a:gd name="adj" fmla="val 13043"/>
            </a:avLst>
          </a:prstGeom>
          <a:solidFill xmlns:a="http://schemas.openxmlformats.org/drawingml/2006/main">
            <a:srgbClr val="F4F8FB"/>
          </a:solidFill>
          <a:ln xmlns:a="http://schemas.openxmlformats.org/drawingml/2006/main" w="9525">
            <a:solidFill>
              <a:srgbClr val="D7E2EA"/>
            </a:solidFill>
            <a:prstDash val="solid"/>
          </a:ln>
        </p:spPr>
      </p:sp>
      <p:sp>
        <p:nvSpPr>
          <p:cNvPr id="33" name="">
            <a:extLst xmlns:a="http://schemas.openxmlformats.org/drawingml/2006/main">
              <a:ext uri="{FF2B5EF4-FFF2-40B4-BE49-F238E27FC236}">
                <a16:creationId xmlns:a16="http://schemas.microsoft.com/office/drawing/2014/main" id="{B5D22DA2-9AAC-4452-BEC8-6C7FC7C507E1}"/>
              </a:ext>
            </a:extLst>
          </p:cNvPr>
          <p:cNvSpPr>
            <a:spLocks xmlns:a="http://schemas.openxmlformats.org/drawingml/2006/main" noGrp="1"/>
          </p:cNvSpPr>
          <p:nvPr/>
        </p:nvSpPr>
        <p:spPr>
          <a:xfrm xmlns:a="http://schemas.openxmlformats.org/drawingml/2006/main">
            <a:off x="2933700" y="50101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F6EA5"/>
                </a:solidFill>
              </a:defRPr>
            </a:pPr>
            <a:r>
              <a:rPr sz="975" b="1">
                <a:solidFill>
                  <a:srgbClr val="1F6EA5"/>
                </a:solidFill>
              </a:rPr>
              <a:t>2</a:t>
            </a:r>
          </a:p>
        </p:txBody>
      </p:sp>
      <p:sp>
        <p:nvSpPr>
          <p:cNvPr id="34" name="">
            <a:extLst xmlns:a="http://schemas.openxmlformats.org/drawingml/2006/main">
              <a:ext uri="{FF2B5EF4-FFF2-40B4-BE49-F238E27FC236}">
                <a16:creationId xmlns:a16="http://schemas.microsoft.com/office/drawing/2014/main" id="{BF6884A2-D210-43A1-82AF-1A15144B1C2F}"/>
              </a:ext>
            </a:extLst>
          </p:cNvPr>
          <p:cNvSpPr>
            <a:spLocks xmlns:a="http://schemas.openxmlformats.org/drawingml/2006/main" noGrp="1"/>
          </p:cNvSpPr>
          <p:nvPr/>
        </p:nvSpPr>
        <p:spPr>
          <a:xfrm xmlns:a="http://schemas.openxmlformats.org/drawingml/2006/main">
            <a:off x="2933700" y="531495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52536"/>
                </a:solidFill>
              </a:defRPr>
            </a:pPr>
            <a:r>
              <a:rPr sz="1125" b="1">
                <a:solidFill>
                  <a:srgbClr val="152536"/>
                </a:solidFill>
              </a:rPr>
              <a:t>프로젝트·사용자</a:t>
            </a:r>
          </a:p>
        </p:txBody>
      </p:sp>
      <p:sp>
        <p:nvSpPr>
          <p:cNvPr id="35" name="">
            <a:extLst xmlns:a="http://schemas.openxmlformats.org/drawingml/2006/main">
              <a:ext uri="{FF2B5EF4-FFF2-40B4-BE49-F238E27FC236}">
                <a16:creationId xmlns:a16="http://schemas.microsoft.com/office/drawing/2014/main" id="{48C29EDD-2732-4468-8CA7-97D5662FCB67}"/>
              </a:ext>
            </a:extLst>
          </p:cNvPr>
          <p:cNvSpPr>
            <a:spLocks xmlns:a="http://schemas.openxmlformats.org/drawingml/2006/main" noGrp="1"/>
          </p:cNvSpPr>
          <p:nvPr/>
        </p:nvSpPr>
        <p:spPr>
          <a:xfrm xmlns:a="http://schemas.openxmlformats.org/drawingml/2006/main">
            <a:off x="6800850" y="5124450"/>
            <a:ext cx="285750" cy="228600"/>
          </a:xfrm>
          <a:prstGeom xmlns:a="http://schemas.openxmlformats.org/drawingml/2006/main" prst="rightArrow">
            <a:avLst/>
          </a:prstGeom>
          <a:solidFill xmlns:a="http://schemas.openxmlformats.org/drawingml/2006/main">
            <a:srgbClr val="EAF3F9"/>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A95C8BA9-511B-4F0C-B29E-0EE240BA0AEB}"/>
              </a:ext>
            </a:extLst>
          </p:cNvPr>
          <p:cNvSpPr>
            <a:spLocks xmlns:a="http://schemas.openxmlformats.org/drawingml/2006/main" noGrp="1"/>
          </p:cNvSpPr>
          <p:nvPr/>
        </p:nvSpPr>
        <p:spPr>
          <a:xfrm xmlns:a="http://schemas.openxmlformats.org/drawingml/2006/main">
            <a:off x="4991100" y="4876800"/>
            <a:ext cx="1828800" cy="876300"/>
          </a:xfrm>
          <a:prstGeom xmlns:a="http://schemas.openxmlformats.org/drawingml/2006/main" prst="roundRect">
            <a:avLst>
              <a:gd name="adj" fmla="val 13043"/>
            </a:avLst>
          </a:prstGeom>
          <a:solidFill xmlns:a="http://schemas.openxmlformats.org/drawingml/2006/main">
            <a:srgbClr val="1F6EA5"/>
          </a:solidFill>
          <a:ln xmlns:a="http://schemas.openxmlformats.org/drawingml/2006/main" w="9525">
            <a:solidFill>
              <a:srgbClr val="1F6EA5"/>
            </a:solidFill>
            <a:prstDash val="solid"/>
          </a:ln>
        </p:spPr>
      </p:sp>
      <p:sp>
        <p:nvSpPr>
          <p:cNvPr id="37" name="">
            <a:extLst xmlns:a="http://schemas.openxmlformats.org/drawingml/2006/main">
              <a:ext uri="{FF2B5EF4-FFF2-40B4-BE49-F238E27FC236}">
                <a16:creationId xmlns:a16="http://schemas.microsoft.com/office/drawing/2014/main" id="{6816C83C-391C-4356-BEB7-04A571B15B52}"/>
              </a:ext>
            </a:extLst>
          </p:cNvPr>
          <p:cNvSpPr>
            <a:spLocks xmlns:a="http://schemas.openxmlformats.org/drawingml/2006/main" noGrp="1"/>
          </p:cNvSpPr>
          <p:nvPr/>
        </p:nvSpPr>
        <p:spPr>
          <a:xfrm xmlns:a="http://schemas.openxmlformats.org/drawingml/2006/main">
            <a:off x="5124450" y="50101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3</a:t>
            </a:r>
          </a:p>
        </p:txBody>
      </p:sp>
      <p:sp>
        <p:nvSpPr>
          <p:cNvPr id="38" name="">
            <a:extLst xmlns:a="http://schemas.openxmlformats.org/drawingml/2006/main">
              <a:ext uri="{FF2B5EF4-FFF2-40B4-BE49-F238E27FC236}">
                <a16:creationId xmlns:a16="http://schemas.microsoft.com/office/drawing/2014/main" id="{16414E34-2DCE-495F-83E4-558DE5F00469}"/>
              </a:ext>
            </a:extLst>
          </p:cNvPr>
          <p:cNvSpPr>
            <a:spLocks xmlns:a="http://schemas.openxmlformats.org/drawingml/2006/main" noGrp="1"/>
          </p:cNvSpPr>
          <p:nvPr/>
        </p:nvSpPr>
        <p:spPr>
          <a:xfrm xmlns:a="http://schemas.openxmlformats.org/drawingml/2006/main">
            <a:off x="5124450" y="531495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FFFF"/>
                </a:solidFill>
              </a:defRPr>
            </a:pPr>
            <a:r>
              <a:rPr sz="1125" b="1">
                <a:solidFill>
                  <a:srgbClr val="FFFFFF"/>
                </a:solidFill>
              </a:rPr>
              <a:t>ZIP 업로드·분석</a:t>
            </a:r>
          </a:p>
        </p:txBody>
      </p:sp>
      <p:sp>
        <p:nvSpPr>
          <p:cNvPr id="39" name="">
            <a:extLst xmlns:a="http://schemas.openxmlformats.org/drawingml/2006/main">
              <a:ext uri="{FF2B5EF4-FFF2-40B4-BE49-F238E27FC236}">
                <a16:creationId xmlns:a16="http://schemas.microsoft.com/office/drawing/2014/main" id="{54FA9136-E69F-4DB8-A01D-5B2389DA78D8}"/>
              </a:ext>
            </a:extLst>
          </p:cNvPr>
          <p:cNvSpPr>
            <a:spLocks xmlns:a="http://schemas.openxmlformats.org/drawingml/2006/main" noGrp="1"/>
          </p:cNvSpPr>
          <p:nvPr/>
        </p:nvSpPr>
        <p:spPr>
          <a:xfrm xmlns:a="http://schemas.openxmlformats.org/drawingml/2006/main">
            <a:off x="8991600" y="5124450"/>
            <a:ext cx="285750" cy="228600"/>
          </a:xfrm>
          <a:prstGeom xmlns:a="http://schemas.openxmlformats.org/drawingml/2006/main" prst="rightArrow">
            <a:avLst/>
          </a:prstGeom>
          <a:solidFill xmlns:a="http://schemas.openxmlformats.org/drawingml/2006/main">
            <a:srgbClr val="EAF3F9"/>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0E9254C6-D3C7-439E-AAA2-6773E52BD038}"/>
              </a:ext>
            </a:extLst>
          </p:cNvPr>
          <p:cNvSpPr>
            <a:spLocks xmlns:a="http://schemas.openxmlformats.org/drawingml/2006/main" noGrp="1"/>
          </p:cNvSpPr>
          <p:nvPr/>
        </p:nvSpPr>
        <p:spPr>
          <a:xfrm xmlns:a="http://schemas.openxmlformats.org/drawingml/2006/main">
            <a:off x="7181850" y="4876800"/>
            <a:ext cx="1828800" cy="876300"/>
          </a:xfrm>
          <a:prstGeom xmlns:a="http://schemas.openxmlformats.org/drawingml/2006/main" prst="roundRect">
            <a:avLst>
              <a:gd name="adj" fmla="val 13043"/>
            </a:avLst>
          </a:prstGeom>
          <a:solidFill xmlns:a="http://schemas.openxmlformats.org/drawingml/2006/main">
            <a:srgbClr val="F4F8FB"/>
          </a:solidFill>
          <a:ln xmlns:a="http://schemas.openxmlformats.org/drawingml/2006/main" w="9525">
            <a:solidFill>
              <a:srgbClr val="D7E2EA"/>
            </a:solidFill>
            <a:prstDash val="solid"/>
          </a:ln>
        </p:spPr>
      </p:sp>
      <p:sp>
        <p:nvSpPr>
          <p:cNvPr id="41" name="">
            <a:extLst xmlns:a="http://schemas.openxmlformats.org/drawingml/2006/main">
              <a:ext uri="{FF2B5EF4-FFF2-40B4-BE49-F238E27FC236}">
                <a16:creationId xmlns:a16="http://schemas.microsoft.com/office/drawing/2014/main" id="{B9ED71A5-F2EA-45CE-B3E7-CF2A0677BAC0}"/>
              </a:ext>
            </a:extLst>
          </p:cNvPr>
          <p:cNvSpPr>
            <a:spLocks xmlns:a="http://schemas.openxmlformats.org/drawingml/2006/main" noGrp="1"/>
          </p:cNvSpPr>
          <p:nvPr/>
        </p:nvSpPr>
        <p:spPr>
          <a:xfrm xmlns:a="http://schemas.openxmlformats.org/drawingml/2006/main">
            <a:off x="7315200" y="50101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F6EA5"/>
                </a:solidFill>
              </a:defRPr>
            </a:pPr>
            <a:r>
              <a:rPr sz="975" b="1">
                <a:solidFill>
                  <a:srgbClr val="1F6EA5"/>
                </a:solidFill>
              </a:rPr>
              <a:t>4</a:t>
            </a:r>
          </a:p>
        </p:txBody>
      </p:sp>
      <p:sp>
        <p:nvSpPr>
          <p:cNvPr id="42" name="">
            <a:extLst xmlns:a="http://schemas.openxmlformats.org/drawingml/2006/main">
              <a:ext uri="{FF2B5EF4-FFF2-40B4-BE49-F238E27FC236}">
                <a16:creationId xmlns:a16="http://schemas.microsoft.com/office/drawing/2014/main" id="{AC8EBEE6-4C8E-4744-8C90-50E8220EE434}"/>
              </a:ext>
            </a:extLst>
          </p:cNvPr>
          <p:cNvSpPr>
            <a:spLocks xmlns:a="http://schemas.openxmlformats.org/drawingml/2006/main" noGrp="1"/>
          </p:cNvSpPr>
          <p:nvPr/>
        </p:nvSpPr>
        <p:spPr>
          <a:xfrm xmlns:a="http://schemas.openxmlformats.org/drawingml/2006/main">
            <a:off x="7315200" y="531495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52536"/>
                </a:solidFill>
              </a:defRPr>
            </a:pPr>
            <a:r>
              <a:rPr sz="1125" b="1">
                <a:solidFill>
                  <a:srgbClr val="152536"/>
                </a:solidFill>
              </a:rPr>
              <a:t>Finding 필터·상세</a:t>
            </a:r>
          </a:p>
        </p:txBody>
      </p:sp>
      <p:sp>
        <p:nvSpPr>
          <p:cNvPr id="43" name="">
            <a:extLst xmlns:a="http://schemas.openxmlformats.org/drawingml/2006/main">
              <a:ext uri="{FF2B5EF4-FFF2-40B4-BE49-F238E27FC236}">
                <a16:creationId xmlns:a16="http://schemas.microsoft.com/office/drawing/2014/main" id="{69620C6C-33B2-424E-A38B-DD4DFDD6E6C6}"/>
              </a:ext>
            </a:extLst>
          </p:cNvPr>
          <p:cNvSpPr>
            <a:spLocks xmlns:a="http://schemas.openxmlformats.org/drawingml/2006/main" noGrp="1"/>
          </p:cNvSpPr>
          <p:nvPr/>
        </p:nvSpPr>
        <p:spPr>
          <a:xfrm xmlns:a="http://schemas.openxmlformats.org/drawingml/2006/main">
            <a:off x="9372600" y="4876800"/>
            <a:ext cx="1828800" cy="876300"/>
          </a:xfrm>
          <a:prstGeom xmlns:a="http://schemas.openxmlformats.org/drawingml/2006/main" prst="roundRect">
            <a:avLst>
              <a:gd name="adj" fmla="val 13043"/>
            </a:avLst>
          </a:prstGeom>
          <a:solidFill xmlns:a="http://schemas.openxmlformats.org/drawingml/2006/main">
            <a:srgbClr val="F4F8FB"/>
          </a:solidFill>
          <a:ln xmlns:a="http://schemas.openxmlformats.org/drawingml/2006/main" w="9525">
            <a:solidFill>
              <a:srgbClr val="D7E2EA"/>
            </a:solidFill>
            <a:prstDash val="solid"/>
          </a:ln>
        </p:spPr>
      </p:sp>
      <p:sp>
        <p:nvSpPr>
          <p:cNvPr id="44" name="">
            <a:extLst xmlns:a="http://schemas.openxmlformats.org/drawingml/2006/main">
              <a:ext uri="{FF2B5EF4-FFF2-40B4-BE49-F238E27FC236}">
                <a16:creationId xmlns:a16="http://schemas.microsoft.com/office/drawing/2014/main" id="{94B96999-1161-41D2-AA48-C2339E56E340}"/>
              </a:ext>
            </a:extLst>
          </p:cNvPr>
          <p:cNvSpPr>
            <a:spLocks xmlns:a="http://schemas.openxmlformats.org/drawingml/2006/main" noGrp="1"/>
          </p:cNvSpPr>
          <p:nvPr/>
        </p:nvSpPr>
        <p:spPr>
          <a:xfrm xmlns:a="http://schemas.openxmlformats.org/drawingml/2006/main">
            <a:off x="9505950" y="50101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F6EA5"/>
                </a:solidFill>
              </a:defRPr>
            </a:pPr>
            <a:r>
              <a:rPr sz="975" b="1">
                <a:solidFill>
                  <a:srgbClr val="1F6EA5"/>
                </a:solidFill>
              </a:rPr>
              <a:t>5</a:t>
            </a:r>
          </a:p>
        </p:txBody>
      </p:sp>
      <p:sp>
        <p:nvSpPr>
          <p:cNvPr id="45" name="">
            <a:extLst xmlns:a="http://schemas.openxmlformats.org/drawingml/2006/main">
              <a:ext uri="{FF2B5EF4-FFF2-40B4-BE49-F238E27FC236}">
                <a16:creationId xmlns:a16="http://schemas.microsoft.com/office/drawing/2014/main" id="{6AD7A119-B291-45C6-9875-9BA5A02B6D15}"/>
              </a:ext>
            </a:extLst>
          </p:cNvPr>
          <p:cNvSpPr>
            <a:spLocks xmlns:a="http://schemas.openxmlformats.org/drawingml/2006/main" noGrp="1"/>
          </p:cNvSpPr>
          <p:nvPr/>
        </p:nvSpPr>
        <p:spPr>
          <a:xfrm xmlns:a="http://schemas.openxmlformats.org/drawingml/2006/main">
            <a:off x="9505950" y="531495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52536"/>
                </a:solidFill>
              </a:defRPr>
            </a:pPr>
            <a:r>
              <a:rPr sz="1125" b="1">
                <a:solidFill>
                  <a:srgbClr val="152536"/>
                </a:solidFill>
              </a:rPr>
              <a:t>KISA 규칙 조회</a:t>
            </a:r>
          </a:p>
        </p:txBody>
      </p:sp>
    </p:spTree>
    <p:extLst>
      <p:ext uri="{BB962C8B-B14F-4D97-AF65-F5344CB8AC3E}">
        <p14:creationId xmlns:p14="http://schemas.microsoft.com/office/powerpoint/2010/main" val="162508971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5926222D-06F0-4F80-A1D4-E0E416E8B10F}"/>
              </a:ext>
            </a:extLst>
          </p:cNvPr>
          <p:cNvSpPr>
            <a:spLocks xmlns:a="http://schemas.openxmlformats.org/drawingml/2006/main" noGrp="1"/>
          </p:cNvSpPr>
          <p:nvPr/>
        </p:nvSpPr>
        <p:spPr>
          <a:xfrm xmlns:a="http://schemas.openxmlformats.org/drawingml/2006/main">
            <a:off x="609600" y="3619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F6EA5"/>
                </a:solidFill>
              </a:defRPr>
            </a:pPr>
            <a:r>
              <a:rPr sz="975" b="1">
                <a:solidFill>
                  <a:srgbClr val="1F6EA5"/>
                </a:solidFill>
              </a:rPr>
              <a:t>부록 A · 요구사항 추적</a:t>
            </a:r>
          </a:p>
        </p:txBody>
      </p:sp>
      <p:sp>
        <p:nvSpPr>
          <p:cNvPr id="2" name="">
            <a:extLst xmlns:a="http://schemas.openxmlformats.org/drawingml/2006/main">
              <a:ext uri="{FF2B5EF4-FFF2-40B4-BE49-F238E27FC236}">
                <a16:creationId xmlns:a16="http://schemas.microsoft.com/office/drawing/2014/main" id="{3B824C36-3E3E-4DFB-90E7-F06BDCE2C599}"/>
              </a:ext>
            </a:extLst>
          </p:cNvPr>
          <p:cNvSpPr>
            <a:spLocks xmlns:a="http://schemas.openxmlformats.org/drawingml/2006/main" noGrp="1"/>
          </p:cNvSpPr>
          <p:nvPr/>
        </p:nvSpPr>
        <p:spPr>
          <a:xfrm xmlns:a="http://schemas.openxmlformats.org/drawingml/2006/main">
            <a:off x="609600" y="64770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52536"/>
                </a:solidFill>
              </a:defRPr>
            </a:pPr>
            <a:r>
              <a:rPr sz="2550" b="1">
                <a:solidFill>
                  <a:srgbClr val="152536"/>
                </a:solidFill>
              </a:rPr>
              <a:t>요구사항은 기능 단위로 묶어 추적할 수 있습니다</a:t>
            </a:r>
          </a:p>
        </p:txBody>
      </p:sp>
      <p:sp>
        <p:nvSpPr>
          <p:cNvPr id="3" name="">
            <a:extLst xmlns:a="http://schemas.openxmlformats.org/drawingml/2006/main">
              <a:ext uri="{FF2B5EF4-FFF2-40B4-BE49-F238E27FC236}">
                <a16:creationId xmlns:a16="http://schemas.microsoft.com/office/drawing/2014/main" id="{E534974A-6C3D-4FFB-8FEE-CB21F9E7DCAF}"/>
              </a:ext>
            </a:extLst>
          </p:cNvPr>
          <p:cNvSpPr>
            <a:spLocks xmlns:a="http://schemas.openxmlformats.org/drawingml/2006/main" noGrp="1"/>
          </p:cNvSpPr>
          <p:nvPr/>
        </p:nvSpPr>
        <p:spPr>
          <a:xfrm xmlns:a="http://schemas.openxmlformats.org/drawingml/2006/main">
            <a:off x="8534400" y="361950"/>
            <a:ext cx="3048000" cy="266700"/>
          </a:xfrm>
          <a:prstGeom xmlns:a="http://schemas.openxmlformats.org/drawingml/2006/main" prst="roundRect">
            <a:avLst>
              <a:gd name="adj" fmla="val 42857"/>
            </a:avLst>
          </a:prstGeom>
          <a:solidFill xmlns:a="http://schemas.openxmlformats.org/drawingml/2006/main">
            <a:srgbClr val="F4F8F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1F203AE-343C-426B-B3DA-85A769D487AE}"/>
              </a:ext>
            </a:extLst>
          </p:cNvPr>
          <p:cNvSpPr>
            <a:spLocks xmlns:a="http://schemas.openxmlformats.org/drawingml/2006/main" noGrp="1"/>
          </p:cNvSpPr>
          <p:nvPr/>
        </p:nvSpPr>
        <p:spPr>
          <a:xfrm xmlns:a="http://schemas.openxmlformats.org/drawingml/2006/main">
            <a:off x="8534400" y="400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60758A"/>
                </a:solidFill>
              </a:defRPr>
            </a:pPr>
            <a:r>
              <a:rPr sz="825" b="1">
                <a:solidFill>
                  <a:srgbClr val="60758A"/>
                </a:solidFill>
              </a:rPr>
              <a:t>SFR · DAR · SEC · TST · QLT</a:t>
            </a:r>
          </a:p>
        </p:txBody>
      </p:sp>
      <p:sp>
        <p:nvSpPr>
          <p:cNvPr id="5" name="">
            <a:extLst xmlns:a="http://schemas.openxmlformats.org/drawingml/2006/main">
              <a:ext uri="{FF2B5EF4-FFF2-40B4-BE49-F238E27FC236}">
                <a16:creationId xmlns:a16="http://schemas.microsoft.com/office/drawing/2014/main" id="{F7E8215E-AF78-4740-946E-4A2D6FEB4A9D}"/>
              </a:ext>
            </a:extLst>
          </p:cNvPr>
          <p:cNvSpPr>
            <a:spLocks xmlns:a="http://schemas.openxmlformats.org/drawingml/2006/main" noGrp="1"/>
          </p:cNvSpPr>
          <p:nvPr/>
        </p:nvSpPr>
        <p:spPr>
          <a:xfrm xmlns:a="http://schemas.openxmlformats.org/drawingml/2006/main">
            <a:off x="609600" y="1238250"/>
            <a:ext cx="10972800" cy="0"/>
          </a:xfrm>
          <a:prstGeom xmlns:a="http://schemas.openxmlformats.org/drawingml/2006/main" prst="line">
            <a:avLst/>
          </a:prstGeom>
          <a:noFill xmlns:a="http://schemas.openxmlformats.org/drawingml/2006/main"/>
          <a:ln xmlns:a="http://schemas.openxmlformats.org/drawingml/2006/main" w="9525">
            <a:solidFill>
              <a:srgbClr val="D7E2EA"/>
            </a:solidFill>
            <a:prstDash val="solid"/>
          </a:ln>
        </p:spPr>
      </p:sp>
      <p:sp>
        <p:nvSpPr>
          <p:cNvPr id="6" name="">
            <a:extLst xmlns:a="http://schemas.openxmlformats.org/drawingml/2006/main">
              <a:ext uri="{FF2B5EF4-FFF2-40B4-BE49-F238E27FC236}">
                <a16:creationId xmlns:a16="http://schemas.microsoft.com/office/drawing/2014/main" id="{DE54AA61-D22E-4154-B014-AAE67BA32A30}"/>
              </a:ext>
            </a:extLst>
          </p:cNvPr>
          <p:cNvSpPr>
            <a:spLocks xmlns:a="http://schemas.openxmlformats.org/drawingml/2006/main" noGrp="1"/>
          </p:cNvSpPr>
          <p:nvPr/>
        </p:nvSpPr>
        <p:spPr>
          <a:xfrm xmlns:a="http://schemas.openxmlformats.org/drawingml/2006/main">
            <a:off x="609600" y="65532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0758A"/>
                </a:solidFill>
              </a:defRPr>
            </a:pPr>
            <a:r>
              <a:rPr sz="825" b="0">
                <a:solidFill>
                  <a:srgbClr val="60758A"/>
                </a:solidFill>
              </a:rPr>
              <a:t>SecureScan · 중간발표</a:t>
            </a:r>
          </a:p>
        </p:txBody>
      </p:sp>
      <p:sp>
        <p:nvSpPr>
          <p:cNvPr id="7" name="">
            <a:extLst xmlns:a="http://schemas.openxmlformats.org/drawingml/2006/main">
              <a:ext uri="{FF2B5EF4-FFF2-40B4-BE49-F238E27FC236}">
                <a16:creationId xmlns:a16="http://schemas.microsoft.com/office/drawing/2014/main" id="{9EF14930-740F-4FDF-AA03-5B4EFC5811AD}"/>
              </a:ext>
            </a:extLst>
          </p:cNvPr>
          <p:cNvSpPr>
            <a:spLocks xmlns:a="http://schemas.openxmlformats.org/drawingml/2006/main" noGrp="1"/>
          </p:cNvSpPr>
          <p:nvPr/>
        </p:nvSpPr>
        <p:spPr>
          <a:xfrm xmlns:a="http://schemas.openxmlformats.org/drawingml/2006/main">
            <a:off x="11220450" y="65532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0758A"/>
                </a:solidFill>
              </a:defRPr>
            </a:pPr>
            <a:r>
              <a:rPr sz="825" b="1">
                <a:solidFill>
                  <a:srgbClr val="60758A"/>
                </a:solidFill>
              </a:rPr>
              <a:t>09</a:t>
            </a:r>
          </a:p>
        </p:txBody>
      </p:sp>
      <p:sp>
        <p:nvSpPr>
          <p:cNvPr id="8" name="">
            <a:extLst xmlns:a="http://schemas.openxmlformats.org/drawingml/2006/main">
              <a:ext uri="{FF2B5EF4-FFF2-40B4-BE49-F238E27FC236}">
                <a16:creationId xmlns:a16="http://schemas.microsoft.com/office/drawing/2014/main" id="{BAC615D1-7306-49A3-90CE-0B6D68118FEA}"/>
              </a:ext>
            </a:extLst>
          </p:cNvPr>
          <p:cNvSpPr>
            <a:spLocks xmlns:a="http://schemas.openxmlformats.org/drawingml/2006/main" noGrp="1"/>
          </p:cNvSpPr>
          <p:nvPr/>
        </p:nvSpPr>
        <p:spPr>
          <a:xfrm xmlns:a="http://schemas.openxmlformats.org/drawingml/2006/main">
            <a:off x="723900" y="15811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F6EA5"/>
                </a:solidFill>
              </a:defRPr>
            </a:pPr>
            <a:r>
              <a:rPr sz="1125" b="1">
                <a:solidFill>
                  <a:srgbClr val="1F6EA5"/>
                </a:solidFill>
              </a:rPr>
              <a:t>기능 묶음</a:t>
            </a:r>
          </a:p>
        </p:txBody>
      </p:sp>
      <p:sp>
        <p:nvSpPr>
          <p:cNvPr id="9" name="">
            <a:extLst xmlns:a="http://schemas.openxmlformats.org/drawingml/2006/main">
              <a:ext uri="{FF2B5EF4-FFF2-40B4-BE49-F238E27FC236}">
                <a16:creationId xmlns:a16="http://schemas.microsoft.com/office/drawing/2014/main" id="{37C2C712-5F08-4ABB-98FF-FCE16FE345C3}"/>
              </a:ext>
            </a:extLst>
          </p:cNvPr>
          <p:cNvSpPr>
            <a:spLocks xmlns:a="http://schemas.openxmlformats.org/drawingml/2006/main" noGrp="1"/>
          </p:cNvSpPr>
          <p:nvPr/>
        </p:nvSpPr>
        <p:spPr>
          <a:xfrm xmlns:a="http://schemas.openxmlformats.org/drawingml/2006/main">
            <a:off x="2857500" y="15811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0758A"/>
                </a:solidFill>
              </a:defRPr>
            </a:pPr>
            <a:r>
              <a:rPr sz="1125" b="1">
                <a:solidFill>
                  <a:srgbClr val="60758A"/>
                </a:solidFill>
              </a:rPr>
              <a:t>관련 요구사항</a:t>
            </a:r>
          </a:p>
        </p:txBody>
      </p:sp>
      <p:sp>
        <p:nvSpPr>
          <p:cNvPr id="10" name="">
            <a:extLst xmlns:a="http://schemas.openxmlformats.org/drawingml/2006/main">
              <a:ext uri="{FF2B5EF4-FFF2-40B4-BE49-F238E27FC236}">
                <a16:creationId xmlns:a16="http://schemas.microsoft.com/office/drawing/2014/main" id="{5904F7A8-745E-4D6E-93CA-D3360D4F56E8}"/>
              </a:ext>
            </a:extLst>
          </p:cNvPr>
          <p:cNvSpPr>
            <a:spLocks xmlns:a="http://schemas.openxmlformats.org/drawingml/2006/main" noGrp="1"/>
          </p:cNvSpPr>
          <p:nvPr/>
        </p:nvSpPr>
        <p:spPr>
          <a:xfrm xmlns:a="http://schemas.openxmlformats.org/drawingml/2006/main">
            <a:off x="6381750" y="158115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0758A"/>
                </a:solidFill>
              </a:defRPr>
            </a:pPr>
            <a:r>
              <a:rPr sz="1125" b="1">
                <a:solidFill>
                  <a:srgbClr val="60758A"/>
                </a:solidFill>
              </a:rPr>
              <a:t>구현 근거</a:t>
            </a:r>
          </a:p>
        </p:txBody>
      </p:sp>
      <p:sp>
        <p:nvSpPr>
          <p:cNvPr id="11" name="">
            <a:extLst xmlns:a="http://schemas.openxmlformats.org/drawingml/2006/main">
              <a:ext uri="{FF2B5EF4-FFF2-40B4-BE49-F238E27FC236}">
                <a16:creationId xmlns:a16="http://schemas.microsoft.com/office/drawing/2014/main" id="{79C0C8ED-FB0E-4960-ABB7-4D44454A6619}"/>
              </a:ext>
            </a:extLst>
          </p:cNvPr>
          <p:cNvSpPr>
            <a:spLocks xmlns:a="http://schemas.openxmlformats.org/drawingml/2006/main" noGrp="1"/>
          </p:cNvSpPr>
          <p:nvPr/>
        </p:nvSpPr>
        <p:spPr>
          <a:xfrm xmlns:a="http://schemas.openxmlformats.org/drawingml/2006/main">
            <a:off x="10096500" y="1581150"/>
            <a:ext cx="160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0758A"/>
                </a:solidFill>
              </a:defRPr>
            </a:pPr>
            <a:r>
              <a:rPr sz="1125" b="1">
                <a:solidFill>
                  <a:srgbClr val="60758A"/>
                </a:solidFill>
              </a:rPr>
              <a:t>검증</a:t>
            </a:r>
          </a:p>
        </p:txBody>
      </p:sp>
      <p:sp>
        <p:nvSpPr>
          <p:cNvPr id="12" name="">
            <a:extLst xmlns:a="http://schemas.openxmlformats.org/drawingml/2006/main">
              <a:ext uri="{FF2B5EF4-FFF2-40B4-BE49-F238E27FC236}">
                <a16:creationId xmlns:a16="http://schemas.microsoft.com/office/drawing/2014/main" id="{8CCF79B7-E6BD-49EA-A30C-A9D928093EEA}"/>
              </a:ext>
            </a:extLst>
          </p:cNvPr>
          <p:cNvSpPr>
            <a:spLocks xmlns:a="http://schemas.openxmlformats.org/drawingml/2006/main" noGrp="1"/>
          </p:cNvSpPr>
          <p:nvPr/>
        </p:nvSpPr>
        <p:spPr>
          <a:xfrm xmlns:a="http://schemas.openxmlformats.org/drawingml/2006/main">
            <a:off x="609600" y="1943100"/>
            <a:ext cx="10972800" cy="0"/>
          </a:xfrm>
          <a:prstGeom xmlns:a="http://schemas.openxmlformats.org/drawingml/2006/main" prst="line">
            <a:avLst/>
          </a:prstGeom>
          <a:noFill xmlns:a="http://schemas.openxmlformats.org/drawingml/2006/main"/>
          <a:ln xmlns:a="http://schemas.openxmlformats.org/drawingml/2006/main" w="19050">
            <a:solidFill>
              <a:srgbClr val="0B2236"/>
            </a:solidFill>
            <a:prstDash val="solid"/>
          </a:ln>
        </p:spPr>
      </p:sp>
      <p:sp>
        <p:nvSpPr>
          <p:cNvPr id="13" name="">
            <a:extLst xmlns:a="http://schemas.openxmlformats.org/drawingml/2006/main">
              <a:ext uri="{FF2B5EF4-FFF2-40B4-BE49-F238E27FC236}">
                <a16:creationId xmlns:a16="http://schemas.microsoft.com/office/drawing/2014/main" id="{0E19E9A4-754F-4404-BEF5-526A631CD81D}"/>
              </a:ext>
            </a:extLst>
          </p:cNvPr>
          <p:cNvSpPr>
            <a:spLocks xmlns:a="http://schemas.openxmlformats.org/drawingml/2006/main" noGrp="1"/>
          </p:cNvSpPr>
          <p:nvPr/>
        </p:nvSpPr>
        <p:spPr>
          <a:xfrm xmlns:a="http://schemas.openxmlformats.org/drawingml/2006/main">
            <a:off x="609600" y="2057400"/>
            <a:ext cx="10972800" cy="685800"/>
          </a:xfrm>
          <a:prstGeom xmlns:a="http://schemas.openxmlformats.org/drawingml/2006/main" prst="roundRect">
            <a:avLst>
              <a:gd name="adj" fmla="val 16667"/>
            </a:avLst>
          </a:prstGeom>
          <a:solidFill xmlns:a="http://schemas.openxmlformats.org/drawingml/2006/main">
            <a:srgbClr val="F4F8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0B81175-C027-4455-9471-908827910734}"/>
              </a:ext>
            </a:extLst>
          </p:cNvPr>
          <p:cNvSpPr>
            <a:spLocks xmlns:a="http://schemas.openxmlformats.org/drawingml/2006/main" noGrp="1"/>
          </p:cNvSpPr>
          <p:nvPr/>
        </p:nvSpPr>
        <p:spPr>
          <a:xfrm xmlns:a="http://schemas.openxmlformats.org/drawingml/2006/main">
            <a:off x="723900" y="2171700"/>
            <a:ext cx="1924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52536"/>
                </a:solidFill>
              </a:defRPr>
            </a:pPr>
            <a:r>
              <a:rPr sz="1200" b="1">
                <a:solidFill>
                  <a:srgbClr val="152536"/>
                </a:solidFill>
              </a:rPr>
              <a:t>로그인·계정 보호</a:t>
            </a:r>
          </a:p>
        </p:txBody>
      </p:sp>
      <p:sp>
        <p:nvSpPr>
          <p:cNvPr id="15" name="">
            <a:extLst xmlns:a="http://schemas.openxmlformats.org/drawingml/2006/main">
              <a:ext uri="{FF2B5EF4-FFF2-40B4-BE49-F238E27FC236}">
                <a16:creationId xmlns:a16="http://schemas.microsoft.com/office/drawing/2014/main" id="{FEA2A29E-89C6-47E5-B554-746DD1ACCF0E}"/>
              </a:ext>
            </a:extLst>
          </p:cNvPr>
          <p:cNvSpPr>
            <a:spLocks xmlns:a="http://schemas.openxmlformats.org/drawingml/2006/main" noGrp="1"/>
          </p:cNvSpPr>
          <p:nvPr/>
        </p:nvSpPr>
        <p:spPr>
          <a:xfrm xmlns:a="http://schemas.openxmlformats.org/drawingml/2006/main">
            <a:off x="2857500" y="2152650"/>
            <a:ext cx="3295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52536"/>
                </a:solidFill>
              </a:defRPr>
            </a:pPr>
            <a:r>
              <a:rPr sz="1050" b="0">
                <a:solidFill>
                  <a:srgbClr val="152536"/>
                </a:solidFill>
              </a:rPr>
              <a:t>SFR-001·003 / DAR-002 / SEC-001·002</a:t>
            </a:r>
          </a:p>
        </p:txBody>
      </p:sp>
      <p:sp>
        <p:nvSpPr>
          <p:cNvPr id="16" name="">
            <a:extLst xmlns:a="http://schemas.openxmlformats.org/drawingml/2006/main">
              <a:ext uri="{FF2B5EF4-FFF2-40B4-BE49-F238E27FC236}">
                <a16:creationId xmlns:a16="http://schemas.microsoft.com/office/drawing/2014/main" id="{C4251D4C-87DD-43B2-9131-2245E2161D87}"/>
              </a:ext>
            </a:extLst>
          </p:cNvPr>
          <p:cNvSpPr>
            <a:spLocks xmlns:a="http://schemas.openxmlformats.org/drawingml/2006/main" noGrp="1"/>
          </p:cNvSpPr>
          <p:nvPr/>
        </p:nvSpPr>
        <p:spPr>
          <a:xfrm xmlns:a="http://schemas.openxmlformats.org/drawingml/2006/main">
            <a:off x="6381750" y="215265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0758A"/>
                </a:solidFill>
              </a:defRPr>
            </a:pPr>
            <a:r>
              <a:rPr sz="1050" b="0">
                <a:solidFill>
                  <a:srgbClr val="60758A"/>
                </a:solidFill>
              </a:rPr>
              <a:t>bcrypt·signed cookie·CSRF·DB 역할 재검증</a:t>
            </a:r>
          </a:p>
        </p:txBody>
      </p:sp>
      <p:sp>
        <p:nvSpPr>
          <p:cNvPr id="17" name="">
            <a:extLst xmlns:a="http://schemas.openxmlformats.org/drawingml/2006/main">
              <a:ext uri="{FF2B5EF4-FFF2-40B4-BE49-F238E27FC236}">
                <a16:creationId xmlns:a16="http://schemas.microsoft.com/office/drawing/2014/main" id="{7F466E26-60EF-43C5-BD00-ACF1AA92DEBD}"/>
              </a:ext>
            </a:extLst>
          </p:cNvPr>
          <p:cNvSpPr>
            <a:spLocks xmlns:a="http://schemas.openxmlformats.org/drawingml/2006/main" noGrp="1"/>
          </p:cNvSpPr>
          <p:nvPr/>
        </p:nvSpPr>
        <p:spPr>
          <a:xfrm xmlns:a="http://schemas.openxmlformats.org/drawingml/2006/main">
            <a:off x="10096500" y="2152650"/>
            <a:ext cx="148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EA5"/>
                </a:solidFill>
              </a:defRPr>
            </a:pPr>
            <a:r>
              <a:rPr sz="1050" b="1">
                <a:solidFill>
                  <a:srgbClr val="1F6EA5"/>
                </a:solidFill>
              </a:rPr>
              <a:t>TST-001</a:t>
            </a:r>
          </a:p>
        </p:txBody>
      </p:sp>
      <p:sp>
        <p:nvSpPr>
          <p:cNvPr id="18" name="">
            <a:extLst xmlns:a="http://schemas.openxmlformats.org/drawingml/2006/main">
              <a:ext uri="{FF2B5EF4-FFF2-40B4-BE49-F238E27FC236}">
                <a16:creationId xmlns:a16="http://schemas.microsoft.com/office/drawing/2014/main" id="{921BA634-C51E-4B07-9D82-24FA4B51396E}"/>
              </a:ext>
            </a:extLst>
          </p:cNvPr>
          <p:cNvSpPr>
            <a:spLocks xmlns:a="http://schemas.openxmlformats.org/drawingml/2006/main" noGrp="1"/>
          </p:cNvSpPr>
          <p:nvPr/>
        </p:nvSpPr>
        <p:spPr>
          <a:xfrm xmlns:a="http://schemas.openxmlformats.org/drawingml/2006/main">
            <a:off x="723900" y="2952750"/>
            <a:ext cx="1924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52536"/>
                </a:solidFill>
              </a:defRPr>
            </a:pPr>
            <a:r>
              <a:rPr sz="1200" b="1">
                <a:solidFill>
                  <a:srgbClr val="152536"/>
                </a:solidFill>
              </a:rPr>
              <a:t>프로젝트·권한</a:t>
            </a:r>
          </a:p>
        </p:txBody>
      </p:sp>
      <p:sp>
        <p:nvSpPr>
          <p:cNvPr id="19" name="">
            <a:extLst xmlns:a="http://schemas.openxmlformats.org/drawingml/2006/main">
              <a:ext uri="{FF2B5EF4-FFF2-40B4-BE49-F238E27FC236}">
                <a16:creationId xmlns:a16="http://schemas.microsoft.com/office/drawing/2014/main" id="{18C9BA52-5577-441B-BE17-1710C964DA83}"/>
              </a:ext>
            </a:extLst>
          </p:cNvPr>
          <p:cNvSpPr>
            <a:spLocks xmlns:a="http://schemas.openxmlformats.org/drawingml/2006/main" noGrp="1"/>
          </p:cNvSpPr>
          <p:nvPr/>
        </p:nvSpPr>
        <p:spPr>
          <a:xfrm xmlns:a="http://schemas.openxmlformats.org/drawingml/2006/main">
            <a:off x="2857500" y="2933700"/>
            <a:ext cx="3295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52536"/>
                </a:solidFill>
              </a:defRPr>
            </a:pPr>
            <a:r>
              <a:rPr sz="1050" b="0">
                <a:solidFill>
                  <a:srgbClr val="152536"/>
                </a:solidFill>
              </a:rPr>
              <a:t>SFR-003·008 / DAR-003~005·010 / SEC-003~006</a:t>
            </a:r>
          </a:p>
        </p:txBody>
      </p:sp>
      <p:sp>
        <p:nvSpPr>
          <p:cNvPr id="20" name="">
            <a:extLst xmlns:a="http://schemas.openxmlformats.org/drawingml/2006/main">
              <a:ext uri="{FF2B5EF4-FFF2-40B4-BE49-F238E27FC236}">
                <a16:creationId xmlns:a16="http://schemas.microsoft.com/office/drawing/2014/main" id="{A8A9003F-41D6-47BC-965B-D96222994054}"/>
              </a:ext>
            </a:extLst>
          </p:cNvPr>
          <p:cNvSpPr>
            <a:spLocks xmlns:a="http://schemas.openxmlformats.org/drawingml/2006/main" noGrp="1"/>
          </p:cNvSpPr>
          <p:nvPr/>
        </p:nvSpPr>
        <p:spPr>
          <a:xfrm xmlns:a="http://schemas.openxmlformats.org/drawingml/2006/main">
            <a:off x="6381750" y="293370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0758A"/>
                </a:solidFill>
              </a:defRPr>
            </a:pPr>
            <a:r>
              <a:rPr sz="1050" b="0">
                <a:solidFill>
                  <a:srgbClr val="60758A"/>
                </a:solidFill>
              </a:rPr>
              <a:t>ProjectUser 관계·ADMIN 쓰기·USER 읽기·404</a:t>
            </a:r>
          </a:p>
        </p:txBody>
      </p:sp>
      <p:sp>
        <p:nvSpPr>
          <p:cNvPr id="21" name="">
            <a:extLst xmlns:a="http://schemas.openxmlformats.org/drawingml/2006/main">
              <a:ext uri="{FF2B5EF4-FFF2-40B4-BE49-F238E27FC236}">
                <a16:creationId xmlns:a16="http://schemas.microsoft.com/office/drawing/2014/main" id="{39E588D3-93D9-4FE0-8221-53C6A4823115}"/>
              </a:ext>
            </a:extLst>
          </p:cNvPr>
          <p:cNvSpPr>
            <a:spLocks xmlns:a="http://schemas.openxmlformats.org/drawingml/2006/main" noGrp="1"/>
          </p:cNvSpPr>
          <p:nvPr/>
        </p:nvSpPr>
        <p:spPr>
          <a:xfrm xmlns:a="http://schemas.openxmlformats.org/drawingml/2006/main">
            <a:off x="10096500" y="2933700"/>
            <a:ext cx="148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EA5"/>
                </a:solidFill>
              </a:defRPr>
            </a:pPr>
            <a:r>
              <a:rPr sz="1050" b="1">
                <a:solidFill>
                  <a:srgbClr val="1F6EA5"/>
                </a:solidFill>
              </a:rPr>
              <a:t>TST-002·003</a:t>
            </a:r>
          </a:p>
        </p:txBody>
      </p:sp>
      <p:sp>
        <p:nvSpPr>
          <p:cNvPr id="22" name="">
            <a:extLst xmlns:a="http://schemas.openxmlformats.org/drawingml/2006/main">
              <a:ext uri="{FF2B5EF4-FFF2-40B4-BE49-F238E27FC236}">
                <a16:creationId xmlns:a16="http://schemas.microsoft.com/office/drawing/2014/main" id="{C692A7C4-F04C-40A8-A336-A412A97DBD73}"/>
              </a:ext>
            </a:extLst>
          </p:cNvPr>
          <p:cNvSpPr>
            <a:spLocks xmlns:a="http://schemas.openxmlformats.org/drawingml/2006/main" noGrp="1"/>
          </p:cNvSpPr>
          <p:nvPr/>
        </p:nvSpPr>
        <p:spPr>
          <a:xfrm xmlns:a="http://schemas.openxmlformats.org/drawingml/2006/main">
            <a:off x="609600" y="3619500"/>
            <a:ext cx="10972800" cy="685800"/>
          </a:xfrm>
          <a:prstGeom xmlns:a="http://schemas.openxmlformats.org/drawingml/2006/main" prst="roundRect">
            <a:avLst>
              <a:gd name="adj" fmla="val 16667"/>
            </a:avLst>
          </a:prstGeom>
          <a:solidFill xmlns:a="http://schemas.openxmlformats.org/drawingml/2006/main">
            <a:srgbClr val="F4F8F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3E20830-1CD7-445B-9C41-2AD119F1E3FA}"/>
              </a:ext>
            </a:extLst>
          </p:cNvPr>
          <p:cNvSpPr>
            <a:spLocks xmlns:a="http://schemas.openxmlformats.org/drawingml/2006/main" noGrp="1"/>
          </p:cNvSpPr>
          <p:nvPr/>
        </p:nvSpPr>
        <p:spPr>
          <a:xfrm xmlns:a="http://schemas.openxmlformats.org/drawingml/2006/main">
            <a:off x="723900" y="3733800"/>
            <a:ext cx="1924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52536"/>
                </a:solidFill>
              </a:defRPr>
            </a:pPr>
            <a:r>
              <a:rPr sz="1200" b="1">
                <a:solidFill>
                  <a:srgbClr val="152536"/>
                </a:solidFill>
              </a:rPr>
              <a:t>ZIP·분석 격리</a:t>
            </a:r>
          </a:p>
        </p:txBody>
      </p:sp>
      <p:sp>
        <p:nvSpPr>
          <p:cNvPr id="24" name="">
            <a:extLst xmlns:a="http://schemas.openxmlformats.org/drawingml/2006/main">
              <a:ext uri="{FF2B5EF4-FFF2-40B4-BE49-F238E27FC236}">
                <a16:creationId xmlns:a16="http://schemas.microsoft.com/office/drawing/2014/main" id="{411A6B6F-B763-4C0B-9061-AC7C7837E5EC}"/>
              </a:ext>
            </a:extLst>
          </p:cNvPr>
          <p:cNvSpPr>
            <a:spLocks xmlns:a="http://schemas.openxmlformats.org/drawingml/2006/main" noGrp="1"/>
          </p:cNvSpPr>
          <p:nvPr/>
        </p:nvSpPr>
        <p:spPr>
          <a:xfrm xmlns:a="http://schemas.openxmlformats.org/drawingml/2006/main">
            <a:off x="2857500" y="3714750"/>
            <a:ext cx="3295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52536"/>
                </a:solidFill>
              </a:defRPr>
            </a:pPr>
            <a:r>
              <a:rPr sz="1050" b="0">
                <a:solidFill>
                  <a:srgbClr val="152536"/>
                </a:solidFill>
              </a:rPr>
              <a:t>SFR-008 / SEC-007~009</a:t>
            </a:r>
          </a:p>
        </p:txBody>
      </p:sp>
      <p:sp>
        <p:nvSpPr>
          <p:cNvPr id="25" name="">
            <a:extLst xmlns:a="http://schemas.openxmlformats.org/drawingml/2006/main">
              <a:ext uri="{FF2B5EF4-FFF2-40B4-BE49-F238E27FC236}">
                <a16:creationId xmlns:a16="http://schemas.microsoft.com/office/drawing/2014/main" id="{22E5CBAD-B32C-4E71-9212-79E5B8ED3FFC}"/>
              </a:ext>
            </a:extLst>
          </p:cNvPr>
          <p:cNvSpPr>
            <a:spLocks xmlns:a="http://schemas.openxmlformats.org/drawingml/2006/main" noGrp="1"/>
          </p:cNvSpPr>
          <p:nvPr/>
        </p:nvSpPr>
        <p:spPr>
          <a:xfrm xmlns:a="http://schemas.openxmlformats.org/drawingml/2006/main">
            <a:off x="6381750" y="371475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0758A"/>
                </a:solidFill>
              </a:defRPr>
            </a:pPr>
            <a:r>
              <a:rPr sz="1050" b="0">
                <a:solidFill>
                  <a:srgbClr val="60758A"/>
                </a:solidFill>
              </a:rPr>
              <a:t>안전 추출·경계 재검증·분석별 작업공간·제한</a:t>
            </a:r>
          </a:p>
        </p:txBody>
      </p:sp>
      <p:sp>
        <p:nvSpPr>
          <p:cNvPr id="26" name="">
            <a:extLst xmlns:a="http://schemas.openxmlformats.org/drawingml/2006/main">
              <a:ext uri="{FF2B5EF4-FFF2-40B4-BE49-F238E27FC236}">
                <a16:creationId xmlns:a16="http://schemas.microsoft.com/office/drawing/2014/main" id="{6CABE0B1-43FE-40B7-B6E3-3F86D82A577D}"/>
              </a:ext>
            </a:extLst>
          </p:cNvPr>
          <p:cNvSpPr>
            <a:spLocks xmlns:a="http://schemas.openxmlformats.org/drawingml/2006/main" noGrp="1"/>
          </p:cNvSpPr>
          <p:nvPr/>
        </p:nvSpPr>
        <p:spPr>
          <a:xfrm xmlns:a="http://schemas.openxmlformats.org/drawingml/2006/main">
            <a:off x="10096500" y="3714750"/>
            <a:ext cx="148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EA5"/>
                </a:solidFill>
              </a:defRPr>
            </a:pPr>
            <a:r>
              <a:rPr sz="1050" b="1">
                <a:solidFill>
                  <a:srgbClr val="1F6EA5"/>
                </a:solidFill>
              </a:rPr>
              <a:t>TST-004·008</a:t>
            </a:r>
          </a:p>
        </p:txBody>
      </p:sp>
      <p:sp>
        <p:nvSpPr>
          <p:cNvPr id="27" name="">
            <a:extLst xmlns:a="http://schemas.openxmlformats.org/drawingml/2006/main">
              <a:ext uri="{FF2B5EF4-FFF2-40B4-BE49-F238E27FC236}">
                <a16:creationId xmlns:a16="http://schemas.microsoft.com/office/drawing/2014/main" id="{6B09B741-1245-498C-B878-0DE6B2DDBFAF}"/>
              </a:ext>
            </a:extLst>
          </p:cNvPr>
          <p:cNvSpPr>
            <a:spLocks xmlns:a="http://schemas.openxmlformats.org/drawingml/2006/main" noGrp="1"/>
          </p:cNvSpPr>
          <p:nvPr/>
        </p:nvSpPr>
        <p:spPr>
          <a:xfrm xmlns:a="http://schemas.openxmlformats.org/drawingml/2006/main">
            <a:off x="723900" y="4514850"/>
            <a:ext cx="1924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52536"/>
                </a:solidFill>
              </a:defRPr>
            </a:pPr>
            <a:r>
              <a:rPr sz="1200" b="1">
                <a:solidFill>
                  <a:srgbClr val="152536"/>
                </a:solidFill>
              </a:rPr>
              <a:t>분석 이력·Finding</a:t>
            </a:r>
          </a:p>
        </p:txBody>
      </p:sp>
      <p:sp>
        <p:nvSpPr>
          <p:cNvPr id="28" name="">
            <a:extLst xmlns:a="http://schemas.openxmlformats.org/drawingml/2006/main">
              <a:ext uri="{FF2B5EF4-FFF2-40B4-BE49-F238E27FC236}">
                <a16:creationId xmlns:a16="http://schemas.microsoft.com/office/drawing/2014/main" id="{F633A165-3E70-4E06-AB1A-6B4A59F9D143}"/>
              </a:ext>
            </a:extLst>
          </p:cNvPr>
          <p:cNvSpPr>
            <a:spLocks xmlns:a="http://schemas.openxmlformats.org/drawingml/2006/main" noGrp="1"/>
          </p:cNvSpPr>
          <p:nvPr/>
        </p:nvSpPr>
        <p:spPr>
          <a:xfrm xmlns:a="http://schemas.openxmlformats.org/drawingml/2006/main">
            <a:off x="2857500" y="4495800"/>
            <a:ext cx="3295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52536"/>
                </a:solidFill>
              </a:defRPr>
            </a:pPr>
            <a:r>
              <a:rPr sz="1050" b="0">
                <a:solidFill>
                  <a:srgbClr val="152536"/>
                </a:solidFill>
              </a:rPr>
              <a:t>SFR-009·010 / DAR-005·006·008·009</a:t>
            </a:r>
          </a:p>
        </p:txBody>
      </p:sp>
      <p:sp>
        <p:nvSpPr>
          <p:cNvPr id="29" name="">
            <a:extLst xmlns:a="http://schemas.openxmlformats.org/drawingml/2006/main">
              <a:ext uri="{FF2B5EF4-FFF2-40B4-BE49-F238E27FC236}">
                <a16:creationId xmlns:a16="http://schemas.microsoft.com/office/drawing/2014/main" id="{2D08C2FC-61EB-4A74-85B3-878CE291A2F5}"/>
              </a:ext>
            </a:extLst>
          </p:cNvPr>
          <p:cNvSpPr>
            <a:spLocks xmlns:a="http://schemas.openxmlformats.org/drawingml/2006/main" noGrp="1"/>
          </p:cNvSpPr>
          <p:nvPr/>
        </p:nvSpPr>
        <p:spPr>
          <a:xfrm xmlns:a="http://schemas.openxmlformats.org/drawingml/2006/main">
            <a:off x="6381750" y="449580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0758A"/>
                </a:solidFill>
              </a:defRPr>
            </a:pPr>
            <a:r>
              <a:rPr sz="1050" b="0">
                <a:solidFill>
                  <a:srgbClr val="60758A"/>
                </a:solidFill>
              </a:rPr>
              <a:t>상태·provenance·공통 결과·상대경로</a:t>
            </a:r>
          </a:p>
        </p:txBody>
      </p:sp>
      <p:sp>
        <p:nvSpPr>
          <p:cNvPr id="30" name="">
            <a:extLst xmlns:a="http://schemas.openxmlformats.org/drawingml/2006/main">
              <a:ext uri="{FF2B5EF4-FFF2-40B4-BE49-F238E27FC236}">
                <a16:creationId xmlns:a16="http://schemas.microsoft.com/office/drawing/2014/main" id="{9FB6331F-7F43-486D-B4D8-D15D75A8363B}"/>
              </a:ext>
            </a:extLst>
          </p:cNvPr>
          <p:cNvSpPr>
            <a:spLocks xmlns:a="http://schemas.openxmlformats.org/drawingml/2006/main" noGrp="1"/>
          </p:cNvSpPr>
          <p:nvPr/>
        </p:nvSpPr>
        <p:spPr>
          <a:xfrm xmlns:a="http://schemas.openxmlformats.org/drawingml/2006/main">
            <a:off x="10096500" y="4495800"/>
            <a:ext cx="148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EA5"/>
                </a:solidFill>
              </a:defRPr>
            </a:pPr>
            <a:r>
              <a:rPr sz="1050" b="1">
                <a:solidFill>
                  <a:srgbClr val="1F6EA5"/>
                </a:solidFill>
              </a:rPr>
              <a:t>TST-004·007 / QLT-003~005</a:t>
            </a:r>
          </a:p>
        </p:txBody>
      </p:sp>
      <p:sp>
        <p:nvSpPr>
          <p:cNvPr id="31" name="">
            <a:extLst xmlns:a="http://schemas.openxmlformats.org/drawingml/2006/main">
              <a:ext uri="{FF2B5EF4-FFF2-40B4-BE49-F238E27FC236}">
                <a16:creationId xmlns:a16="http://schemas.microsoft.com/office/drawing/2014/main" id="{F752F12E-C267-406B-A0EC-0BECFB279E52}"/>
              </a:ext>
            </a:extLst>
          </p:cNvPr>
          <p:cNvSpPr>
            <a:spLocks xmlns:a="http://schemas.openxmlformats.org/drawingml/2006/main" noGrp="1"/>
          </p:cNvSpPr>
          <p:nvPr/>
        </p:nvSpPr>
        <p:spPr>
          <a:xfrm xmlns:a="http://schemas.openxmlformats.org/drawingml/2006/main">
            <a:off x="609600" y="5181600"/>
            <a:ext cx="10972800" cy="685800"/>
          </a:xfrm>
          <a:prstGeom xmlns:a="http://schemas.openxmlformats.org/drawingml/2006/main" prst="roundRect">
            <a:avLst>
              <a:gd name="adj" fmla="val 16667"/>
            </a:avLst>
          </a:prstGeom>
          <a:solidFill xmlns:a="http://schemas.openxmlformats.org/drawingml/2006/main">
            <a:srgbClr val="F4F8FB"/>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FE9C13C-B51F-4A15-B2A5-15882B84B13B}"/>
              </a:ext>
            </a:extLst>
          </p:cNvPr>
          <p:cNvSpPr>
            <a:spLocks xmlns:a="http://schemas.openxmlformats.org/drawingml/2006/main" noGrp="1"/>
          </p:cNvSpPr>
          <p:nvPr/>
        </p:nvSpPr>
        <p:spPr>
          <a:xfrm xmlns:a="http://schemas.openxmlformats.org/drawingml/2006/main">
            <a:off x="723900" y="5295900"/>
            <a:ext cx="1924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52536"/>
                </a:solidFill>
              </a:defRPr>
            </a:pPr>
            <a:r>
              <a:rPr sz="1200" b="1">
                <a:solidFill>
                  <a:srgbClr val="152536"/>
                </a:solidFill>
              </a:rPr>
              <a:t>KISA 규칙</a:t>
            </a:r>
          </a:p>
        </p:txBody>
      </p:sp>
      <p:sp>
        <p:nvSpPr>
          <p:cNvPr id="33" name="">
            <a:extLst xmlns:a="http://schemas.openxmlformats.org/drawingml/2006/main">
              <a:ext uri="{FF2B5EF4-FFF2-40B4-BE49-F238E27FC236}">
                <a16:creationId xmlns:a16="http://schemas.microsoft.com/office/drawing/2014/main" id="{5437175B-8D32-4B34-B8EB-80A549F3B5D6}"/>
              </a:ext>
            </a:extLst>
          </p:cNvPr>
          <p:cNvSpPr>
            <a:spLocks xmlns:a="http://schemas.openxmlformats.org/drawingml/2006/main" noGrp="1"/>
          </p:cNvSpPr>
          <p:nvPr/>
        </p:nvSpPr>
        <p:spPr>
          <a:xfrm xmlns:a="http://schemas.openxmlformats.org/drawingml/2006/main">
            <a:off x="2857500" y="5276850"/>
            <a:ext cx="3295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52536"/>
                </a:solidFill>
              </a:defRPr>
            </a:pPr>
            <a:r>
              <a:rPr sz="1050" b="0">
                <a:solidFill>
                  <a:srgbClr val="152536"/>
                </a:solidFill>
              </a:rPr>
              <a:t>SFR-011~013 / DAR-007</a:t>
            </a:r>
          </a:p>
        </p:txBody>
      </p:sp>
      <p:sp>
        <p:nvSpPr>
          <p:cNvPr id="34" name="">
            <a:extLst xmlns:a="http://schemas.openxmlformats.org/drawingml/2006/main">
              <a:ext uri="{FF2B5EF4-FFF2-40B4-BE49-F238E27FC236}">
                <a16:creationId xmlns:a16="http://schemas.microsoft.com/office/drawing/2014/main" id="{1B3AB74C-FDB4-46E8-8B39-5756202D1ECE}"/>
              </a:ext>
            </a:extLst>
          </p:cNvPr>
          <p:cNvSpPr>
            <a:spLocks xmlns:a="http://schemas.openxmlformats.org/drawingml/2006/main" noGrp="1"/>
          </p:cNvSpPr>
          <p:nvPr/>
        </p:nvSpPr>
        <p:spPr>
          <a:xfrm xmlns:a="http://schemas.openxmlformats.org/drawingml/2006/main">
            <a:off x="6381750" y="527685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0758A"/>
                </a:solidFill>
              </a:defRPr>
            </a:pPr>
            <a:r>
              <a:rPr sz="1050" b="0">
                <a:solidFill>
                  <a:srgbClr val="60758A"/>
                </a:solidFill>
              </a:rPr>
              <a:t>49개 카탈로그·8개 PARTIAL·언어별 Rule ID 매핑</a:t>
            </a:r>
          </a:p>
        </p:txBody>
      </p:sp>
      <p:sp>
        <p:nvSpPr>
          <p:cNvPr id="35" name="">
            <a:extLst xmlns:a="http://schemas.openxmlformats.org/drawingml/2006/main">
              <a:ext uri="{FF2B5EF4-FFF2-40B4-BE49-F238E27FC236}">
                <a16:creationId xmlns:a16="http://schemas.microsoft.com/office/drawing/2014/main" id="{FB73BB43-DE66-40E9-ABD4-2DB19761A549}"/>
              </a:ext>
            </a:extLst>
          </p:cNvPr>
          <p:cNvSpPr>
            <a:spLocks xmlns:a="http://schemas.openxmlformats.org/drawingml/2006/main" noGrp="1"/>
          </p:cNvSpPr>
          <p:nvPr/>
        </p:nvSpPr>
        <p:spPr>
          <a:xfrm xmlns:a="http://schemas.openxmlformats.org/drawingml/2006/main">
            <a:off x="10096500" y="5276850"/>
            <a:ext cx="148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EA5"/>
                </a:solidFill>
              </a:defRPr>
            </a:pPr>
            <a:r>
              <a:rPr sz="1050" b="1">
                <a:solidFill>
                  <a:srgbClr val="1F6EA5"/>
                </a:solidFill>
              </a:rPr>
              <a:t>TST-005·006 / QLT-002</a:t>
            </a:r>
          </a:p>
        </p:txBody>
      </p:sp>
    </p:spTree>
    <p:extLst>
      <p:ext uri="{BB962C8B-B14F-4D97-AF65-F5344CB8AC3E}">
        <p14:creationId xmlns:p14="http://schemas.microsoft.com/office/powerpoint/2010/main" val="7641116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FFAFE0F3-ED61-48E7-B271-06D4F98E9905}"/>
              </a:ext>
            </a:extLst>
          </p:cNvPr>
          <p:cNvSpPr>
            <a:spLocks xmlns:a="http://schemas.openxmlformats.org/drawingml/2006/main" noGrp="1"/>
          </p:cNvSpPr>
          <p:nvPr/>
        </p:nvSpPr>
        <p:spPr>
          <a:xfrm xmlns:a="http://schemas.openxmlformats.org/drawingml/2006/main">
            <a:off x="609600" y="3619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F6EA5"/>
                </a:solidFill>
              </a:defRPr>
            </a:pPr>
            <a:r>
              <a:rPr sz="975" b="1">
                <a:solidFill>
                  <a:srgbClr val="1F6EA5"/>
                </a:solidFill>
              </a:rPr>
              <a:t>부록 B · 시험·품질·Q&amp;A</a:t>
            </a:r>
          </a:p>
        </p:txBody>
      </p:sp>
      <p:sp>
        <p:nvSpPr>
          <p:cNvPr id="2" name="">
            <a:extLst xmlns:a="http://schemas.openxmlformats.org/drawingml/2006/main">
              <a:ext uri="{FF2B5EF4-FFF2-40B4-BE49-F238E27FC236}">
                <a16:creationId xmlns:a16="http://schemas.microsoft.com/office/drawing/2014/main" id="{151B2937-631C-46DA-908B-9D010BAB1469}"/>
              </a:ext>
            </a:extLst>
          </p:cNvPr>
          <p:cNvSpPr>
            <a:spLocks xmlns:a="http://schemas.openxmlformats.org/drawingml/2006/main" noGrp="1"/>
          </p:cNvSpPr>
          <p:nvPr/>
        </p:nvSpPr>
        <p:spPr>
          <a:xfrm xmlns:a="http://schemas.openxmlformats.org/drawingml/2006/main">
            <a:off x="609600" y="64770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52536"/>
                </a:solidFill>
              </a:defRPr>
            </a:pPr>
            <a:r>
              <a:rPr sz="2550" b="1">
                <a:solidFill>
                  <a:srgbClr val="152536"/>
                </a:solidFill>
              </a:rPr>
              <a:t>시험 근거와 설계 이유를 질문에 바로 연결했습니다</a:t>
            </a:r>
          </a:p>
        </p:txBody>
      </p:sp>
      <p:sp>
        <p:nvSpPr>
          <p:cNvPr id="3" name="">
            <a:extLst xmlns:a="http://schemas.openxmlformats.org/drawingml/2006/main">
              <a:ext uri="{FF2B5EF4-FFF2-40B4-BE49-F238E27FC236}">
                <a16:creationId xmlns:a16="http://schemas.microsoft.com/office/drawing/2014/main" id="{F8A9D2E1-760C-44DB-859C-9B98DA0EB525}"/>
              </a:ext>
            </a:extLst>
          </p:cNvPr>
          <p:cNvSpPr>
            <a:spLocks xmlns:a="http://schemas.openxmlformats.org/drawingml/2006/main" noGrp="1"/>
          </p:cNvSpPr>
          <p:nvPr/>
        </p:nvSpPr>
        <p:spPr>
          <a:xfrm xmlns:a="http://schemas.openxmlformats.org/drawingml/2006/main">
            <a:off x="8534400" y="361950"/>
            <a:ext cx="3048000" cy="266700"/>
          </a:xfrm>
          <a:prstGeom xmlns:a="http://schemas.openxmlformats.org/drawingml/2006/main" prst="roundRect">
            <a:avLst>
              <a:gd name="adj" fmla="val 42857"/>
            </a:avLst>
          </a:prstGeom>
          <a:solidFill xmlns:a="http://schemas.openxmlformats.org/drawingml/2006/main">
            <a:srgbClr val="F4F8F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A039BA4-76DF-4C74-BA96-2539D1683D0B}"/>
              </a:ext>
            </a:extLst>
          </p:cNvPr>
          <p:cNvSpPr>
            <a:spLocks xmlns:a="http://schemas.openxmlformats.org/drawingml/2006/main" noGrp="1"/>
          </p:cNvSpPr>
          <p:nvPr/>
        </p:nvSpPr>
        <p:spPr>
          <a:xfrm xmlns:a="http://schemas.openxmlformats.org/drawingml/2006/main">
            <a:off x="8534400" y="400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60758A"/>
                </a:solidFill>
              </a:defRPr>
            </a:pPr>
            <a:r>
              <a:rPr sz="825" b="1">
                <a:solidFill>
                  <a:srgbClr val="60758A"/>
                </a:solidFill>
              </a:rPr>
              <a:t>TST-001~008 · QLT-001~005</a:t>
            </a:r>
          </a:p>
        </p:txBody>
      </p:sp>
      <p:sp>
        <p:nvSpPr>
          <p:cNvPr id="5" name="">
            <a:extLst xmlns:a="http://schemas.openxmlformats.org/drawingml/2006/main">
              <a:ext uri="{FF2B5EF4-FFF2-40B4-BE49-F238E27FC236}">
                <a16:creationId xmlns:a16="http://schemas.microsoft.com/office/drawing/2014/main" id="{C7B3EC1D-0A60-4804-92AA-EF03F1520D74}"/>
              </a:ext>
            </a:extLst>
          </p:cNvPr>
          <p:cNvSpPr>
            <a:spLocks xmlns:a="http://schemas.openxmlformats.org/drawingml/2006/main" noGrp="1"/>
          </p:cNvSpPr>
          <p:nvPr/>
        </p:nvSpPr>
        <p:spPr>
          <a:xfrm xmlns:a="http://schemas.openxmlformats.org/drawingml/2006/main">
            <a:off x="609600" y="1238250"/>
            <a:ext cx="10972800" cy="0"/>
          </a:xfrm>
          <a:prstGeom xmlns:a="http://schemas.openxmlformats.org/drawingml/2006/main" prst="line">
            <a:avLst/>
          </a:prstGeom>
          <a:noFill xmlns:a="http://schemas.openxmlformats.org/drawingml/2006/main"/>
          <a:ln xmlns:a="http://schemas.openxmlformats.org/drawingml/2006/main" w="9525">
            <a:solidFill>
              <a:srgbClr val="D7E2EA"/>
            </a:solidFill>
            <a:prstDash val="solid"/>
          </a:ln>
        </p:spPr>
      </p:sp>
      <p:sp>
        <p:nvSpPr>
          <p:cNvPr id="6" name="">
            <a:extLst xmlns:a="http://schemas.openxmlformats.org/drawingml/2006/main">
              <a:ext uri="{FF2B5EF4-FFF2-40B4-BE49-F238E27FC236}">
                <a16:creationId xmlns:a16="http://schemas.microsoft.com/office/drawing/2014/main" id="{9E443769-C6B9-4A7E-8506-B295DFCBE6F7}"/>
              </a:ext>
            </a:extLst>
          </p:cNvPr>
          <p:cNvSpPr>
            <a:spLocks xmlns:a="http://schemas.openxmlformats.org/drawingml/2006/main" noGrp="1"/>
          </p:cNvSpPr>
          <p:nvPr/>
        </p:nvSpPr>
        <p:spPr>
          <a:xfrm xmlns:a="http://schemas.openxmlformats.org/drawingml/2006/main">
            <a:off x="609600" y="65532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0758A"/>
                </a:solidFill>
              </a:defRPr>
            </a:pPr>
            <a:r>
              <a:rPr sz="825" b="0">
                <a:solidFill>
                  <a:srgbClr val="60758A"/>
                </a:solidFill>
              </a:rPr>
              <a:t>SecureScan · 중간발표</a:t>
            </a:r>
          </a:p>
        </p:txBody>
      </p:sp>
      <p:sp>
        <p:nvSpPr>
          <p:cNvPr id="7" name="">
            <a:extLst xmlns:a="http://schemas.openxmlformats.org/drawingml/2006/main">
              <a:ext uri="{FF2B5EF4-FFF2-40B4-BE49-F238E27FC236}">
                <a16:creationId xmlns:a16="http://schemas.microsoft.com/office/drawing/2014/main" id="{A0FCEFD7-B77D-4B6D-A2AA-573915A11792}"/>
              </a:ext>
            </a:extLst>
          </p:cNvPr>
          <p:cNvSpPr>
            <a:spLocks xmlns:a="http://schemas.openxmlformats.org/drawingml/2006/main" noGrp="1"/>
          </p:cNvSpPr>
          <p:nvPr/>
        </p:nvSpPr>
        <p:spPr>
          <a:xfrm xmlns:a="http://schemas.openxmlformats.org/drawingml/2006/main">
            <a:off x="11220450" y="65532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0758A"/>
                </a:solidFill>
              </a:defRPr>
            </a:pPr>
            <a:r>
              <a:rPr sz="825" b="1">
                <a:solidFill>
                  <a:srgbClr val="60758A"/>
                </a:solidFill>
              </a:rPr>
              <a:t>10</a:t>
            </a:r>
          </a:p>
        </p:txBody>
      </p:sp>
      <p:sp>
        <p:nvSpPr>
          <p:cNvPr id="8" name="">
            <a:extLst xmlns:a="http://schemas.openxmlformats.org/drawingml/2006/main">
              <a:ext uri="{FF2B5EF4-FFF2-40B4-BE49-F238E27FC236}">
                <a16:creationId xmlns:a16="http://schemas.microsoft.com/office/drawing/2014/main" id="{12F24DB6-F9DC-4CF4-BAEE-A0E5541D1218}"/>
              </a:ext>
            </a:extLst>
          </p:cNvPr>
          <p:cNvSpPr>
            <a:spLocks xmlns:a="http://schemas.openxmlformats.org/drawingml/2006/main" noGrp="1"/>
          </p:cNvSpPr>
          <p:nvPr/>
        </p:nvSpPr>
        <p:spPr>
          <a:xfrm xmlns:a="http://schemas.openxmlformats.org/drawingml/2006/main">
            <a:off x="609600" y="1562100"/>
            <a:ext cx="5219700" cy="4343400"/>
          </a:xfrm>
          <a:prstGeom xmlns:a="http://schemas.openxmlformats.org/drawingml/2006/main" prst="roundRect">
            <a:avLst>
              <a:gd name="adj" fmla="val 2632"/>
            </a:avLst>
          </a:prstGeom>
          <a:solidFill xmlns:a="http://schemas.openxmlformats.org/drawingml/2006/main">
            <a:srgbClr val="F4F8FB"/>
          </a:solidFill>
          <a:ln xmlns:a="http://schemas.openxmlformats.org/drawingml/2006/main" w="9525">
            <a:solidFill>
              <a:srgbClr val="D7E2EA"/>
            </a:solidFill>
            <a:prstDash val="solid"/>
          </a:ln>
        </p:spPr>
      </p:sp>
      <p:sp>
        <p:nvSpPr>
          <p:cNvPr id="9" name="">
            <a:extLst xmlns:a="http://schemas.openxmlformats.org/drawingml/2006/main">
              <a:ext uri="{FF2B5EF4-FFF2-40B4-BE49-F238E27FC236}">
                <a16:creationId xmlns:a16="http://schemas.microsoft.com/office/drawing/2014/main" id="{23394A78-BFC7-4396-A6B2-3B1C4D246B6D}"/>
              </a:ext>
            </a:extLst>
          </p:cNvPr>
          <p:cNvSpPr>
            <a:spLocks xmlns:a="http://schemas.openxmlformats.org/drawingml/2006/main" noGrp="1"/>
          </p:cNvSpPr>
          <p:nvPr/>
        </p:nvSpPr>
        <p:spPr>
          <a:xfrm xmlns:a="http://schemas.openxmlformats.org/drawingml/2006/main">
            <a:off x="876300" y="18288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52536"/>
                </a:solidFill>
              </a:defRPr>
            </a:pPr>
            <a:r>
              <a:rPr sz="1650" b="1">
                <a:solidFill>
                  <a:srgbClr val="152536"/>
                </a:solidFill>
              </a:rPr>
              <a:t>자동 검증 근거</a:t>
            </a:r>
          </a:p>
        </p:txBody>
      </p:sp>
      <p:sp>
        <p:nvSpPr>
          <p:cNvPr id="10" name="">
            <a:extLst xmlns:a="http://schemas.openxmlformats.org/drawingml/2006/main">
              <a:ext uri="{FF2B5EF4-FFF2-40B4-BE49-F238E27FC236}">
                <a16:creationId xmlns:a16="http://schemas.microsoft.com/office/drawing/2014/main" id="{F6CCEE7E-2A81-46D3-85BC-0686F15C8E05}"/>
              </a:ext>
            </a:extLst>
          </p:cNvPr>
          <p:cNvSpPr>
            <a:spLocks xmlns:a="http://schemas.openxmlformats.org/drawingml/2006/main" noGrp="1"/>
          </p:cNvSpPr>
          <p:nvPr/>
        </p:nvSpPr>
        <p:spPr>
          <a:xfrm xmlns:a="http://schemas.openxmlformats.org/drawingml/2006/main">
            <a:off x="876300" y="2352675"/>
            <a:ext cx="66675" cy="514350"/>
          </a:xfrm>
          <a:prstGeom xmlns:a="http://schemas.openxmlformats.org/drawingml/2006/main" prst="roundRect">
            <a:avLst>
              <a:gd name="adj" fmla="val 50000"/>
            </a:avLst>
          </a:prstGeom>
          <a:solidFill xmlns:a="http://schemas.openxmlformats.org/drawingml/2006/main">
            <a:srgbClr val="1F6EA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17B5895-E352-4D59-8431-07785AD69F6F}"/>
              </a:ext>
            </a:extLst>
          </p:cNvPr>
          <p:cNvSpPr>
            <a:spLocks xmlns:a="http://schemas.openxmlformats.org/drawingml/2006/main" noGrp="1"/>
          </p:cNvSpPr>
          <p:nvPr/>
        </p:nvSpPr>
        <p:spPr>
          <a:xfrm xmlns:a="http://schemas.openxmlformats.org/drawingml/2006/main">
            <a:off x="1066800" y="23241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52536"/>
                </a:solidFill>
              </a:defRPr>
            </a:pPr>
            <a:r>
              <a:rPr sz="1425" b="1">
                <a:solidFill>
                  <a:srgbClr val="152536"/>
                </a:solidFill>
              </a:rPr>
              <a:t>인증·권한</a:t>
            </a:r>
          </a:p>
        </p:txBody>
      </p:sp>
      <p:sp>
        <p:nvSpPr>
          <p:cNvPr id="12" name="">
            <a:extLst xmlns:a="http://schemas.openxmlformats.org/drawingml/2006/main">
              <a:ext uri="{FF2B5EF4-FFF2-40B4-BE49-F238E27FC236}">
                <a16:creationId xmlns:a16="http://schemas.microsoft.com/office/drawing/2014/main" id="{22D75B6F-320A-4AA1-9C73-83C576ED4A47}"/>
              </a:ext>
            </a:extLst>
          </p:cNvPr>
          <p:cNvSpPr>
            <a:spLocks xmlns:a="http://schemas.openxmlformats.org/drawingml/2006/main" noGrp="1"/>
          </p:cNvSpPr>
          <p:nvPr/>
        </p:nvSpPr>
        <p:spPr>
          <a:xfrm xmlns:a="http://schemas.openxmlformats.org/drawingml/2006/main">
            <a:off x="1066800" y="26098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0758A"/>
                </a:solidFill>
              </a:defRPr>
            </a:pPr>
            <a:r>
              <a:rPr sz="1125" b="0">
                <a:solidFill>
                  <a:srgbClr val="60758A"/>
                </a:solidFill>
              </a:rPr>
              <a:t>쿠키 위변조·만료, CSRF, ADMIN/USER 경계</a:t>
            </a:r>
          </a:p>
        </p:txBody>
      </p:sp>
      <p:sp>
        <p:nvSpPr>
          <p:cNvPr id="13" name="">
            <a:extLst xmlns:a="http://schemas.openxmlformats.org/drawingml/2006/main">
              <a:ext uri="{FF2B5EF4-FFF2-40B4-BE49-F238E27FC236}">
                <a16:creationId xmlns:a16="http://schemas.microsoft.com/office/drawing/2014/main" id="{0EDC52A8-74AA-48E4-88A1-A1A40C730043}"/>
              </a:ext>
            </a:extLst>
          </p:cNvPr>
          <p:cNvSpPr>
            <a:spLocks xmlns:a="http://schemas.openxmlformats.org/drawingml/2006/main" noGrp="1"/>
          </p:cNvSpPr>
          <p:nvPr/>
        </p:nvSpPr>
        <p:spPr>
          <a:xfrm xmlns:a="http://schemas.openxmlformats.org/drawingml/2006/main">
            <a:off x="876300" y="3019425"/>
            <a:ext cx="66675" cy="514350"/>
          </a:xfrm>
          <a:prstGeom xmlns:a="http://schemas.openxmlformats.org/drawingml/2006/main" prst="roundRect">
            <a:avLst>
              <a:gd name="adj" fmla="val 50000"/>
            </a:avLst>
          </a:prstGeom>
          <a:solidFill xmlns:a="http://schemas.openxmlformats.org/drawingml/2006/main">
            <a:srgbClr val="1F6EA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4FA868C-662F-480D-9E90-529EC4241FC8}"/>
              </a:ext>
            </a:extLst>
          </p:cNvPr>
          <p:cNvSpPr>
            <a:spLocks xmlns:a="http://schemas.openxmlformats.org/drawingml/2006/main" noGrp="1"/>
          </p:cNvSpPr>
          <p:nvPr/>
        </p:nvSpPr>
        <p:spPr>
          <a:xfrm xmlns:a="http://schemas.openxmlformats.org/drawingml/2006/main">
            <a:off x="1066800" y="299085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52536"/>
                </a:solidFill>
              </a:defRPr>
            </a:pPr>
            <a:r>
              <a:rPr sz="1425" b="1">
                <a:solidFill>
                  <a:srgbClr val="152536"/>
                </a:solidFill>
              </a:rPr>
              <a:t>업로드·격리</a:t>
            </a:r>
          </a:p>
        </p:txBody>
      </p:sp>
      <p:sp>
        <p:nvSpPr>
          <p:cNvPr id="15" name="">
            <a:extLst xmlns:a="http://schemas.openxmlformats.org/drawingml/2006/main">
              <a:ext uri="{FF2B5EF4-FFF2-40B4-BE49-F238E27FC236}">
                <a16:creationId xmlns:a16="http://schemas.microsoft.com/office/drawing/2014/main" id="{3F9D8F11-3F08-487A-AA3E-37EA7C3D2D2C}"/>
              </a:ext>
            </a:extLst>
          </p:cNvPr>
          <p:cNvSpPr>
            <a:spLocks xmlns:a="http://schemas.openxmlformats.org/drawingml/2006/main" noGrp="1"/>
          </p:cNvSpPr>
          <p:nvPr/>
        </p:nvSpPr>
        <p:spPr>
          <a:xfrm xmlns:a="http://schemas.openxmlformats.org/drawingml/2006/main">
            <a:off x="1066800" y="32766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0758A"/>
                </a:solidFill>
              </a:defRPr>
            </a:pPr>
            <a:r>
              <a:rPr sz="1125" b="0">
                <a:solidFill>
                  <a:srgbClr val="60758A"/>
                </a:solidFill>
              </a:rPr>
              <a:t>ZIP Slip·링크·암호화·크기·작업공간 삭제</a:t>
            </a:r>
          </a:p>
        </p:txBody>
      </p:sp>
      <p:sp>
        <p:nvSpPr>
          <p:cNvPr id="16" name="">
            <a:extLst xmlns:a="http://schemas.openxmlformats.org/drawingml/2006/main">
              <a:ext uri="{FF2B5EF4-FFF2-40B4-BE49-F238E27FC236}">
                <a16:creationId xmlns:a16="http://schemas.microsoft.com/office/drawing/2014/main" id="{3A73AA8D-75A2-4DF1-9C31-E4FCD2085AF6}"/>
              </a:ext>
            </a:extLst>
          </p:cNvPr>
          <p:cNvSpPr>
            <a:spLocks xmlns:a="http://schemas.openxmlformats.org/drawingml/2006/main" noGrp="1"/>
          </p:cNvSpPr>
          <p:nvPr/>
        </p:nvSpPr>
        <p:spPr>
          <a:xfrm xmlns:a="http://schemas.openxmlformats.org/drawingml/2006/main">
            <a:off x="876300" y="3686175"/>
            <a:ext cx="66675" cy="514350"/>
          </a:xfrm>
          <a:prstGeom xmlns:a="http://schemas.openxmlformats.org/drawingml/2006/main" prst="roundRect">
            <a:avLst>
              <a:gd name="adj" fmla="val 50000"/>
            </a:avLst>
          </a:prstGeom>
          <a:solidFill xmlns:a="http://schemas.openxmlformats.org/drawingml/2006/main">
            <a:srgbClr val="23855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594DE54-823D-42AB-80A0-B451F3A760B7}"/>
              </a:ext>
            </a:extLst>
          </p:cNvPr>
          <p:cNvSpPr>
            <a:spLocks xmlns:a="http://schemas.openxmlformats.org/drawingml/2006/main" noGrp="1"/>
          </p:cNvSpPr>
          <p:nvPr/>
        </p:nvSpPr>
        <p:spPr>
          <a:xfrm xmlns:a="http://schemas.openxmlformats.org/drawingml/2006/main">
            <a:off x="1066800" y="36576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52536"/>
                </a:solidFill>
              </a:defRPr>
            </a:pPr>
            <a:r>
              <a:rPr sz="1425" b="1">
                <a:solidFill>
                  <a:srgbClr val="152536"/>
                </a:solidFill>
              </a:rPr>
              <a:t>실제 분석</a:t>
            </a:r>
          </a:p>
        </p:txBody>
      </p:sp>
      <p:sp>
        <p:nvSpPr>
          <p:cNvPr id="18" name="">
            <a:extLst xmlns:a="http://schemas.openxmlformats.org/drawingml/2006/main">
              <a:ext uri="{FF2B5EF4-FFF2-40B4-BE49-F238E27FC236}">
                <a16:creationId xmlns:a16="http://schemas.microsoft.com/office/drawing/2014/main" id="{4D73A0BE-CCE5-437E-8D30-A0C4CF179968}"/>
              </a:ext>
            </a:extLst>
          </p:cNvPr>
          <p:cNvSpPr>
            <a:spLocks xmlns:a="http://schemas.openxmlformats.org/drawingml/2006/main" noGrp="1"/>
          </p:cNvSpPr>
          <p:nvPr/>
        </p:nvSpPr>
        <p:spPr>
          <a:xfrm xmlns:a="http://schemas.openxmlformats.org/drawingml/2006/main">
            <a:off x="1066800" y="39433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0758A"/>
                </a:solidFill>
              </a:defRPr>
            </a:pPr>
            <a:r>
              <a:rPr sz="1125" b="0">
                <a:solidFill>
                  <a:srgbClr val="60758A"/>
                </a:solidFill>
              </a:rPr>
              <a:t>3개 언어 취약·정상 샘플과 Semgrep 실행</a:t>
            </a:r>
          </a:p>
        </p:txBody>
      </p:sp>
      <p:sp>
        <p:nvSpPr>
          <p:cNvPr id="19" name="">
            <a:extLst xmlns:a="http://schemas.openxmlformats.org/drawingml/2006/main">
              <a:ext uri="{FF2B5EF4-FFF2-40B4-BE49-F238E27FC236}">
                <a16:creationId xmlns:a16="http://schemas.microsoft.com/office/drawing/2014/main" id="{6CE29CAA-641A-4978-8000-4C30919AC36B}"/>
              </a:ext>
            </a:extLst>
          </p:cNvPr>
          <p:cNvSpPr>
            <a:spLocks xmlns:a="http://schemas.openxmlformats.org/drawingml/2006/main" noGrp="1"/>
          </p:cNvSpPr>
          <p:nvPr/>
        </p:nvSpPr>
        <p:spPr>
          <a:xfrm xmlns:a="http://schemas.openxmlformats.org/drawingml/2006/main">
            <a:off x="876300" y="4352925"/>
            <a:ext cx="66675" cy="514350"/>
          </a:xfrm>
          <a:prstGeom xmlns:a="http://schemas.openxmlformats.org/drawingml/2006/main" prst="roundRect">
            <a:avLst>
              <a:gd name="adj" fmla="val 50000"/>
            </a:avLst>
          </a:prstGeom>
          <a:solidFill xmlns:a="http://schemas.openxmlformats.org/drawingml/2006/main">
            <a:srgbClr val="1F6EA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903AE47-E746-419F-A430-4E07C5266ECC}"/>
              </a:ext>
            </a:extLst>
          </p:cNvPr>
          <p:cNvSpPr>
            <a:spLocks xmlns:a="http://schemas.openxmlformats.org/drawingml/2006/main" noGrp="1"/>
          </p:cNvSpPr>
          <p:nvPr/>
        </p:nvSpPr>
        <p:spPr>
          <a:xfrm xmlns:a="http://schemas.openxmlformats.org/drawingml/2006/main">
            <a:off x="1066800" y="432435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52536"/>
                </a:solidFill>
              </a:defRPr>
            </a:pPr>
            <a:r>
              <a:rPr sz="1425" b="1">
                <a:solidFill>
                  <a:srgbClr val="152536"/>
                </a:solidFill>
              </a:rPr>
              <a:t>데이터 품질</a:t>
            </a:r>
          </a:p>
        </p:txBody>
      </p:sp>
      <p:sp>
        <p:nvSpPr>
          <p:cNvPr id="21" name="">
            <a:extLst xmlns:a="http://schemas.openxmlformats.org/drawingml/2006/main">
              <a:ext uri="{FF2B5EF4-FFF2-40B4-BE49-F238E27FC236}">
                <a16:creationId xmlns:a16="http://schemas.microsoft.com/office/drawing/2014/main" id="{7E1EB5DE-9C65-4518-9E62-250A8307F1E1}"/>
              </a:ext>
            </a:extLst>
          </p:cNvPr>
          <p:cNvSpPr>
            <a:spLocks xmlns:a="http://schemas.openxmlformats.org/drawingml/2006/main" noGrp="1"/>
          </p:cNvSpPr>
          <p:nvPr/>
        </p:nvSpPr>
        <p:spPr>
          <a:xfrm xmlns:a="http://schemas.openxmlformats.org/drawingml/2006/main">
            <a:off x="1066800" y="46101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0758A"/>
                </a:solidFill>
              </a:defRPr>
            </a:pPr>
            <a:r>
              <a:rPr sz="1125" b="0">
                <a:solidFill>
                  <a:srgbClr val="60758A"/>
                </a:solidFill>
              </a:rPr>
              <a:t>FK·상대경로·Rule 언어·Finding 정합성</a:t>
            </a:r>
          </a:p>
        </p:txBody>
      </p:sp>
      <p:sp>
        <p:nvSpPr>
          <p:cNvPr id="22" name="">
            <a:extLst xmlns:a="http://schemas.openxmlformats.org/drawingml/2006/main">
              <a:ext uri="{FF2B5EF4-FFF2-40B4-BE49-F238E27FC236}">
                <a16:creationId xmlns:a16="http://schemas.microsoft.com/office/drawing/2014/main" id="{26097EFE-AEAE-4CE2-B5DC-A3D46BDE855C}"/>
              </a:ext>
            </a:extLst>
          </p:cNvPr>
          <p:cNvSpPr>
            <a:spLocks xmlns:a="http://schemas.openxmlformats.org/drawingml/2006/main" noGrp="1"/>
          </p:cNvSpPr>
          <p:nvPr/>
        </p:nvSpPr>
        <p:spPr>
          <a:xfrm xmlns:a="http://schemas.openxmlformats.org/drawingml/2006/main">
            <a:off x="876300" y="5019675"/>
            <a:ext cx="66675" cy="514350"/>
          </a:xfrm>
          <a:prstGeom xmlns:a="http://schemas.openxmlformats.org/drawingml/2006/main" prst="roundRect">
            <a:avLst>
              <a:gd name="adj" fmla="val 50000"/>
            </a:avLst>
          </a:prstGeom>
          <a:solidFill xmlns:a="http://schemas.openxmlformats.org/drawingml/2006/main">
            <a:srgbClr val="1F6EA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F1AB4A0-4164-40FF-9963-2B13DEC25BF8}"/>
              </a:ext>
            </a:extLst>
          </p:cNvPr>
          <p:cNvSpPr>
            <a:spLocks xmlns:a="http://schemas.openxmlformats.org/drawingml/2006/main" noGrp="1"/>
          </p:cNvSpPr>
          <p:nvPr/>
        </p:nvSpPr>
        <p:spPr>
          <a:xfrm xmlns:a="http://schemas.openxmlformats.org/drawingml/2006/main">
            <a:off x="1066800" y="49911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52536"/>
                </a:solidFill>
              </a:defRPr>
            </a:pPr>
            <a:r>
              <a:rPr sz="1425" b="1">
                <a:solidFill>
                  <a:srgbClr val="152536"/>
                </a:solidFill>
              </a:rPr>
              <a:t>구조 품질</a:t>
            </a:r>
          </a:p>
        </p:txBody>
      </p:sp>
      <p:sp>
        <p:nvSpPr>
          <p:cNvPr id="24" name="">
            <a:extLst xmlns:a="http://schemas.openxmlformats.org/drawingml/2006/main">
              <a:ext uri="{FF2B5EF4-FFF2-40B4-BE49-F238E27FC236}">
                <a16:creationId xmlns:a16="http://schemas.microsoft.com/office/drawing/2014/main" id="{C238C6B2-E525-4C10-B1E5-A2ADA71E27B2}"/>
              </a:ext>
            </a:extLst>
          </p:cNvPr>
          <p:cNvSpPr>
            <a:spLocks xmlns:a="http://schemas.openxmlformats.org/drawingml/2006/main" noGrp="1"/>
          </p:cNvSpPr>
          <p:nvPr/>
        </p:nvSpPr>
        <p:spPr>
          <a:xfrm xmlns:a="http://schemas.openxmlformats.org/drawingml/2006/main">
            <a:off x="1066800" y="52768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0758A"/>
                </a:solidFill>
              </a:defRPr>
            </a:pPr>
            <a:r>
              <a:rPr sz="1125" b="0">
                <a:solidFill>
                  <a:srgbClr val="60758A"/>
                </a:solidFill>
              </a:rPr>
              <a:t>책임별 모듈·항목별 YAML·공통 pipeline</a:t>
            </a:r>
          </a:p>
        </p:txBody>
      </p:sp>
      <p:sp>
        <p:nvSpPr>
          <p:cNvPr id="25" name="">
            <a:extLst xmlns:a="http://schemas.openxmlformats.org/drawingml/2006/main">
              <a:ext uri="{FF2B5EF4-FFF2-40B4-BE49-F238E27FC236}">
                <a16:creationId xmlns:a16="http://schemas.microsoft.com/office/drawing/2014/main" id="{71996885-7888-4EFF-8B62-F4F4D187E10B}"/>
              </a:ext>
            </a:extLst>
          </p:cNvPr>
          <p:cNvSpPr>
            <a:spLocks xmlns:a="http://schemas.openxmlformats.org/drawingml/2006/main" noGrp="1"/>
          </p:cNvSpPr>
          <p:nvPr/>
        </p:nvSpPr>
        <p:spPr>
          <a:xfrm xmlns:a="http://schemas.openxmlformats.org/drawingml/2006/main">
            <a:off x="6134100" y="1562100"/>
            <a:ext cx="5448300" cy="4343400"/>
          </a:xfrm>
          <a:prstGeom xmlns:a="http://schemas.openxmlformats.org/drawingml/2006/main" prst="roundRect">
            <a:avLst>
              <a:gd name="adj" fmla="val 2632"/>
            </a:avLst>
          </a:prstGeom>
          <a:solidFill xmlns:a="http://schemas.openxmlformats.org/drawingml/2006/main">
            <a:srgbClr val="0B223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DC2FB3C-C97F-4363-88A3-B334CFA6F756}"/>
              </a:ext>
            </a:extLst>
          </p:cNvPr>
          <p:cNvSpPr>
            <a:spLocks xmlns:a="http://schemas.openxmlformats.org/drawingml/2006/main" noGrp="1"/>
          </p:cNvSpPr>
          <p:nvPr/>
        </p:nvSpPr>
        <p:spPr>
          <a:xfrm xmlns:a="http://schemas.openxmlformats.org/drawingml/2006/main">
            <a:off x="6419850" y="18288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예상 질문과 한 문장 답변</a:t>
            </a:r>
          </a:p>
        </p:txBody>
      </p:sp>
      <p:sp>
        <p:nvSpPr>
          <p:cNvPr id="27" name="">
            <a:extLst xmlns:a="http://schemas.openxmlformats.org/drawingml/2006/main">
              <a:ext uri="{FF2B5EF4-FFF2-40B4-BE49-F238E27FC236}">
                <a16:creationId xmlns:a16="http://schemas.microsoft.com/office/drawing/2014/main" id="{A15EFBF5-C8C1-4E59-A0C8-4C320AF03FF6}"/>
              </a:ext>
            </a:extLst>
          </p:cNvPr>
          <p:cNvSpPr>
            <a:spLocks xmlns:a="http://schemas.openxmlformats.org/drawingml/2006/main" noGrp="1"/>
          </p:cNvSpPr>
          <p:nvPr/>
        </p:nvSpPr>
        <p:spPr>
          <a:xfrm xmlns:a="http://schemas.openxmlformats.org/drawingml/2006/main">
            <a:off x="6419850" y="23241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9CC5DF"/>
                </a:solidFill>
              </a:defRPr>
            </a:pPr>
            <a:r>
              <a:rPr sz="1125" b="1">
                <a:solidFill>
                  <a:srgbClr val="9CC5DF"/>
                </a:solidFill>
              </a:rPr>
              <a:t>왜 bcrypt인가?</a:t>
            </a:r>
          </a:p>
        </p:txBody>
      </p:sp>
      <p:sp>
        <p:nvSpPr>
          <p:cNvPr id="28" name="">
            <a:extLst xmlns:a="http://schemas.openxmlformats.org/drawingml/2006/main">
              <a:ext uri="{FF2B5EF4-FFF2-40B4-BE49-F238E27FC236}">
                <a16:creationId xmlns:a16="http://schemas.microsoft.com/office/drawing/2014/main" id="{A75E7B5E-26F0-4A98-B9CE-A828637A2C88}"/>
              </a:ext>
            </a:extLst>
          </p:cNvPr>
          <p:cNvSpPr>
            <a:spLocks xmlns:a="http://schemas.openxmlformats.org/drawingml/2006/main" noGrp="1"/>
          </p:cNvSpPr>
          <p:nvPr/>
        </p:nvSpPr>
        <p:spPr>
          <a:xfrm xmlns:a="http://schemas.openxmlformats.org/drawingml/2006/main">
            <a:off x="8172450" y="2305050"/>
            <a:ext cx="3028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FFFFFF"/>
                </a:solidFill>
              </a:defRPr>
            </a:pPr>
            <a:r>
              <a:rPr sz="1050" b="0">
                <a:solidFill>
                  <a:srgbClr val="FFFFFF"/>
                </a:solidFill>
              </a:rPr>
              <a:t>비밀번호 원문을 복원하지 않고 검증하기 위해서입니다.</a:t>
            </a:r>
          </a:p>
        </p:txBody>
      </p:sp>
      <p:sp>
        <p:nvSpPr>
          <p:cNvPr id="29" name="">
            <a:extLst xmlns:a="http://schemas.openxmlformats.org/drawingml/2006/main">
              <a:ext uri="{FF2B5EF4-FFF2-40B4-BE49-F238E27FC236}">
                <a16:creationId xmlns:a16="http://schemas.microsoft.com/office/drawing/2014/main" id="{66B1354A-59D7-4DFB-B1CA-2BD7380C20BB}"/>
              </a:ext>
            </a:extLst>
          </p:cNvPr>
          <p:cNvSpPr>
            <a:spLocks xmlns:a="http://schemas.openxmlformats.org/drawingml/2006/main" noGrp="1"/>
          </p:cNvSpPr>
          <p:nvPr/>
        </p:nvSpPr>
        <p:spPr>
          <a:xfrm xmlns:a="http://schemas.openxmlformats.org/drawingml/2006/main">
            <a:off x="6419850" y="2781300"/>
            <a:ext cx="4781550" cy="0"/>
          </a:xfrm>
          <a:prstGeom xmlns:a="http://schemas.openxmlformats.org/drawingml/2006/main" prst="line">
            <a:avLst/>
          </a:prstGeom>
          <a:noFill xmlns:a="http://schemas.openxmlformats.org/drawingml/2006/main"/>
          <a:ln xmlns:a="http://schemas.openxmlformats.org/drawingml/2006/main" w="9525">
            <a:solidFill>
              <a:srgbClr val="31516A"/>
            </a:solidFill>
            <a:prstDash val="solid"/>
          </a:ln>
        </p:spPr>
      </p:sp>
      <p:sp>
        <p:nvSpPr>
          <p:cNvPr id="30" name="">
            <a:extLst xmlns:a="http://schemas.openxmlformats.org/drawingml/2006/main">
              <a:ext uri="{FF2B5EF4-FFF2-40B4-BE49-F238E27FC236}">
                <a16:creationId xmlns:a16="http://schemas.microsoft.com/office/drawing/2014/main" id="{02249D23-5C9B-4103-9F3F-0226B09926CC}"/>
              </a:ext>
            </a:extLst>
          </p:cNvPr>
          <p:cNvSpPr>
            <a:spLocks xmlns:a="http://schemas.openxmlformats.org/drawingml/2006/main" noGrp="1"/>
          </p:cNvSpPr>
          <p:nvPr/>
        </p:nvSpPr>
        <p:spPr>
          <a:xfrm xmlns:a="http://schemas.openxmlformats.org/drawingml/2006/main">
            <a:off x="6419850" y="2990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9CC5DF"/>
                </a:solidFill>
              </a:defRPr>
            </a:pPr>
            <a:r>
              <a:rPr sz="1125" b="1">
                <a:solidFill>
                  <a:srgbClr val="9CC5DF"/>
                </a:solidFill>
              </a:rPr>
              <a:t>왜 SQLite인가?</a:t>
            </a:r>
          </a:p>
        </p:txBody>
      </p:sp>
      <p:sp>
        <p:nvSpPr>
          <p:cNvPr id="31" name="">
            <a:extLst xmlns:a="http://schemas.openxmlformats.org/drawingml/2006/main">
              <a:ext uri="{FF2B5EF4-FFF2-40B4-BE49-F238E27FC236}">
                <a16:creationId xmlns:a16="http://schemas.microsoft.com/office/drawing/2014/main" id="{5C11B438-A15B-4D99-9056-E554901515EC}"/>
              </a:ext>
            </a:extLst>
          </p:cNvPr>
          <p:cNvSpPr>
            <a:spLocks xmlns:a="http://schemas.openxmlformats.org/drawingml/2006/main" noGrp="1"/>
          </p:cNvSpPr>
          <p:nvPr/>
        </p:nvSpPr>
        <p:spPr>
          <a:xfrm xmlns:a="http://schemas.openxmlformats.org/drawingml/2006/main">
            <a:off x="8172450" y="2971800"/>
            <a:ext cx="3028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FFFFFF"/>
                </a:solidFill>
              </a:defRPr>
            </a:pPr>
            <a:r>
              <a:rPr sz="1050" b="0">
                <a:solidFill>
                  <a:srgbClr val="FFFFFF"/>
                </a:solidFill>
              </a:rPr>
              <a:t>부트캠프 MVP의 설치 복잡도를 낮추고 SQLAlchemy로 교체 여지를 남겼습니다.</a:t>
            </a:r>
          </a:p>
        </p:txBody>
      </p:sp>
      <p:sp>
        <p:nvSpPr>
          <p:cNvPr id="32" name="">
            <a:extLst xmlns:a="http://schemas.openxmlformats.org/drawingml/2006/main">
              <a:ext uri="{FF2B5EF4-FFF2-40B4-BE49-F238E27FC236}">
                <a16:creationId xmlns:a16="http://schemas.microsoft.com/office/drawing/2014/main" id="{43BE7A50-2D0C-4B0F-A00C-17C242DF18DA}"/>
              </a:ext>
            </a:extLst>
          </p:cNvPr>
          <p:cNvSpPr>
            <a:spLocks xmlns:a="http://schemas.openxmlformats.org/drawingml/2006/main" noGrp="1"/>
          </p:cNvSpPr>
          <p:nvPr/>
        </p:nvSpPr>
        <p:spPr>
          <a:xfrm xmlns:a="http://schemas.openxmlformats.org/drawingml/2006/main">
            <a:off x="6419850" y="3448050"/>
            <a:ext cx="4781550" cy="0"/>
          </a:xfrm>
          <a:prstGeom xmlns:a="http://schemas.openxmlformats.org/drawingml/2006/main" prst="line">
            <a:avLst/>
          </a:prstGeom>
          <a:noFill xmlns:a="http://schemas.openxmlformats.org/drawingml/2006/main"/>
          <a:ln xmlns:a="http://schemas.openxmlformats.org/drawingml/2006/main" w="9525">
            <a:solidFill>
              <a:srgbClr val="31516A"/>
            </a:solidFill>
            <a:prstDash val="solid"/>
          </a:ln>
        </p:spPr>
      </p:sp>
      <p:sp>
        <p:nvSpPr>
          <p:cNvPr id="33" name="">
            <a:extLst xmlns:a="http://schemas.openxmlformats.org/drawingml/2006/main">
              <a:ext uri="{FF2B5EF4-FFF2-40B4-BE49-F238E27FC236}">
                <a16:creationId xmlns:a16="http://schemas.microsoft.com/office/drawing/2014/main" id="{579C8A2C-4048-4A6B-A162-E04E44FDE073}"/>
              </a:ext>
            </a:extLst>
          </p:cNvPr>
          <p:cNvSpPr>
            <a:spLocks xmlns:a="http://schemas.openxmlformats.org/drawingml/2006/main" noGrp="1"/>
          </p:cNvSpPr>
          <p:nvPr/>
        </p:nvSpPr>
        <p:spPr>
          <a:xfrm xmlns:a="http://schemas.openxmlformats.org/drawingml/2006/main">
            <a:off x="6419850" y="36576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9CC5DF"/>
                </a:solidFill>
              </a:defRPr>
            </a:pPr>
            <a:r>
              <a:rPr sz="1125" b="1">
                <a:solidFill>
                  <a:srgbClr val="9CC5DF"/>
                </a:solidFill>
              </a:rPr>
              <a:t>ZIP 원본도 삭제하나?</a:t>
            </a:r>
          </a:p>
        </p:txBody>
      </p:sp>
      <p:sp>
        <p:nvSpPr>
          <p:cNvPr id="34" name="">
            <a:extLst xmlns:a="http://schemas.openxmlformats.org/drawingml/2006/main">
              <a:ext uri="{FF2B5EF4-FFF2-40B4-BE49-F238E27FC236}">
                <a16:creationId xmlns:a16="http://schemas.microsoft.com/office/drawing/2014/main" id="{AD8946E3-741D-4BF8-A45F-39FDD5E2ED55}"/>
              </a:ext>
            </a:extLst>
          </p:cNvPr>
          <p:cNvSpPr>
            <a:spLocks xmlns:a="http://schemas.openxmlformats.org/drawingml/2006/main" noGrp="1"/>
          </p:cNvSpPr>
          <p:nvPr/>
        </p:nvSpPr>
        <p:spPr>
          <a:xfrm xmlns:a="http://schemas.openxmlformats.org/drawingml/2006/main">
            <a:off x="8172450" y="3638550"/>
            <a:ext cx="3028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FFFFFF"/>
                </a:solidFill>
              </a:defRPr>
            </a:pPr>
            <a:r>
              <a:rPr sz="1050" b="0">
                <a:solidFill>
                  <a:srgbClr val="FFFFFF"/>
                </a:solidFill>
              </a:rPr>
              <a:t>검증된 프로젝트 소스는 보관하고 분석용 임시 복사본만 삭제합니다.</a:t>
            </a:r>
          </a:p>
        </p:txBody>
      </p:sp>
      <p:sp>
        <p:nvSpPr>
          <p:cNvPr id="35" name="">
            <a:extLst xmlns:a="http://schemas.openxmlformats.org/drawingml/2006/main">
              <a:ext uri="{FF2B5EF4-FFF2-40B4-BE49-F238E27FC236}">
                <a16:creationId xmlns:a16="http://schemas.microsoft.com/office/drawing/2014/main" id="{26C929EA-F423-4AB7-BD99-2D3B4D847EA3}"/>
              </a:ext>
            </a:extLst>
          </p:cNvPr>
          <p:cNvSpPr>
            <a:spLocks xmlns:a="http://schemas.openxmlformats.org/drawingml/2006/main" noGrp="1"/>
          </p:cNvSpPr>
          <p:nvPr/>
        </p:nvSpPr>
        <p:spPr>
          <a:xfrm xmlns:a="http://schemas.openxmlformats.org/drawingml/2006/main">
            <a:off x="6419850" y="4114800"/>
            <a:ext cx="4781550" cy="0"/>
          </a:xfrm>
          <a:prstGeom xmlns:a="http://schemas.openxmlformats.org/drawingml/2006/main" prst="line">
            <a:avLst/>
          </a:prstGeom>
          <a:noFill xmlns:a="http://schemas.openxmlformats.org/drawingml/2006/main"/>
          <a:ln xmlns:a="http://schemas.openxmlformats.org/drawingml/2006/main" w="9525">
            <a:solidFill>
              <a:srgbClr val="31516A"/>
            </a:solidFill>
            <a:prstDash val="solid"/>
          </a:ln>
        </p:spPr>
      </p:sp>
      <p:sp>
        <p:nvSpPr>
          <p:cNvPr id="36" name="">
            <a:extLst xmlns:a="http://schemas.openxmlformats.org/drawingml/2006/main">
              <a:ext uri="{FF2B5EF4-FFF2-40B4-BE49-F238E27FC236}">
                <a16:creationId xmlns:a16="http://schemas.microsoft.com/office/drawing/2014/main" id="{822CFB22-A75A-4612-ABBF-F789FEE5DC5B}"/>
              </a:ext>
            </a:extLst>
          </p:cNvPr>
          <p:cNvSpPr>
            <a:spLocks xmlns:a="http://schemas.openxmlformats.org/drawingml/2006/main" noGrp="1"/>
          </p:cNvSpPr>
          <p:nvPr/>
        </p:nvSpPr>
        <p:spPr>
          <a:xfrm xmlns:a="http://schemas.openxmlformats.org/drawingml/2006/main">
            <a:off x="6419850" y="43243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9CC5DF"/>
                </a:solidFill>
              </a:defRPr>
            </a:pPr>
            <a:r>
              <a:rPr sz="1125" b="1">
                <a:solidFill>
                  <a:srgbClr val="9CC5DF"/>
                </a:solidFill>
              </a:rPr>
              <a:t>49개를 모두 찾나?</a:t>
            </a:r>
          </a:p>
        </p:txBody>
      </p:sp>
      <p:sp>
        <p:nvSpPr>
          <p:cNvPr id="37" name="">
            <a:extLst xmlns:a="http://schemas.openxmlformats.org/drawingml/2006/main">
              <a:ext uri="{FF2B5EF4-FFF2-40B4-BE49-F238E27FC236}">
                <a16:creationId xmlns:a16="http://schemas.microsoft.com/office/drawing/2014/main" id="{E173C8DC-80F5-475B-953B-1C7B7B52C7E6}"/>
              </a:ext>
            </a:extLst>
          </p:cNvPr>
          <p:cNvSpPr>
            <a:spLocks xmlns:a="http://schemas.openxmlformats.org/drawingml/2006/main" noGrp="1"/>
          </p:cNvSpPr>
          <p:nvPr/>
        </p:nvSpPr>
        <p:spPr>
          <a:xfrm xmlns:a="http://schemas.openxmlformats.org/drawingml/2006/main">
            <a:off x="8172450" y="4305300"/>
            <a:ext cx="3028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FFFFFF"/>
                </a:solidFill>
              </a:defRPr>
            </a:pPr>
            <a:r>
              <a:rPr sz="1050" b="0">
                <a:solidFill>
                  <a:srgbClr val="FFFFFF"/>
                </a:solidFill>
              </a:rPr>
              <a:t>카탈로그는 49개, 자동 탐지는 현재 검증된 8개 PARTIAL입니다.</a:t>
            </a:r>
          </a:p>
        </p:txBody>
      </p:sp>
      <p:sp>
        <p:nvSpPr>
          <p:cNvPr id="38" name="">
            <a:extLst xmlns:a="http://schemas.openxmlformats.org/drawingml/2006/main">
              <a:ext uri="{FF2B5EF4-FFF2-40B4-BE49-F238E27FC236}">
                <a16:creationId xmlns:a16="http://schemas.microsoft.com/office/drawing/2014/main" id="{9772AC52-0ABC-4136-9040-06B7626FF46C}"/>
              </a:ext>
            </a:extLst>
          </p:cNvPr>
          <p:cNvSpPr>
            <a:spLocks xmlns:a="http://schemas.openxmlformats.org/drawingml/2006/main" noGrp="1"/>
          </p:cNvSpPr>
          <p:nvPr/>
        </p:nvSpPr>
        <p:spPr>
          <a:xfrm xmlns:a="http://schemas.openxmlformats.org/drawingml/2006/main">
            <a:off x="6419850" y="4781550"/>
            <a:ext cx="4781550" cy="0"/>
          </a:xfrm>
          <a:prstGeom xmlns:a="http://schemas.openxmlformats.org/drawingml/2006/main" prst="line">
            <a:avLst/>
          </a:prstGeom>
          <a:noFill xmlns:a="http://schemas.openxmlformats.org/drawingml/2006/main"/>
          <a:ln xmlns:a="http://schemas.openxmlformats.org/drawingml/2006/main" w="9525">
            <a:solidFill>
              <a:srgbClr val="31516A"/>
            </a:solidFill>
            <a:prstDash val="solid"/>
          </a:ln>
        </p:spPr>
      </p:sp>
      <p:sp>
        <p:nvSpPr>
          <p:cNvPr id="39" name="">
            <a:extLst xmlns:a="http://schemas.openxmlformats.org/drawingml/2006/main">
              <a:ext uri="{FF2B5EF4-FFF2-40B4-BE49-F238E27FC236}">
                <a16:creationId xmlns:a16="http://schemas.microsoft.com/office/drawing/2014/main" id="{01E706E1-9126-4CE3-8F72-B5FAB7CF93CA}"/>
              </a:ext>
            </a:extLst>
          </p:cNvPr>
          <p:cNvSpPr>
            <a:spLocks xmlns:a="http://schemas.openxmlformats.org/drawingml/2006/main" noGrp="1"/>
          </p:cNvSpPr>
          <p:nvPr/>
        </p:nvSpPr>
        <p:spPr>
          <a:xfrm xmlns:a="http://schemas.openxmlformats.org/drawingml/2006/main">
            <a:off x="6419850" y="49911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9CC5DF"/>
                </a:solidFill>
              </a:defRPr>
            </a:pPr>
            <a:r>
              <a:rPr sz="1125" b="1">
                <a:solidFill>
                  <a:srgbClr val="9CC5DF"/>
                </a:solidFill>
              </a:rPr>
              <a:t>DB 경로를 왜 재검증하나?</a:t>
            </a:r>
          </a:p>
        </p:txBody>
      </p:sp>
      <p:sp>
        <p:nvSpPr>
          <p:cNvPr id="40" name="">
            <a:extLst xmlns:a="http://schemas.openxmlformats.org/drawingml/2006/main">
              <a:ext uri="{FF2B5EF4-FFF2-40B4-BE49-F238E27FC236}">
                <a16:creationId xmlns:a16="http://schemas.microsoft.com/office/drawing/2014/main" id="{6406E023-0004-4AEA-903B-426131D838A2}"/>
              </a:ext>
            </a:extLst>
          </p:cNvPr>
          <p:cNvSpPr>
            <a:spLocks xmlns:a="http://schemas.openxmlformats.org/drawingml/2006/main" noGrp="1"/>
          </p:cNvSpPr>
          <p:nvPr/>
        </p:nvSpPr>
        <p:spPr>
          <a:xfrm xmlns:a="http://schemas.openxmlformats.org/drawingml/2006/main">
            <a:off x="8172450" y="4972050"/>
            <a:ext cx="3028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FFFFFF"/>
                </a:solidFill>
              </a:defRPr>
            </a:pPr>
            <a:r>
              <a:rPr sz="1050" b="0">
                <a:solidFill>
                  <a:srgbClr val="FFFFFF"/>
                </a:solidFill>
              </a:rPr>
              <a:t>DB 값이 변조돼도 프로젝트 폴더 밖의 파일을 읽지 않기 위해서입니다.</a:t>
            </a:r>
          </a:p>
        </p:txBody>
      </p:sp>
    </p:spTree>
    <p:extLst>
      <p:ext uri="{BB962C8B-B14F-4D97-AF65-F5344CB8AC3E}">
        <p14:creationId xmlns:p14="http://schemas.microsoft.com/office/powerpoint/2010/main" val="11176978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2026-08-30T12:13:45.2970000Z</dcterms:created>
  <dcterms:modified xsi:type="dcterms:W3CDTF">2026-08-30T12:13:45.2970000Z</dcterms:modified>
</coreProperties>
</file>