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슬라이드를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이동하려면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클릭하십시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fld id="{E5D97A6C-D6C0-4142-A2E6-CAC2EEAD39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안녕하세요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이번 발표에서는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RFP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번호를 순서대로 읽기보다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실제 구현한 기능을 중심으로 관련 요구사항을 묶어서 설명드리겠습니다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핵심은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ZIP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소스를 안전하게 받아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으로 분석하고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결과를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KISA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기준의 공통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Finding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으로 저장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조회하는 흐름입니다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/home/kmj/sast-project-clean/docs/requirements.md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/home/kmj/sast-project-clean/docs/architecture.md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전체 흐름은 로그인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ZIP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업로드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Semgrep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실행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정규화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결과 조회의 여섯 단계입니다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중요한 설계 판단은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 JSON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을 화면에 바로 보여주지 않고 공통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Finding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형식으로 바꿔 저장한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 때문에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Java, JavaScript, Python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 같은 이력과 결과 화면을 공유합니다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/home/kmj/sast-project-clean/docs/architecture.md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/home/kmj/sast-project-clean/docs/quality.md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/home/kmj/sast-project-clean/docs/traceability.md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계정은 사내 프로그램이라는 전제로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company.com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이메일만 받습니다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비밀번호는 복호화가 필요한 암호화가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원문을 되돌릴 수 없는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bcrypt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해시로 저장합니다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세션은 서명 쿠키를 사용하지만 권한을 쿠키에 고정하지 않고 매 요청마다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DB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에서 역할과 활성 상태를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그래서 관리자가 역할을 바꾸면 다음 요청부터 바로 반영됩니다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/home/kmj/sast-project-clean/docs/requirements.md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/home/kmj/sast-project-clean/docs/security.md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/home/kmj/sast-project-clean/app/auth/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/home/kmj/sast-project-clean/tests/test_authentication.py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프로젝트는 단순한 목록이 아니라 접근 경계입니다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ADMIN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은 프로젝트를 만들고 사용자를 할당하며 소스를 업로드하고 분석할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일반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USER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project_users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관계에 할당된 프로젝트만 읽을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URL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의 프로젝트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ID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를 그대로 믿지 않고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DB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관계를 확인하며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권한이 없으면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403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대신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404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를 반환해 프로젝트 존재 여부도 숨깁니다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/home/kmj/sast-project-clean/docs/database.md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/home/kmj/sast-project-clean/docs/security.md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/home/kmj/sast-project-clean/app/projects/access.py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/home/kmj/sast-project-clean/tests/test_projects.py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업로드 보안에서 중요한 점은 확장자만 보지 않는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실제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ZIP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구조를 검사해 경로 탈출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심볼릭 링크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특수 파일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암호화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ZIP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과 크기 초과를 차단합니다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검증된 프로젝트 소스는 보관하지만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Semgrep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은 매 실행마다 만든 별도 임시 복사본에서 동작합니다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 복사본은 성공이나 실패와 관계없이 삭제합니다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또한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DB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에 저장된 경로도 분석 직전에 프로젝트 경계 안인지 다시 확인합니다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/home/kmj/sast-project-clean/docs/security.md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/home/kmj/sast-project-clean/docs/configuration.md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/home/kmj/sast-project-clean/app/projects/upload.py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/home/kmj/sast-project-clean/app/analysis/service.py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/home/kmj/sast-project-clean/tests/test_source_upload.py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결과는 분석 실행별로 저장합니다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상태는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PENDING, RUNNING, COMPLETED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FAILED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로 남고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성공한 결과는 파일 위치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심각도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신뢰도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근거 코드와 원본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JSON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을 공통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Finding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으로 정규화합니다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또한 소스와 규칙 세트의 해시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Semgrep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버전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활성 규칙 목록을 함께 저장해 나중에 어떤 조건으로 분석했는지 확인할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/home/kmj/sast-project-clean/docs/architecture.md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/home/kmj/sast-project-clean/docs/database.md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/home/kmj/sast-project-clean/app/findings/services.py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/home/kmj/sast-project-clean/tests/test_findings.py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여기서는 카탈로그 등록과 자동 탐지를 구분해야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공식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49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개 항목은 모두 조회할 수 있지만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현재 실제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규칙과 고정 샘플로 검증한 항목은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개이며 상태는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PARTIAL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나머지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NOT_IMPLEMENTED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로 표시해 자동 탐지한다고 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YAML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은 개발자가 작성하고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관리 화면은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KISA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항목과 언어별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 Rule ID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연결만 담당합니다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/home/kmj/sast-project-clean/docs/kisa-catalog.md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/home/kmj/sast-project-clean/docs/traceability.md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/home/kmj/sast-project-clean/app/rules/catalog.py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/home/kmj/sast-project-clean/tests/test_diagnostic_examples.py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중간점검으로 최신 작업 트리에서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개 테스트가 통과했습니다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최종발표 전 남은 구현은 현재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NOT_IMPLEMENTED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상태인 진단 항목을 자동 탐지할 수 있도록 확장하는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항목별로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Semgrep YAML,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취약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정상 샘플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KISA Rule ID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매핑을 함께 추가해야 탐지 구현으로 인정하겠습니다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이어서 로그인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ZIP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분석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Finding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상세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KISA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규칙 순서로 시연하겠습니다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/home/kmj/sast-project-clean/docs/testing.md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/home/kmj/sast-project-clean/docs/security.md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/home/kmj/sast-project-clean/docs/traceability.md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Local verification: .venv/bin/pytest -q — 48 passed in 57.58s (2026-08-30)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 표는 질의응답에서 요구사항 번호를 물어볼 때 사용합니다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발표 본문에서는 기능을 먼저 설명하고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이 부록에서 관련 요구사항과 시험 근거를 한 번에 확인할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/home/kmj/sast-project-clean/docs/requirements.md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/home/kmj/sast-project-clean/docs/traceability.md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48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개라는 숫자만 말하기보다 무엇을 검증했는지 설명하기 위한 장입니다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인증과 권한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악성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ZIP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방어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Semgrep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실행 실패와 제한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Finding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정규화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KISA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카탈로그와 세 언어 실제 샘플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, DB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관계와 모듈 구조를 자동으로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모든 테스트는 임시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DB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와 임시 업로드 디렉터리를 사용해 개발 데이터를 변경하지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/home/kmj/sast-project-clean/docs/testing.md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/home/kmj/sast-project-clean/docs/quality.md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/home/kmj/sast-project-clean/docs/security.md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- /home/kmj/sast-project-clean/docs/architecture.md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제목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텍스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트의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서식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을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편집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하려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면 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클릭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하십</a:t>
            </a: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시오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3066840" cy="6857640"/>
          </a:xfrm>
          <a:prstGeom prst="rect">
            <a:avLst/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3" name=""/>
          <p:cNvSpPr/>
          <p:nvPr/>
        </p:nvSpPr>
        <p:spPr>
          <a:xfrm>
            <a:off x="762120" y="990720"/>
            <a:ext cx="590040" cy="590040"/>
          </a:xfrm>
          <a:prstGeom prst="roundRect">
            <a:avLst>
              <a:gd name="adj" fmla="val 19355"/>
            </a:avLst>
          </a:prstGeom>
          <a:solidFill>
            <a:srgbClr val="1F6E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4" name=""/>
          <p:cNvSpPr/>
          <p:nvPr/>
        </p:nvSpPr>
        <p:spPr>
          <a:xfrm>
            <a:off x="762120" y="1066680"/>
            <a:ext cx="590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✓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" name=""/>
          <p:cNvSpPr/>
          <p:nvPr/>
        </p:nvSpPr>
        <p:spPr>
          <a:xfrm>
            <a:off x="762120" y="1771560"/>
            <a:ext cx="1714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SecureScan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" name=""/>
          <p:cNvSpPr/>
          <p:nvPr/>
        </p:nvSpPr>
        <p:spPr>
          <a:xfrm>
            <a:off x="762120" y="2171880"/>
            <a:ext cx="18093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9BDD0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050" b="0" u="none" strike="noStrike">
                <a:solidFill>
                  <a:srgbClr val="A9BDD0"/>
                </a:solidFill>
                <a:effectLst/>
                <a:uFillTx/>
                <a:latin typeface="Noto Sans CJK KR"/>
              </a:rPr>
              <a:t>기준 기반 </a:t>
            </a:r>
            <a:r>
              <a:rPr lang="en-US" sz="1050" b="0" u="none" strike="noStrike">
                <a:solidFill>
                  <a:srgbClr val="A9BDD0"/>
                </a:solidFill>
                <a:effectLst/>
                <a:uFillTx/>
                <a:latin typeface="Noto Sans CJK KR"/>
              </a:rPr>
              <a:t>SAST MVP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" name=""/>
          <p:cNvSpPr/>
          <p:nvPr/>
        </p:nvSpPr>
        <p:spPr>
          <a:xfrm>
            <a:off x="3676680" y="1562040"/>
            <a:ext cx="7733880" cy="16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37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정적 애플리케이션 보안 진단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ko-KR" sz="37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프로그램 </a:t>
            </a:r>
            <a:r>
              <a:rPr lang="en-US" sz="37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MVP </a:t>
            </a:r>
            <a:r>
              <a:rPr lang="ko-KR" sz="37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개발 중간발표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" name=""/>
          <p:cNvSpPr/>
          <p:nvPr/>
        </p:nvSpPr>
        <p:spPr>
          <a:xfrm>
            <a:off x="3676320" y="3504960"/>
            <a:ext cx="1467000" cy="360"/>
          </a:xfrm>
          <a:prstGeom prst="line">
            <a:avLst/>
          </a:prstGeom>
          <a:ln w="57150">
            <a:solidFill>
              <a:srgbClr val="1F6E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" name=""/>
          <p:cNvSpPr/>
          <p:nvPr/>
        </p:nvSpPr>
        <p:spPr>
          <a:xfrm>
            <a:off x="3676680" y="3848040"/>
            <a:ext cx="7524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Java · JavaScript · Python  |  FastAPI · Semgrep · SQLAlchemy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" name=""/>
          <p:cNvSpPr/>
          <p:nvPr/>
        </p:nvSpPr>
        <p:spPr>
          <a:xfrm>
            <a:off x="3676680" y="5524560"/>
            <a:ext cx="3809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중간점검 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|  2026.08.30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" name=""/>
          <p:cNvSpPr/>
          <p:nvPr/>
        </p:nvSpPr>
        <p:spPr>
          <a:xfrm>
            <a:off x="3676680" y="5867280"/>
            <a:ext cx="6667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요구사항을 기능별로 묶어 설계</a:t>
            </a:r>
            <a:r>
              <a:rPr lang="en-US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구현</a:t>
            </a:r>
            <a:r>
              <a:rPr lang="en-US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검증했습니다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MVP 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사용자 흐름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업로드부터 결과까지 하나의 흐름으로 연결했습니다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SFR-008~013 · DAR-003~009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" name=""/>
          <p:cNvSpPr/>
          <p:nvPr/>
        </p:nvSpPr>
        <p:spPr>
          <a:xfrm>
            <a:off x="2076480" y="2610000"/>
            <a:ext cx="39960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" name=""/>
          <p:cNvSpPr/>
          <p:nvPr/>
        </p:nvSpPr>
        <p:spPr>
          <a:xfrm>
            <a:off x="3962520" y="2610000"/>
            <a:ext cx="39960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" name=""/>
          <p:cNvSpPr/>
          <p:nvPr/>
        </p:nvSpPr>
        <p:spPr>
          <a:xfrm>
            <a:off x="5848200" y="2610000"/>
            <a:ext cx="39960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" name=""/>
          <p:cNvSpPr/>
          <p:nvPr/>
        </p:nvSpPr>
        <p:spPr>
          <a:xfrm>
            <a:off x="7734240" y="2610000"/>
            <a:ext cx="39960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" name=""/>
          <p:cNvSpPr/>
          <p:nvPr/>
        </p:nvSpPr>
        <p:spPr>
          <a:xfrm>
            <a:off x="9620280" y="2610000"/>
            <a:ext cx="39960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" name=""/>
          <p:cNvSpPr/>
          <p:nvPr/>
        </p:nvSpPr>
        <p:spPr>
          <a:xfrm>
            <a:off x="72396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" name=""/>
          <p:cNvSpPr/>
          <p:nvPr/>
        </p:nvSpPr>
        <p:spPr>
          <a:xfrm>
            <a:off x="89532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" name=""/>
          <p:cNvSpPr/>
          <p:nvPr/>
        </p:nvSpPr>
        <p:spPr>
          <a:xfrm>
            <a:off x="89532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로그인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" name=""/>
          <p:cNvSpPr/>
          <p:nvPr/>
        </p:nvSpPr>
        <p:spPr>
          <a:xfrm>
            <a:off x="89532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사내 계정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역할 확인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8" name=""/>
          <p:cNvSpPr/>
          <p:nvPr/>
        </p:nvSpPr>
        <p:spPr>
          <a:xfrm>
            <a:off x="261000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9" name=""/>
          <p:cNvSpPr/>
          <p:nvPr/>
        </p:nvSpPr>
        <p:spPr>
          <a:xfrm>
            <a:off x="278136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0" name=""/>
          <p:cNvSpPr/>
          <p:nvPr/>
        </p:nvSpPr>
        <p:spPr>
          <a:xfrm>
            <a:off x="278136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1" name=""/>
          <p:cNvSpPr/>
          <p:nvPr/>
        </p:nvSpPr>
        <p:spPr>
          <a:xfrm>
            <a:off x="278136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언어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사용자 경계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2" name=""/>
          <p:cNvSpPr/>
          <p:nvPr/>
        </p:nvSpPr>
        <p:spPr>
          <a:xfrm>
            <a:off x="449568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3" name=""/>
          <p:cNvSpPr/>
          <p:nvPr/>
        </p:nvSpPr>
        <p:spPr>
          <a:xfrm>
            <a:off x="466740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4" name=""/>
          <p:cNvSpPr/>
          <p:nvPr/>
        </p:nvSpPr>
        <p:spPr>
          <a:xfrm>
            <a:off x="466740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ZIP </a:t>
            </a: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업로드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5" name=""/>
          <p:cNvSpPr/>
          <p:nvPr/>
        </p:nvSpPr>
        <p:spPr>
          <a:xfrm>
            <a:off x="466740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검증 후 안전 추출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6" name=""/>
          <p:cNvSpPr/>
          <p:nvPr/>
        </p:nvSpPr>
        <p:spPr>
          <a:xfrm>
            <a:off x="638172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0B2236"/>
          </a:solidFill>
          <a:ln w="9525">
            <a:solidFill>
              <a:srgbClr val="0B22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47" name=""/>
          <p:cNvSpPr/>
          <p:nvPr/>
        </p:nvSpPr>
        <p:spPr>
          <a:xfrm>
            <a:off x="655308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8" name=""/>
          <p:cNvSpPr/>
          <p:nvPr/>
        </p:nvSpPr>
        <p:spPr>
          <a:xfrm>
            <a:off x="655308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Semgrep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9" name=""/>
          <p:cNvSpPr/>
          <p:nvPr/>
        </p:nvSpPr>
        <p:spPr>
          <a:xfrm>
            <a:off x="655308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B7CCDB"/>
                </a:solidFill>
                <a:effectLst/>
                <a:uFillTx/>
                <a:latin typeface="Noto Sans CJK KR"/>
              </a:rPr>
              <a:t>격리 공간에서 실행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0" name=""/>
          <p:cNvSpPr/>
          <p:nvPr/>
        </p:nvSpPr>
        <p:spPr>
          <a:xfrm>
            <a:off x="826776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1" name=""/>
          <p:cNvSpPr/>
          <p:nvPr/>
        </p:nvSpPr>
        <p:spPr>
          <a:xfrm>
            <a:off x="843912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2" name=""/>
          <p:cNvSpPr/>
          <p:nvPr/>
        </p:nvSpPr>
        <p:spPr>
          <a:xfrm>
            <a:off x="843912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정규화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3" name=""/>
          <p:cNvSpPr/>
          <p:nvPr/>
        </p:nvSpPr>
        <p:spPr>
          <a:xfrm>
            <a:off x="843912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공통 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Finding 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변환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4" name=""/>
          <p:cNvSpPr/>
          <p:nvPr/>
        </p:nvSpPr>
        <p:spPr>
          <a:xfrm>
            <a:off x="10153800" y="2095560"/>
            <a:ext cx="1390320" cy="1371240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10325160" y="2266920"/>
            <a:ext cx="399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6" name=""/>
          <p:cNvSpPr/>
          <p:nvPr/>
        </p:nvSpPr>
        <p:spPr>
          <a:xfrm>
            <a:off x="10325160" y="2629080"/>
            <a:ext cx="1066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결과 조회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7" name=""/>
          <p:cNvSpPr/>
          <p:nvPr/>
        </p:nvSpPr>
        <p:spPr>
          <a:xfrm>
            <a:off x="10325160" y="299088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이력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필터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상세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8" name=""/>
          <p:cNvSpPr/>
          <p:nvPr/>
        </p:nvSpPr>
        <p:spPr>
          <a:xfrm>
            <a:off x="723960" y="4019400"/>
            <a:ext cx="10801080" cy="1333080"/>
          </a:xfrm>
          <a:prstGeom prst="roundRect">
            <a:avLst>
              <a:gd name="adj" fmla="val 8571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9" name=""/>
          <p:cNvSpPr/>
          <p:nvPr/>
        </p:nvSpPr>
        <p:spPr>
          <a:xfrm>
            <a:off x="990720" y="4248000"/>
            <a:ext cx="1238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설계 원칙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0" name=""/>
          <p:cNvSpPr/>
          <p:nvPr/>
        </p:nvSpPr>
        <p:spPr>
          <a:xfrm>
            <a:off x="2419200" y="4210200"/>
            <a:ext cx="8572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엔진은 </a:t>
            </a:r>
            <a:r>
              <a:rPr lang="en-US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하나로 고정하고</a:t>
            </a:r>
            <a:r>
              <a:rPr lang="en-US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, </a:t>
            </a:r>
            <a:r>
              <a:rPr lang="ko-KR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엔진 결과와 화면 사이에 정규화 계층을 두었습니다</a:t>
            </a:r>
            <a:r>
              <a:rPr lang="en-US" sz="15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1" name=""/>
          <p:cNvSpPr/>
          <p:nvPr/>
        </p:nvSpPr>
        <p:spPr>
          <a:xfrm>
            <a:off x="2419200" y="4667400"/>
            <a:ext cx="8572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따라서 언어나 규칙이 늘어나더라도 프로젝트</a:t>
            </a:r>
            <a:r>
              <a:rPr lang="en-US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분석 이력</a:t>
            </a:r>
            <a:r>
              <a:rPr lang="en-US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·Finding </a:t>
            </a:r>
            <a:r>
              <a:rPr lang="ko-KR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조회 흐름은 그대로 재사용합니다</a:t>
            </a:r>
            <a:r>
              <a:rPr lang="en-US" sz="12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인증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권한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3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로그인 한 번에 계정 보호와 역할 통제를 함께 적용했습니다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4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5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SFR-001·003 · SEC-001~006 · TST-001~003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6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7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8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9" name=""/>
          <p:cNvSpPr/>
          <p:nvPr/>
        </p:nvSpPr>
        <p:spPr>
          <a:xfrm>
            <a:off x="628560" y="1562040"/>
            <a:ext cx="4952520" cy="4171680"/>
          </a:xfrm>
          <a:prstGeom prst="roundRect">
            <a:avLst>
              <a:gd name="adj" fmla="val 274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0" name=""/>
          <p:cNvSpPr/>
          <p:nvPr/>
        </p:nvSpPr>
        <p:spPr>
          <a:xfrm>
            <a:off x="914400" y="1809720"/>
            <a:ext cx="3428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인증 요청이 처리되는 순서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1" name=""/>
          <p:cNvSpPr/>
          <p:nvPr/>
        </p:nvSpPr>
        <p:spPr>
          <a:xfrm>
            <a:off x="914400" y="2305080"/>
            <a:ext cx="552240" cy="475920"/>
          </a:xfrm>
          <a:prstGeom prst="roundRect">
            <a:avLst>
              <a:gd name="adj" fmla="val 24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2" name=""/>
          <p:cNvSpPr/>
          <p:nvPr/>
        </p:nvSpPr>
        <p:spPr>
          <a:xfrm>
            <a:off x="914400" y="241920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3" name=""/>
          <p:cNvSpPr/>
          <p:nvPr/>
        </p:nvSpPr>
        <p:spPr>
          <a:xfrm>
            <a:off x="1676520" y="2295360"/>
            <a:ext cx="2190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회사 이메일 검증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1676520" y="2581200"/>
            <a:ext cx="3180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@company.com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형식만 허용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5" name=""/>
          <p:cNvSpPr/>
          <p:nvPr/>
        </p:nvSpPr>
        <p:spPr>
          <a:xfrm>
            <a:off x="1180800" y="2800080"/>
            <a:ext cx="360" cy="238320"/>
          </a:xfrm>
          <a:prstGeom prst="line">
            <a:avLst/>
          </a:prstGeom>
          <a:ln w="19050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6" name=""/>
          <p:cNvSpPr/>
          <p:nvPr/>
        </p:nvSpPr>
        <p:spPr>
          <a:xfrm>
            <a:off x="914400" y="3048120"/>
            <a:ext cx="552240" cy="475920"/>
          </a:xfrm>
          <a:prstGeom prst="roundRect">
            <a:avLst>
              <a:gd name="adj" fmla="val 24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7" name=""/>
          <p:cNvSpPr/>
          <p:nvPr/>
        </p:nvSpPr>
        <p:spPr>
          <a:xfrm>
            <a:off x="914400" y="31622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8" name=""/>
          <p:cNvSpPr/>
          <p:nvPr/>
        </p:nvSpPr>
        <p:spPr>
          <a:xfrm>
            <a:off x="1676520" y="3038400"/>
            <a:ext cx="2190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bcrypt 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해시 비교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9" name=""/>
          <p:cNvSpPr/>
          <p:nvPr/>
        </p:nvSpPr>
        <p:spPr>
          <a:xfrm>
            <a:off x="1676520" y="3324240"/>
            <a:ext cx="3180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평문 비밀번호는 저장하지 않음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0" name=""/>
          <p:cNvSpPr/>
          <p:nvPr/>
        </p:nvSpPr>
        <p:spPr>
          <a:xfrm>
            <a:off x="1180800" y="3543120"/>
            <a:ext cx="360" cy="237960"/>
          </a:xfrm>
          <a:prstGeom prst="line">
            <a:avLst/>
          </a:prstGeom>
          <a:ln w="19050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1" name=""/>
          <p:cNvSpPr/>
          <p:nvPr/>
        </p:nvSpPr>
        <p:spPr>
          <a:xfrm>
            <a:off x="914400" y="3790800"/>
            <a:ext cx="552240" cy="475920"/>
          </a:xfrm>
          <a:prstGeom prst="roundRect">
            <a:avLst>
              <a:gd name="adj" fmla="val 24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2" name=""/>
          <p:cNvSpPr/>
          <p:nvPr/>
        </p:nvSpPr>
        <p:spPr>
          <a:xfrm>
            <a:off x="914400" y="390528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3" name=""/>
          <p:cNvSpPr/>
          <p:nvPr/>
        </p:nvSpPr>
        <p:spPr>
          <a:xfrm>
            <a:off x="1676520" y="3781440"/>
            <a:ext cx="2190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서명 쿠키 발급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4" name=""/>
          <p:cNvSpPr/>
          <p:nvPr/>
        </p:nvSpPr>
        <p:spPr>
          <a:xfrm>
            <a:off x="1676520" y="4067280"/>
            <a:ext cx="3180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user_id·CSRF·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만료 정보만 포함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5" name=""/>
          <p:cNvSpPr/>
          <p:nvPr/>
        </p:nvSpPr>
        <p:spPr>
          <a:xfrm>
            <a:off x="1180800" y="4286160"/>
            <a:ext cx="360" cy="237960"/>
          </a:xfrm>
          <a:prstGeom prst="line">
            <a:avLst/>
          </a:prstGeom>
          <a:ln w="19050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6" name=""/>
          <p:cNvSpPr/>
          <p:nvPr/>
        </p:nvSpPr>
        <p:spPr>
          <a:xfrm>
            <a:off x="914400" y="4533840"/>
            <a:ext cx="552240" cy="475920"/>
          </a:xfrm>
          <a:prstGeom prst="roundRect">
            <a:avLst>
              <a:gd name="adj" fmla="val 24000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87" name=""/>
          <p:cNvSpPr/>
          <p:nvPr/>
        </p:nvSpPr>
        <p:spPr>
          <a:xfrm>
            <a:off x="914400" y="464832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8" name=""/>
          <p:cNvSpPr/>
          <p:nvPr/>
        </p:nvSpPr>
        <p:spPr>
          <a:xfrm>
            <a:off x="1676520" y="4524480"/>
            <a:ext cx="2190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DB 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권한 재확인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9" name=""/>
          <p:cNvSpPr/>
          <p:nvPr/>
        </p:nvSpPr>
        <p:spPr>
          <a:xfrm>
            <a:off x="1676520" y="4809960"/>
            <a:ext cx="3180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역할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활성 상태를 요청마다 조회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0" name=""/>
          <p:cNvSpPr/>
          <p:nvPr/>
        </p:nvSpPr>
        <p:spPr>
          <a:xfrm>
            <a:off x="6095880" y="1704960"/>
            <a:ext cx="66240" cy="514080"/>
          </a:xfrm>
          <a:prstGeom prst="roundRect">
            <a:avLst>
              <a:gd name="adj" fmla="val 50000"/>
            </a:avLst>
          </a:prstGeom>
          <a:solidFill>
            <a:srgbClr val="1F6E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91" name=""/>
          <p:cNvSpPr/>
          <p:nvPr/>
        </p:nvSpPr>
        <p:spPr>
          <a:xfrm>
            <a:off x="6286680" y="1676520"/>
            <a:ext cx="49147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사내 계정 정책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2" name=""/>
          <p:cNvSpPr/>
          <p:nvPr/>
        </p:nvSpPr>
        <p:spPr>
          <a:xfrm>
            <a:off x="6286680" y="1962000"/>
            <a:ext cx="4914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@company.com 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형식만 허용하고 최초 관리자는 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admin@company.com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으로 생성합니다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3" name=""/>
          <p:cNvSpPr/>
          <p:nvPr/>
        </p:nvSpPr>
        <p:spPr>
          <a:xfrm>
            <a:off x="6095880" y="2752560"/>
            <a:ext cx="66240" cy="514080"/>
          </a:xfrm>
          <a:prstGeom prst="roundRect">
            <a:avLst>
              <a:gd name="adj" fmla="val 50000"/>
            </a:avLst>
          </a:prstGeom>
          <a:solidFill>
            <a:srgbClr val="2385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94" name=""/>
          <p:cNvSpPr/>
          <p:nvPr/>
        </p:nvSpPr>
        <p:spPr>
          <a:xfrm>
            <a:off x="6286680" y="2724120"/>
            <a:ext cx="49147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평문을 남기지 않는 비밀번호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5" name=""/>
          <p:cNvSpPr/>
          <p:nvPr/>
        </p:nvSpPr>
        <p:spPr>
          <a:xfrm>
            <a:off x="6286680" y="3009960"/>
            <a:ext cx="4914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bcrypt 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단방향 해시만 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DB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에 저장하고 로그인 시 해시를 비교합니다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6" name=""/>
          <p:cNvSpPr/>
          <p:nvPr/>
        </p:nvSpPr>
        <p:spPr>
          <a:xfrm>
            <a:off x="6095880" y="3800520"/>
            <a:ext cx="66240" cy="514080"/>
          </a:xfrm>
          <a:prstGeom prst="roundRect">
            <a:avLst>
              <a:gd name="adj" fmla="val 50000"/>
            </a:avLst>
          </a:prstGeom>
          <a:solidFill>
            <a:srgbClr val="C879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97" name=""/>
          <p:cNvSpPr/>
          <p:nvPr/>
        </p:nvSpPr>
        <p:spPr>
          <a:xfrm>
            <a:off x="6286680" y="3772080"/>
            <a:ext cx="49147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쿠키보다 </a:t>
            </a:r>
            <a:r>
              <a:rPr lang="en-US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DB </a:t>
            </a: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권한을 신뢰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8" name=""/>
          <p:cNvSpPr/>
          <p:nvPr/>
        </p:nvSpPr>
        <p:spPr>
          <a:xfrm>
            <a:off x="6286680" y="4057560"/>
            <a:ext cx="4914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서명 쿠키에는 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user_id·CSRF·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만료만 두고 역할과 활성 상태는 요청마다 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DB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에서 확인합니다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9" name=""/>
          <p:cNvSpPr/>
          <p:nvPr/>
        </p:nvSpPr>
        <p:spPr>
          <a:xfrm>
            <a:off x="6095880" y="4933800"/>
            <a:ext cx="5105160" cy="799920"/>
          </a:xfrm>
          <a:prstGeom prst="roundRect">
            <a:avLst>
              <a:gd name="adj" fmla="val 14286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00" name=""/>
          <p:cNvSpPr/>
          <p:nvPr/>
        </p:nvSpPr>
        <p:spPr>
          <a:xfrm>
            <a:off x="6324480" y="5124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선택 근거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1" name=""/>
          <p:cNvSpPr/>
          <p:nvPr/>
        </p:nvSpPr>
        <p:spPr>
          <a:xfrm>
            <a:off x="7524720" y="5048280"/>
            <a:ext cx="34095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서버 세션 저장소 없이 단순성을 유지하면서도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권한 변경은 다음 요청부터 즉시 반영됩니다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접근 경계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3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 단위로 소스와 사용자를 묶어 접근 경계를 만들었습니다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4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5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SFR-003·008 · DAR-003~005·010 · SEC-003~006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6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7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8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9" name=""/>
          <p:cNvSpPr/>
          <p:nvPr/>
        </p:nvSpPr>
        <p:spPr>
          <a:xfrm>
            <a:off x="609480" y="1562040"/>
            <a:ext cx="4095360" cy="4171680"/>
          </a:xfrm>
          <a:prstGeom prst="roundRect">
            <a:avLst>
              <a:gd name="adj" fmla="val 2791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0" name=""/>
          <p:cNvSpPr/>
          <p:nvPr/>
        </p:nvSpPr>
        <p:spPr>
          <a:xfrm>
            <a:off x="876240" y="1809720"/>
            <a:ext cx="2476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권한 판단 순서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1" name=""/>
          <p:cNvSpPr/>
          <p:nvPr/>
        </p:nvSpPr>
        <p:spPr>
          <a:xfrm>
            <a:off x="876240" y="2400480"/>
            <a:ext cx="437760" cy="437760"/>
          </a:xfrm>
          <a:prstGeom prst="roundRect">
            <a:avLst>
              <a:gd name="adj" fmla="val 26087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2" name=""/>
          <p:cNvSpPr/>
          <p:nvPr/>
        </p:nvSpPr>
        <p:spPr>
          <a:xfrm>
            <a:off x="876240" y="2476440"/>
            <a:ext cx="43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3" name=""/>
          <p:cNvSpPr/>
          <p:nvPr/>
        </p:nvSpPr>
        <p:spPr>
          <a:xfrm>
            <a:off x="1504800" y="2390760"/>
            <a:ext cx="2666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ADMIN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인가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4" name=""/>
          <p:cNvSpPr/>
          <p:nvPr/>
        </p:nvSpPr>
        <p:spPr>
          <a:xfrm>
            <a:off x="1504800" y="2676600"/>
            <a:ext cx="2685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생성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수정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할당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업로드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분석 실행 허용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5" name=""/>
          <p:cNvSpPr/>
          <p:nvPr/>
        </p:nvSpPr>
        <p:spPr>
          <a:xfrm>
            <a:off x="876240" y="3295800"/>
            <a:ext cx="437760" cy="437760"/>
          </a:xfrm>
          <a:prstGeom prst="roundRect">
            <a:avLst>
              <a:gd name="adj" fmla="val 26087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6" name=""/>
          <p:cNvSpPr/>
          <p:nvPr/>
        </p:nvSpPr>
        <p:spPr>
          <a:xfrm>
            <a:off x="876240" y="3371760"/>
            <a:ext cx="43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7" name=""/>
          <p:cNvSpPr/>
          <p:nvPr/>
        </p:nvSpPr>
        <p:spPr>
          <a:xfrm>
            <a:off x="1504800" y="3286080"/>
            <a:ext cx="2666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할당된 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USER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인가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8" name=""/>
          <p:cNvSpPr/>
          <p:nvPr/>
        </p:nvSpPr>
        <p:spPr>
          <a:xfrm>
            <a:off x="1504800" y="3571920"/>
            <a:ext cx="2685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분석 이력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·Finding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읽기 허용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9" name=""/>
          <p:cNvSpPr/>
          <p:nvPr/>
        </p:nvSpPr>
        <p:spPr>
          <a:xfrm>
            <a:off x="876240" y="4191120"/>
            <a:ext cx="437760" cy="437760"/>
          </a:xfrm>
          <a:prstGeom prst="roundRect">
            <a:avLst>
              <a:gd name="adj" fmla="val 26087"/>
            </a:avLst>
          </a:prstGeom>
          <a:solidFill>
            <a:srgbClr val="FCE8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0" name=""/>
          <p:cNvSpPr/>
          <p:nvPr/>
        </p:nvSpPr>
        <p:spPr>
          <a:xfrm>
            <a:off x="876240" y="4267080"/>
            <a:ext cx="43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C53A45"/>
                </a:solidFill>
                <a:effectLst/>
                <a:uFillTx/>
                <a:latin typeface="Noto Sans CJK KR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1" name=""/>
          <p:cNvSpPr/>
          <p:nvPr/>
        </p:nvSpPr>
        <p:spPr>
          <a:xfrm>
            <a:off x="1504800" y="4181400"/>
            <a:ext cx="2666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그 외 요청인가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2" name=""/>
          <p:cNvSpPr/>
          <p:nvPr/>
        </p:nvSpPr>
        <p:spPr>
          <a:xfrm>
            <a:off x="1504800" y="4467240"/>
            <a:ext cx="2685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자원 존재를 숨기기 위해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404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반환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3" name=""/>
          <p:cNvSpPr/>
          <p:nvPr/>
        </p:nvSpPr>
        <p:spPr>
          <a:xfrm>
            <a:off x="5086440" y="1562040"/>
            <a:ext cx="6495840" cy="4171680"/>
          </a:xfrm>
          <a:prstGeom prst="roundRect">
            <a:avLst>
              <a:gd name="adj" fmla="val 274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4" name=""/>
          <p:cNvSpPr/>
          <p:nvPr/>
        </p:nvSpPr>
        <p:spPr>
          <a:xfrm>
            <a:off x="5391000" y="1809720"/>
            <a:ext cx="3428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DB </a:t>
            </a:r>
            <a:r>
              <a:rPr lang="ko-KR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관계로 접근을 판단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5" name=""/>
          <p:cNvSpPr/>
          <p:nvPr/>
        </p:nvSpPr>
        <p:spPr>
          <a:xfrm>
            <a:off x="7343640" y="2914560"/>
            <a:ext cx="360" cy="4572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6" name=""/>
          <p:cNvSpPr/>
          <p:nvPr/>
        </p:nvSpPr>
        <p:spPr>
          <a:xfrm>
            <a:off x="7333920" y="2914560"/>
            <a:ext cx="1838520" cy="4572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7" name=""/>
          <p:cNvSpPr/>
          <p:nvPr/>
        </p:nvSpPr>
        <p:spPr>
          <a:xfrm>
            <a:off x="7343640" y="2914560"/>
            <a:ext cx="2581200" cy="4572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8" name=""/>
          <p:cNvSpPr/>
          <p:nvPr/>
        </p:nvSpPr>
        <p:spPr>
          <a:xfrm>
            <a:off x="9172440" y="2914560"/>
            <a:ext cx="752400" cy="4572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9" name=""/>
          <p:cNvSpPr/>
          <p:nvPr/>
        </p:nvSpPr>
        <p:spPr>
          <a:xfrm>
            <a:off x="7333920" y="4133520"/>
            <a:ext cx="360" cy="5526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0" name=""/>
          <p:cNvSpPr/>
          <p:nvPr/>
        </p:nvSpPr>
        <p:spPr>
          <a:xfrm>
            <a:off x="9924840" y="4133520"/>
            <a:ext cx="360" cy="552600"/>
          </a:xfrm>
          <a:prstGeom prst="line">
            <a:avLst/>
          </a:prstGeom>
          <a:ln w="2857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1" name=""/>
          <p:cNvSpPr/>
          <p:nvPr/>
        </p:nvSpPr>
        <p:spPr>
          <a:xfrm>
            <a:off x="6534000" y="2266920"/>
            <a:ext cx="1618920" cy="647280"/>
          </a:xfrm>
          <a:prstGeom prst="roundRect">
            <a:avLst>
              <a:gd name="adj" fmla="val 17647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32" name=""/>
          <p:cNvSpPr/>
          <p:nvPr/>
        </p:nvSpPr>
        <p:spPr>
          <a:xfrm>
            <a:off x="6534000" y="24480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PROJECT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3" name=""/>
          <p:cNvSpPr/>
          <p:nvPr/>
        </p:nvSpPr>
        <p:spPr>
          <a:xfrm>
            <a:off x="8362800" y="2266920"/>
            <a:ext cx="1618920" cy="647280"/>
          </a:xfrm>
          <a:prstGeom prst="roundRect">
            <a:avLst>
              <a:gd name="adj" fmla="val 17647"/>
            </a:avLst>
          </a:prstGeom>
          <a:solidFill>
            <a:srgbClr val="EAF3F9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4" name=""/>
          <p:cNvSpPr/>
          <p:nvPr/>
        </p:nvSpPr>
        <p:spPr>
          <a:xfrm>
            <a:off x="8362800" y="24480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USER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5" name=""/>
          <p:cNvSpPr/>
          <p:nvPr/>
        </p:nvSpPr>
        <p:spPr>
          <a:xfrm>
            <a:off x="6191280" y="3371760"/>
            <a:ext cx="2285640" cy="761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6" name=""/>
          <p:cNvSpPr/>
          <p:nvPr/>
        </p:nvSpPr>
        <p:spPr>
          <a:xfrm>
            <a:off x="6191280" y="35337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PROJECT_USER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7" name=""/>
          <p:cNvSpPr/>
          <p:nvPr/>
        </p:nvSpPr>
        <p:spPr>
          <a:xfrm>
            <a:off x="6191280" y="381960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할당 관계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8" name=""/>
          <p:cNvSpPr/>
          <p:nvPr/>
        </p:nvSpPr>
        <p:spPr>
          <a:xfrm>
            <a:off x="8782200" y="3371760"/>
            <a:ext cx="2285640" cy="761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9" name=""/>
          <p:cNvSpPr/>
          <p:nvPr/>
        </p:nvSpPr>
        <p:spPr>
          <a:xfrm>
            <a:off x="8782200" y="35337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ANALYSIS_RUN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0" name=""/>
          <p:cNvSpPr/>
          <p:nvPr/>
        </p:nvSpPr>
        <p:spPr>
          <a:xfrm>
            <a:off x="8782200" y="381960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프로젝트별 실행 이력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1" name=""/>
          <p:cNvSpPr/>
          <p:nvPr/>
        </p:nvSpPr>
        <p:spPr>
          <a:xfrm>
            <a:off x="6191280" y="4686480"/>
            <a:ext cx="2285640" cy="76176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2" name=""/>
          <p:cNvSpPr/>
          <p:nvPr/>
        </p:nvSpPr>
        <p:spPr>
          <a:xfrm>
            <a:off x="6191280" y="4848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READ ACCESS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3" name=""/>
          <p:cNvSpPr/>
          <p:nvPr/>
        </p:nvSpPr>
        <p:spPr>
          <a:xfrm>
            <a:off x="6191280" y="513396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ADMIN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또는 할당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USER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4" name=""/>
          <p:cNvSpPr/>
          <p:nvPr/>
        </p:nvSpPr>
        <p:spPr>
          <a:xfrm>
            <a:off x="8782200" y="4686480"/>
            <a:ext cx="2285640" cy="76176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5" name=""/>
          <p:cNvSpPr/>
          <p:nvPr/>
        </p:nvSpPr>
        <p:spPr>
          <a:xfrm>
            <a:off x="8782200" y="4848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FINDING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6" name=""/>
          <p:cNvSpPr/>
          <p:nvPr/>
        </p:nvSpPr>
        <p:spPr>
          <a:xfrm>
            <a:off x="8782200" y="5133960"/>
            <a:ext cx="2285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분석 실행에 종속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업로드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작업공간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8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업로드 파일을 신뢰하지 않고 분석마다 복사본을 격리합니다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49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0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SFR-008 · SEC-007~009 · TST-004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1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2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3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4" name=""/>
          <p:cNvSpPr/>
          <p:nvPr/>
        </p:nvSpPr>
        <p:spPr>
          <a:xfrm>
            <a:off x="2381400" y="2600280"/>
            <a:ext cx="59004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5" name=""/>
          <p:cNvSpPr/>
          <p:nvPr/>
        </p:nvSpPr>
        <p:spPr>
          <a:xfrm>
            <a:off x="4610160" y="2600280"/>
            <a:ext cx="59004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6" name=""/>
          <p:cNvSpPr/>
          <p:nvPr/>
        </p:nvSpPr>
        <p:spPr>
          <a:xfrm>
            <a:off x="6838920" y="2600280"/>
            <a:ext cx="59004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7" name=""/>
          <p:cNvSpPr/>
          <p:nvPr/>
        </p:nvSpPr>
        <p:spPr>
          <a:xfrm>
            <a:off x="9067680" y="2600280"/>
            <a:ext cx="590040" cy="32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8" name=""/>
          <p:cNvSpPr/>
          <p:nvPr/>
        </p:nvSpPr>
        <p:spPr>
          <a:xfrm>
            <a:off x="685800" y="2190600"/>
            <a:ext cx="1695240" cy="11426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59" name=""/>
          <p:cNvSpPr/>
          <p:nvPr/>
        </p:nvSpPr>
        <p:spPr>
          <a:xfrm>
            <a:off x="838080" y="2324160"/>
            <a:ext cx="342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0" name=""/>
          <p:cNvSpPr/>
          <p:nvPr/>
        </p:nvSpPr>
        <p:spPr>
          <a:xfrm>
            <a:off x="838080" y="2619360"/>
            <a:ext cx="1428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ZIP </a:t>
            </a: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검증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1" name=""/>
          <p:cNvSpPr/>
          <p:nvPr/>
        </p:nvSpPr>
        <p:spPr>
          <a:xfrm>
            <a:off x="838080" y="292428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서명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경로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링크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암호화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2" name=""/>
          <p:cNvSpPr/>
          <p:nvPr/>
        </p:nvSpPr>
        <p:spPr>
          <a:xfrm>
            <a:off x="2914560" y="2190600"/>
            <a:ext cx="1695240" cy="11426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3" name=""/>
          <p:cNvSpPr/>
          <p:nvPr/>
        </p:nvSpPr>
        <p:spPr>
          <a:xfrm>
            <a:off x="3067200" y="2324160"/>
            <a:ext cx="342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4" name=""/>
          <p:cNvSpPr/>
          <p:nvPr/>
        </p:nvSpPr>
        <p:spPr>
          <a:xfrm>
            <a:off x="3067200" y="2619360"/>
            <a:ext cx="1428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 소스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5" name=""/>
          <p:cNvSpPr/>
          <p:nvPr/>
        </p:nvSpPr>
        <p:spPr>
          <a:xfrm>
            <a:off x="3067200" y="292428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검증된 원본을 지속 보관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6" name=""/>
          <p:cNvSpPr/>
          <p:nvPr/>
        </p:nvSpPr>
        <p:spPr>
          <a:xfrm>
            <a:off x="5143680" y="2190600"/>
            <a:ext cx="1695240" cy="1142640"/>
          </a:xfrm>
          <a:prstGeom prst="roundRect">
            <a:avLst>
              <a:gd name="adj" fmla="val 10000"/>
            </a:avLst>
          </a:prstGeom>
          <a:solidFill>
            <a:srgbClr val="0B2236"/>
          </a:solidFill>
          <a:ln w="9525">
            <a:solidFill>
              <a:srgbClr val="0B22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67" name=""/>
          <p:cNvSpPr/>
          <p:nvPr/>
        </p:nvSpPr>
        <p:spPr>
          <a:xfrm>
            <a:off x="5295960" y="2324160"/>
            <a:ext cx="342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8" name=""/>
          <p:cNvSpPr/>
          <p:nvPr/>
        </p:nvSpPr>
        <p:spPr>
          <a:xfrm>
            <a:off x="5295960" y="2619360"/>
            <a:ext cx="1428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분석별 작업공간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69" name=""/>
          <p:cNvSpPr/>
          <p:nvPr/>
        </p:nvSpPr>
        <p:spPr>
          <a:xfrm>
            <a:off x="5295960" y="292428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00" b="0" u="none" strike="noStrike">
                <a:solidFill>
                  <a:srgbClr val="B7CCDB"/>
                </a:solidFill>
                <a:effectLst/>
                <a:uFillTx/>
                <a:latin typeface="Noto Sans CJK KR"/>
              </a:rPr>
              <a:t>정규 파일만 고유 공간에 복사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0" name=""/>
          <p:cNvSpPr/>
          <p:nvPr/>
        </p:nvSpPr>
        <p:spPr>
          <a:xfrm>
            <a:off x="7372440" y="2190600"/>
            <a:ext cx="1695240" cy="11426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1" name=""/>
          <p:cNvSpPr/>
          <p:nvPr/>
        </p:nvSpPr>
        <p:spPr>
          <a:xfrm>
            <a:off x="7524720" y="2324160"/>
            <a:ext cx="342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2" name=""/>
          <p:cNvSpPr/>
          <p:nvPr/>
        </p:nvSpPr>
        <p:spPr>
          <a:xfrm>
            <a:off x="7524720" y="2619360"/>
            <a:ext cx="1428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실행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3" name=""/>
          <p:cNvSpPr/>
          <p:nvPr/>
        </p:nvSpPr>
        <p:spPr>
          <a:xfrm>
            <a:off x="7524720" y="292428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60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초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·2 jobs·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메모리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출력 제한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4" name=""/>
          <p:cNvSpPr/>
          <p:nvPr/>
        </p:nvSpPr>
        <p:spPr>
          <a:xfrm>
            <a:off x="9601200" y="2190600"/>
            <a:ext cx="1695240" cy="11426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5" name=""/>
          <p:cNvSpPr/>
          <p:nvPr/>
        </p:nvSpPr>
        <p:spPr>
          <a:xfrm>
            <a:off x="9753480" y="2324160"/>
            <a:ext cx="3427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6" name=""/>
          <p:cNvSpPr/>
          <p:nvPr/>
        </p:nvSpPr>
        <p:spPr>
          <a:xfrm>
            <a:off x="9753480" y="2619360"/>
            <a:ext cx="1428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임시 공간 삭제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7" name=""/>
          <p:cNvSpPr/>
          <p:nvPr/>
        </p:nvSpPr>
        <p:spPr>
          <a:xfrm>
            <a:off x="9753480" y="292428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성공</a:t>
            </a:r>
            <a:r>
              <a:rPr lang="en-US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실패와 무관하게 정리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8" name=""/>
          <p:cNvSpPr/>
          <p:nvPr/>
        </p:nvSpPr>
        <p:spPr>
          <a:xfrm>
            <a:off x="685800" y="3828960"/>
            <a:ext cx="10610640" cy="1618920"/>
          </a:xfrm>
          <a:prstGeom prst="roundRect">
            <a:avLst>
              <a:gd name="adj" fmla="val 7059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9" name=""/>
          <p:cNvSpPr/>
          <p:nvPr/>
        </p:nvSpPr>
        <p:spPr>
          <a:xfrm>
            <a:off x="933480" y="407664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원본과 복사본의 차이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0" name=""/>
          <p:cNvSpPr/>
          <p:nvPr/>
        </p:nvSpPr>
        <p:spPr>
          <a:xfrm>
            <a:off x="933480" y="4533840"/>
            <a:ext cx="152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 소스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1" name=""/>
          <p:cNvSpPr/>
          <p:nvPr/>
        </p:nvSpPr>
        <p:spPr>
          <a:xfrm>
            <a:off x="2571840" y="4533840"/>
            <a:ext cx="3714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다음 분석에서도 사용할 검증된 소스이므로 보관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2" name=""/>
          <p:cNvSpPr/>
          <p:nvPr/>
        </p:nvSpPr>
        <p:spPr>
          <a:xfrm>
            <a:off x="933480" y="4952880"/>
            <a:ext cx="152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작업공간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3" name=""/>
          <p:cNvSpPr/>
          <p:nvPr/>
        </p:nvSpPr>
        <p:spPr>
          <a:xfrm>
            <a:off x="2571840" y="4952880"/>
            <a:ext cx="4095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한 번의 분석을 위한 임시 복사본이며 실행 직후 삭제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4" name=""/>
          <p:cNvSpPr/>
          <p:nvPr/>
        </p:nvSpPr>
        <p:spPr>
          <a:xfrm>
            <a:off x="7048440" y="4533840"/>
            <a:ext cx="1714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DB </a:t>
            </a:r>
            <a:r>
              <a:rPr lang="ko-KR" sz="12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경로도 다시 검증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5" name=""/>
          <p:cNvSpPr/>
          <p:nvPr/>
        </p:nvSpPr>
        <p:spPr>
          <a:xfrm>
            <a:off x="7048440" y="4876920"/>
            <a:ext cx="371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저장된 값이 프로젝트 경계를 벗어나면 실행하지 않음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분석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결과 정규화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7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결과를 분석별 이력과 공통 </a:t>
            </a:r>
            <a:r>
              <a:rPr lang="en-US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Finding</a:t>
            </a: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으로 남깁니다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8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9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SFR-009·010 · DAR-005·006·008·009 · QLT-003~005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0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1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2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3" name=""/>
          <p:cNvSpPr/>
          <p:nvPr/>
        </p:nvSpPr>
        <p:spPr>
          <a:xfrm>
            <a:off x="609480" y="1562040"/>
            <a:ext cx="6019560" cy="4171680"/>
          </a:xfrm>
          <a:prstGeom prst="roundRect">
            <a:avLst>
              <a:gd name="adj" fmla="val 274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4" name=""/>
          <p:cNvSpPr/>
          <p:nvPr/>
        </p:nvSpPr>
        <p:spPr>
          <a:xfrm>
            <a:off x="895320" y="1828800"/>
            <a:ext cx="4952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실행은 상태와 근거를 함께 남깁니다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5" name=""/>
          <p:cNvSpPr/>
          <p:nvPr/>
        </p:nvSpPr>
        <p:spPr>
          <a:xfrm>
            <a:off x="895320" y="238140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6" name=""/>
          <p:cNvSpPr/>
          <p:nvPr/>
        </p:nvSpPr>
        <p:spPr>
          <a:xfrm>
            <a:off x="895320" y="251460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PENDING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7" name=""/>
          <p:cNvSpPr/>
          <p:nvPr/>
        </p:nvSpPr>
        <p:spPr>
          <a:xfrm>
            <a:off x="2324160" y="238140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198" name=""/>
          <p:cNvSpPr/>
          <p:nvPr/>
        </p:nvSpPr>
        <p:spPr>
          <a:xfrm>
            <a:off x="2324160" y="251460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RUNNING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99" name=""/>
          <p:cNvSpPr/>
          <p:nvPr/>
        </p:nvSpPr>
        <p:spPr>
          <a:xfrm>
            <a:off x="3753000" y="238140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E5F5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0" name=""/>
          <p:cNvSpPr/>
          <p:nvPr/>
        </p:nvSpPr>
        <p:spPr>
          <a:xfrm>
            <a:off x="3753000" y="251460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23855B"/>
                </a:solidFill>
                <a:effectLst/>
                <a:uFillTx/>
                <a:latin typeface="Noto Sans CJK KR"/>
              </a:rPr>
              <a:t>COMPLETED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1" name=""/>
          <p:cNvSpPr/>
          <p:nvPr/>
        </p:nvSpPr>
        <p:spPr>
          <a:xfrm>
            <a:off x="5181480" y="2381400"/>
            <a:ext cx="1199880" cy="475920"/>
          </a:xfrm>
          <a:prstGeom prst="roundRect">
            <a:avLst>
              <a:gd name="adj" fmla="val 24000"/>
            </a:avLst>
          </a:prstGeom>
          <a:solidFill>
            <a:srgbClr val="FCE8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2" name=""/>
          <p:cNvSpPr/>
          <p:nvPr/>
        </p:nvSpPr>
        <p:spPr>
          <a:xfrm>
            <a:off x="5181480" y="251460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C53A45"/>
                </a:solidFill>
                <a:effectLst/>
                <a:uFillTx/>
                <a:latin typeface="Noto Sans CJK KR"/>
              </a:rPr>
              <a:t>FAILED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3" name=""/>
          <p:cNvSpPr/>
          <p:nvPr/>
        </p:nvSpPr>
        <p:spPr>
          <a:xfrm>
            <a:off x="895320" y="3257640"/>
            <a:ext cx="2095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분석별 저장 정보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4" name=""/>
          <p:cNvSpPr/>
          <p:nvPr/>
        </p:nvSpPr>
        <p:spPr>
          <a:xfrm>
            <a:off x="895320" y="3714840"/>
            <a:ext cx="123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실행 이력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5" name=""/>
          <p:cNvSpPr/>
          <p:nvPr/>
        </p:nvSpPr>
        <p:spPr>
          <a:xfrm>
            <a:off x="2228760" y="3714840"/>
            <a:ext cx="3828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실행자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시작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/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종료 시각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오류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6" name=""/>
          <p:cNvSpPr/>
          <p:nvPr/>
        </p:nvSpPr>
        <p:spPr>
          <a:xfrm>
            <a:off x="895320" y="4124160"/>
            <a:ext cx="51624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7" name=""/>
          <p:cNvSpPr/>
          <p:nvPr/>
        </p:nvSpPr>
        <p:spPr>
          <a:xfrm>
            <a:off x="895320" y="4305240"/>
            <a:ext cx="123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재현 정보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8" name=""/>
          <p:cNvSpPr/>
          <p:nvPr/>
        </p:nvSpPr>
        <p:spPr>
          <a:xfrm>
            <a:off x="2228760" y="4305240"/>
            <a:ext cx="3828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소스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/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규칙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SHA-256·Semgrep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버전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활성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Rule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09" name=""/>
          <p:cNvSpPr/>
          <p:nvPr/>
        </p:nvSpPr>
        <p:spPr>
          <a:xfrm>
            <a:off x="895320" y="4714560"/>
            <a:ext cx="51624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0" name=""/>
          <p:cNvSpPr/>
          <p:nvPr/>
        </p:nvSpPr>
        <p:spPr>
          <a:xfrm>
            <a:off x="895320" y="4896000"/>
            <a:ext cx="123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결과 연결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1" name=""/>
          <p:cNvSpPr/>
          <p:nvPr/>
        </p:nvSpPr>
        <p:spPr>
          <a:xfrm>
            <a:off x="2228760" y="4896000"/>
            <a:ext cx="3828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AnalysisRun 1:N Finding·Rule FK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2" name=""/>
          <p:cNvSpPr/>
          <p:nvPr/>
        </p:nvSpPr>
        <p:spPr>
          <a:xfrm>
            <a:off x="7048440" y="1562040"/>
            <a:ext cx="4533480" cy="4171680"/>
          </a:xfrm>
          <a:prstGeom prst="roundRect">
            <a:avLst>
              <a:gd name="adj" fmla="val 274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3" name=""/>
          <p:cNvSpPr/>
          <p:nvPr/>
        </p:nvSpPr>
        <p:spPr>
          <a:xfrm>
            <a:off x="7353360" y="1866960"/>
            <a:ext cx="1714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Semgrep JSON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4" name=""/>
          <p:cNvSpPr/>
          <p:nvPr/>
        </p:nvSpPr>
        <p:spPr>
          <a:xfrm>
            <a:off x="7353360" y="2228760"/>
            <a:ext cx="1714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↓  normalizer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5" name=""/>
          <p:cNvSpPr/>
          <p:nvPr/>
        </p:nvSpPr>
        <p:spPr>
          <a:xfrm>
            <a:off x="7353360" y="2610000"/>
            <a:ext cx="1904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8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공통 </a:t>
            </a:r>
            <a:r>
              <a:rPr lang="en-US" sz="18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Finding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6" name=""/>
          <p:cNvSpPr/>
          <p:nvPr/>
        </p:nvSpPr>
        <p:spPr>
          <a:xfrm>
            <a:off x="7353360" y="3086280"/>
            <a:ext cx="132840" cy="132840"/>
          </a:xfrm>
          <a:prstGeom prst="roundRect">
            <a:avLst>
              <a:gd name="adj" fmla="val 50000"/>
            </a:avLst>
          </a:prstGeom>
          <a:solidFill>
            <a:srgbClr val="1F6E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17" name=""/>
          <p:cNvSpPr/>
          <p:nvPr/>
        </p:nvSpPr>
        <p:spPr>
          <a:xfrm>
            <a:off x="7620120" y="3009960"/>
            <a:ext cx="3485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상대 파일 경로와 줄</a:t>
            </a:r>
            <a:r>
              <a:rPr lang="en-US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18" name=""/>
          <p:cNvSpPr/>
          <p:nvPr/>
        </p:nvSpPr>
        <p:spPr>
          <a:xfrm>
            <a:off x="7353360" y="3543480"/>
            <a:ext cx="132840" cy="132840"/>
          </a:xfrm>
          <a:prstGeom prst="roundRect">
            <a:avLst>
              <a:gd name="adj" fmla="val 50000"/>
            </a:avLst>
          </a:prstGeom>
          <a:solidFill>
            <a:srgbClr val="1F6E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19" name=""/>
          <p:cNvSpPr/>
          <p:nvPr/>
        </p:nvSpPr>
        <p:spPr>
          <a:xfrm>
            <a:off x="7620120" y="3467160"/>
            <a:ext cx="3485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심각도</a:t>
            </a:r>
            <a:r>
              <a:rPr lang="en-US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신뢰도</a:t>
            </a:r>
            <a:r>
              <a:rPr lang="en-US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메시지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0" name=""/>
          <p:cNvSpPr/>
          <p:nvPr/>
        </p:nvSpPr>
        <p:spPr>
          <a:xfrm>
            <a:off x="7353360" y="4000680"/>
            <a:ext cx="132840" cy="132840"/>
          </a:xfrm>
          <a:prstGeom prst="roundRect">
            <a:avLst>
              <a:gd name="adj" fmla="val 50000"/>
            </a:avLst>
          </a:prstGeom>
          <a:solidFill>
            <a:srgbClr val="1F6E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21" name=""/>
          <p:cNvSpPr/>
          <p:nvPr/>
        </p:nvSpPr>
        <p:spPr>
          <a:xfrm>
            <a:off x="7620120" y="3924360"/>
            <a:ext cx="3485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근거 코드</a:t>
            </a:r>
            <a:r>
              <a:rPr lang="en-US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권고</a:t>
            </a:r>
            <a:r>
              <a:rPr lang="en-US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원본 결과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2" name=""/>
          <p:cNvSpPr/>
          <p:nvPr/>
        </p:nvSpPr>
        <p:spPr>
          <a:xfrm>
            <a:off x="7353360" y="4457880"/>
            <a:ext cx="132840" cy="132840"/>
          </a:xfrm>
          <a:prstGeom prst="roundRect">
            <a:avLst>
              <a:gd name="adj" fmla="val 50000"/>
            </a:avLst>
          </a:prstGeom>
          <a:solidFill>
            <a:srgbClr val="2385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23" name=""/>
          <p:cNvSpPr/>
          <p:nvPr/>
        </p:nvSpPr>
        <p:spPr>
          <a:xfrm>
            <a:off x="7620120" y="4381560"/>
            <a:ext cx="3485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시점 </a:t>
            </a: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Rule </a:t>
            </a: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메타데이터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4" name=""/>
          <p:cNvSpPr/>
          <p:nvPr/>
        </p:nvSpPr>
        <p:spPr>
          <a:xfrm>
            <a:off x="7353000" y="5010120"/>
            <a:ext cx="367668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5" name=""/>
          <p:cNvSpPr/>
          <p:nvPr/>
        </p:nvSpPr>
        <p:spPr>
          <a:xfrm>
            <a:off x="7353360" y="5181480"/>
            <a:ext cx="1618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분석별 재현 정보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6" name=""/>
          <p:cNvSpPr/>
          <p:nvPr/>
        </p:nvSpPr>
        <p:spPr>
          <a:xfrm>
            <a:off x="8953560" y="5153040"/>
            <a:ext cx="2133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소스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규칙 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SHA-256 / Semgrep 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버전 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/ 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활성 </a:t>
            </a:r>
            <a:r>
              <a:rPr lang="en-US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Rule </a:t>
            </a:r>
            <a:r>
              <a:rPr lang="ko-KR" sz="98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목록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KISA 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규칙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8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49</a:t>
            </a: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개 카탈로그와 자동 탐지 범위를 분리해 과장 없이 관리합니다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9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0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SFR-011~013 · DAR-007 · QLT-002 · TST-005·006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1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2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3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07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4" name=""/>
          <p:cNvSpPr/>
          <p:nvPr/>
        </p:nvSpPr>
        <p:spPr>
          <a:xfrm>
            <a:off x="609480" y="1562040"/>
            <a:ext cx="3847680" cy="4171680"/>
          </a:xfrm>
          <a:prstGeom prst="roundRect">
            <a:avLst>
              <a:gd name="adj" fmla="val 2970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35" name=""/>
          <p:cNvSpPr/>
          <p:nvPr/>
        </p:nvSpPr>
        <p:spPr>
          <a:xfrm>
            <a:off x="914400" y="1847880"/>
            <a:ext cx="1428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49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6" name=""/>
          <p:cNvSpPr/>
          <p:nvPr/>
        </p:nvSpPr>
        <p:spPr>
          <a:xfrm>
            <a:off x="914400" y="24480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카탈로그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7" name=""/>
          <p:cNvSpPr/>
          <p:nvPr/>
        </p:nvSpPr>
        <p:spPr>
          <a:xfrm>
            <a:off x="914400" y="2714760"/>
            <a:ext cx="1714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공식 항목 전체 등록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8" name=""/>
          <p:cNvSpPr/>
          <p:nvPr/>
        </p:nvSpPr>
        <p:spPr>
          <a:xfrm>
            <a:off x="2533680" y="1847880"/>
            <a:ext cx="1428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77C5A2"/>
                </a:solidFill>
                <a:effectLst/>
                <a:uFillTx/>
                <a:latin typeface="Noto Sans CJK KR"/>
              </a:rPr>
              <a:t>8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9" name=""/>
          <p:cNvSpPr/>
          <p:nvPr/>
        </p:nvSpPr>
        <p:spPr>
          <a:xfrm>
            <a:off x="2533680" y="244800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PARTIAL </a:t>
            </a: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자동 탐지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0" name=""/>
          <p:cNvSpPr/>
          <p:nvPr/>
        </p:nvSpPr>
        <p:spPr>
          <a:xfrm>
            <a:off x="2533680" y="2714760"/>
            <a:ext cx="1714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0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3</a:t>
            </a:r>
            <a:r>
              <a:rPr lang="ko-KR" sz="980" b="0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개 언어별 규칙 검증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1" name=""/>
          <p:cNvSpPr/>
          <p:nvPr/>
        </p:nvSpPr>
        <p:spPr>
          <a:xfrm>
            <a:off x="914400" y="3352680"/>
            <a:ext cx="1428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4BC65"/>
                </a:solidFill>
                <a:effectLst/>
                <a:uFillTx/>
                <a:latin typeface="Noto Sans CJK KR"/>
              </a:rPr>
              <a:t>41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2" name=""/>
          <p:cNvSpPr/>
          <p:nvPr/>
        </p:nvSpPr>
        <p:spPr>
          <a:xfrm>
            <a:off x="914400" y="3952800"/>
            <a:ext cx="1785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NOT_IMPLEMENTED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3" name=""/>
          <p:cNvSpPr/>
          <p:nvPr/>
        </p:nvSpPr>
        <p:spPr>
          <a:xfrm>
            <a:off x="914400" y="4219560"/>
            <a:ext cx="1714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0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자동 탐지를 주장하지 않음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4" name=""/>
          <p:cNvSpPr/>
          <p:nvPr/>
        </p:nvSpPr>
        <p:spPr>
          <a:xfrm>
            <a:off x="2533680" y="34290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지원 언어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5" name=""/>
          <p:cNvSpPr/>
          <p:nvPr/>
        </p:nvSpPr>
        <p:spPr>
          <a:xfrm>
            <a:off x="2533680" y="3753000"/>
            <a:ext cx="11426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Java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JavaScript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Python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6" name=""/>
          <p:cNvSpPr/>
          <p:nvPr/>
        </p:nvSpPr>
        <p:spPr>
          <a:xfrm>
            <a:off x="914400" y="4914720"/>
            <a:ext cx="2857320" cy="360"/>
          </a:xfrm>
          <a:prstGeom prst="line">
            <a:avLst/>
          </a:prstGeom>
          <a:ln w="9525">
            <a:solidFill>
              <a:srgbClr val="3151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7" name=""/>
          <p:cNvSpPr/>
          <p:nvPr/>
        </p:nvSpPr>
        <p:spPr>
          <a:xfrm>
            <a:off x="914400" y="5105520"/>
            <a:ext cx="2952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YAML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은 개발자가 작성하고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관리자는 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항목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언어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·Rule ID 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연결만 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DB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에 등록합니다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8" name=""/>
          <p:cNvSpPr/>
          <p:nvPr/>
        </p:nvSpPr>
        <p:spPr>
          <a:xfrm>
            <a:off x="4857840" y="1562040"/>
            <a:ext cx="6724440" cy="4171680"/>
          </a:xfrm>
          <a:prstGeom prst="roundRect">
            <a:avLst>
              <a:gd name="adj" fmla="val 2740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49" name=""/>
          <p:cNvSpPr/>
          <p:nvPr/>
        </p:nvSpPr>
        <p:spPr>
          <a:xfrm>
            <a:off x="5162400" y="1828800"/>
            <a:ext cx="4952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6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카탈로그와 탐지 규칙의 역할 분리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0" name=""/>
          <p:cNvSpPr/>
          <p:nvPr/>
        </p:nvSpPr>
        <p:spPr>
          <a:xfrm>
            <a:off x="7105680" y="3143160"/>
            <a:ext cx="51408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1" name=""/>
          <p:cNvSpPr/>
          <p:nvPr/>
        </p:nvSpPr>
        <p:spPr>
          <a:xfrm>
            <a:off x="9334440" y="3143160"/>
            <a:ext cx="51408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2" name=""/>
          <p:cNvSpPr/>
          <p:nvPr/>
        </p:nvSpPr>
        <p:spPr>
          <a:xfrm>
            <a:off x="5162400" y="2514600"/>
            <a:ext cx="1809360" cy="16570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3" name=""/>
          <p:cNvSpPr/>
          <p:nvPr/>
        </p:nvSpPr>
        <p:spPr>
          <a:xfrm>
            <a:off x="5315040" y="2724120"/>
            <a:ext cx="1504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KISA CATALOG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4" name=""/>
          <p:cNvSpPr/>
          <p:nvPr/>
        </p:nvSpPr>
        <p:spPr>
          <a:xfrm>
            <a:off x="5315040" y="3162240"/>
            <a:ext cx="1504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공식 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49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개 항목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5" name=""/>
          <p:cNvSpPr/>
          <p:nvPr/>
        </p:nvSpPr>
        <p:spPr>
          <a:xfrm>
            <a:off x="5315040" y="3600360"/>
            <a:ext cx="1504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ID·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명칭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분류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설명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6" name=""/>
          <p:cNvSpPr/>
          <p:nvPr/>
        </p:nvSpPr>
        <p:spPr>
          <a:xfrm>
            <a:off x="7391520" y="2514600"/>
            <a:ext cx="1809360" cy="1657080"/>
          </a:xfrm>
          <a:prstGeom prst="roundRect">
            <a:avLst>
              <a:gd name="adj" fmla="val 6897"/>
            </a:avLst>
          </a:prstGeom>
          <a:solidFill>
            <a:srgbClr val="0B2236"/>
          </a:solidFill>
          <a:ln w="9525">
            <a:solidFill>
              <a:srgbClr val="0B22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57" name=""/>
          <p:cNvSpPr/>
          <p:nvPr/>
        </p:nvSpPr>
        <p:spPr>
          <a:xfrm>
            <a:off x="7543800" y="2724120"/>
            <a:ext cx="1504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DIAGNOSTIC_RULE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8" name=""/>
          <p:cNvSpPr/>
          <p:nvPr/>
        </p:nvSpPr>
        <p:spPr>
          <a:xfrm>
            <a:off x="7543800" y="3162240"/>
            <a:ext cx="1504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3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관리자 </a:t>
            </a: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DB </a:t>
            </a:r>
            <a:r>
              <a:rPr lang="ko-KR" sz="135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매핑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59" name=""/>
          <p:cNvSpPr/>
          <p:nvPr/>
        </p:nvSpPr>
        <p:spPr>
          <a:xfrm>
            <a:off x="7543800" y="3600360"/>
            <a:ext cx="1504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언어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·Semgrep Rule 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0" name=""/>
          <p:cNvSpPr/>
          <p:nvPr/>
        </p:nvSpPr>
        <p:spPr>
          <a:xfrm>
            <a:off x="9620280" y="2514600"/>
            <a:ext cx="1809360" cy="16570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1" name=""/>
          <p:cNvSpPr/>
          <p:nvPr/>
        </p:nvSpPr>
        <p:spPr>
          <a:xfrm>
            <a:off x="9772560" y="2724120"/>
            <a:ext cx="1504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YAML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2" name=""/>
          <p:cNvSpPr/>
          <p:nvPr/>
        </p:nvSpPr>
        <p:spPr>
          <a:xfrm>
            <a:off x="9772560" y="3162240"/>
            <a:ext cx="1504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개발자 관리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3" name=""/>
          <p:cNvSpPr/>
          <p:nvPr/>
        </p:nvSpPr>
        <p:spPr>
          <a:xfrm>
            <a:off x="9772560" y="3600360"/>
            <a:ext cx="1504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Semgrep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이 실행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4" name=""/>
          <p:cNvSpPr/>
          <p:nvPr/>
        </p:nvSpPr>
        <p:spPr>
          <a:xfrm>
            <a:off x="5162400" y="4514760"/>
            <a:ext cx="6114600" cy="875880"/>
          </a:xfrm>
          <a:prstGeom prst="roundRect">
            <a:avLst>
              <a:gd name="adj" fmla="val 13043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5" name=""/>
          <p:cNvSpPr/>
          <p:nvPr/>
        </p:nvSpPr>
        <p:spPr>
          <a:xfrm>
            <a:off x="5429160" y="4705200"/>
            <a:ext cx="5562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웹 애플리케이션은 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YAML</a:t>
            </a:r>
            <a:r>
              <a:rPr lang="ko-KR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을 해석하거나 수정하지 않습니다</a:t>
            </a:r>
            <a:r>
              <a:rPr lang="en-US" sz="13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6" name=""/>
          <p:cNvSpPr/>
          <p:nvPr/>
        </p:nvSpPr>
        <p:spPr>
          <a:xfrm>
            <a:off x="5429160" y="5067360"/>
            <a:ext cx="556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공식 카탈로그 조회와 언어별 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Rule ID </a:t>
            </a:r>
            <a:r>
              <a:rPr lang="ko-KR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연결만 담당합니다</a:t>
            </a:r>
            <a:r>
              <a:rPr lang="en-US" sz="113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검증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남은 구현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8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중간점검을 통과했고</a:t>
            </a:r>
            <a:r>
              <a:rPr lang="en-US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, </a:t>
            </a: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남은 구현은 진단 항목 확장입니다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69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0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48 tests passed · 2026.08.30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1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2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3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4" name=""/>
          <p:cNvSpPr/>
          <p:nvPr/>
        </p:nvSpPr>
        <p:spPr>
          <a:xfrm>
            <a:off x="609480" y="1542960"/>
            <a:ext cx="3219120" cy="2361960"/>
          </a:xfrm>
          <a:prstGeom prst="roundRect">
            <a:avLst>
              <a:gd name="adj" fmla="val 4839"/>
            </a:avLst>
          </a:prstGeom>
          <a:solidFill>
            <a:srgbClr val="0B22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75" name=""/>
          <p:cNvSpPr/>
          <p:nvPr/>
        </p:nvSpPr>
        <p:spPr>
          <a:xfrm>
            <a:off x="895320" y="1790640"/>
            <a:ext cx="15235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48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6" name=""/>
          <p:cNvSpPr/>
          <p:nvPr/>
        </p:nvSpPr>
        <p:spPr>
          <a:xfrm>
            <a:off x="895320" y="249552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0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자동 테스트 통과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7" name=""/>
          <p:cNvSpPr/>
          <p:nvPr/>
        </p:nvSpPr>
        <p:spPr>
          <a:xfrm>
            <a:off x="895320" y="3009960"/>
            <a:ext cx="25142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인증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권한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·ZIP 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방어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실제 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Semgrep·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Finding·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규칙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·DB 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무결성</a:t>
            </a:r>
            <a:r>
              <a:rPr lang="en-US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품질 구조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8" name=""/>
          <p:cNvSpPr/>
          <p:nvPr/>
        </p:nvSpPr>
        <p:spPr>
          <a:xfrm>
            <a:off x="4210200" y="1542960"/>
            <a:ext cx="7295760" cy="2361960"/>
          </a:xfrm>
          <a:prstGeom prst="roundRect">
            <a:avLst>
              <a:gd name="adj" fmla="val 4839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79" name=""/>
          <p:cNvSpPr/>
          <p:nvPr/>
        </p:nvSpPr>
        <p:spPr>
          <a:xfrm>
            <a:off x="4514760" y="1809720"/>
            <a:ext cx="1352160" cy="266400"/>
          </a:xfrm>
          <a:prstGeom prst="roundRect">
            <a:avLst>
              <a:gd name="adj" fmla="val 42857"/>
            </a:avLst>
          </a:prstGeom>
          <a:solidFill>
            <a:srgbClr val="FFF3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0" name=""/>
          <p:cNvSpPr/>
          <p:nvPr/>
        </p:nvSpPr>
        <p:spPr>
          <a:xfrm>
            <a:off x="4514760" y="1847880"/>
            <a:ext cx="1352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980" b="1" u="none" strike="noStrike">
                <a:solidFill>
                  <a:srgbClr val="C87912"/>
                </a:solidFill>
                <a:effectLst/>
                <a:uFillTx/>
                <a:latin typeface="Noto Sans CJK KR"/>
              </a:rPr>
              <a:t>남은 구현 </a:t>
            </a:r>
            <a:r>
              <a:rPr lang="en-US" sz="980" b="1" u="none" strike="noStrike">
                <a:solidFill>
                  <a:srgbClr val="C87912"/>
                </a:solidFill>
                <a:effectLst/>
                <a:uFillTx/>
                <a:latin typeface="Noto Sans CJK KR"/>
              </a:rPr>
              <a:t>1</a:t>
            </a:r>
            <a:r>
              <a:rPr lang="ko-KR" sz="980" b="1" u="none" strike="noStrike">
                <a:solidFill>
                  <a:srgbClr val="C87912"/>
                </a:solidFill>
                <a:effectLst/>
                <a:uFillTx/>
                <a:latin typeface="Noto Sans CJK KR"/>
              </a:rPr>
              <a:t>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1" name=""/>
          <p:cNvSpPr/>
          <p:nvPr/>
        </p:nvSpPr>
        <p:spPr>
          <a:xfrm>
            <a:off x="4514760" y="2343240"/>
            <a:ext cx="6152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NOT_IMPLEMENTED </a:t>
            </a:r>
            <a:r>
              <a:rPr lang="ko-KR" sz="21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진단 항목 구현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2" name=""/>
          <p:cNvSpPr/>
          <p:nvPr/>
        </p:nvSpPr>
        <p:spPr>
          <a:xfrm>
            <a:off x="4514760" y="2876400"/>
            <a:ext cx="55242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현재 자동 탐지하지 않는 </a:t>
            </a:r>
            <a:r>
              <a:rPr lang="en-US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41</a:t>
            </a:r>
            <a:r>
              <a:rPr lang="ko-KR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개 </a:t>
            </a:r>
            <a:r>
              <a:rPr lang="en-US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항목을 대상으로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규칙과 검증 데이터를 추가합니다</a:t>
            </a:r>
            <a:r>
              <a:rPr lang="en-US" sz="13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3" name=""/>
          <p:cNvSpPr/>
          <p:nvPr/>
        </p:nvSpPr>
        <p:spPr>
          <a:xfrm>
            <a:off x="4514760" y="3562200"/>
            <a:ext cx="5905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YAML 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규칙 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+  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취약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정상 샘플 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+  KISA Rule ID 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매핑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4" name=""/>
          <p:cNvSpPr/>
          <p:nvPr/>
        </p:nvSpPr>
        <p:spPr>
          <a:xfrm>
            <a:off x="609480" y="436248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58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시연 순서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5" name=""/>
          <p:cNvSpPr/>
          <p:nvPr/>
        </p:nvSpPr>
        <p:spPr>
          <a:xfrm>
            <a:off x="2419200" y="5124600"/>
            <a:ext cx="28548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6" name=""/>
          <p:cNvSpPr/>
          <p:nvPr/>
        </p:nvSpPr>
        <p:spPr>
          <a:xfrm>
            <a:off x="609480" y="4876920"/>
            <a:ext cx="1828440" cy="875880"/>
          </a:xfrm>
          <a:prstGeom prst="roundRect">
            <a:avLst>
              <a:gd name="adj" fmla="val 1304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7" name=""/>
          <p:cNvSpPr/>
          <p:nvPr/>
        </p:nvSpPr>
        <p:spPr>
          <a:xfrm>
            <a:off x="743040" y="5010120"/>
            <a:ext cx="266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8" name=""/>
          <p:cNvSpPr/>
          <p:nvPr/>
        </p:nvSpPr>
        <p:spPr>
          <a:xfrm>
            <a:off x="743040" y="5315040"/>
            <a:ext cx="1561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로그인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9" name=""/>
          <p:cNvSpPr/>
          <p:nvPr/>
        </p:nvSpPr>
        <p:spPr>
          <a:xfrm>
            <a:off x="4610160" y="5124600"/>
            <a:ext cx="28548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0" name=""/>
          <p:cNvSpPr/>
          <p:nvPr/>
        </p:nvSpPr>
        <p:spPr>
          <a:xfrm>
            <a:off x="2800440" y="4876920"/>
            <a:ext cx="1828440" cy="875880"/>
          </a:xfrm>
          <a:prstGeom prst="roundRect">
            <a:avLst>
              <a:gd name="adj" fmla="val 1304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1" name=""/>
          <p:cNvSpPr/>
          <p:nvPr/>
        </p:nvSpPr>
        <p:spPr>
          <a:xfrm>
            <a:off x="2933640" y="5010120"/>
            <a:ext cx="266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2" name=""/>
          <p:cNvSpPr/>
          <p:nvPr/>
        </p:nvSpPr>
        <p:spPr>
          <a:xfrm>
            <a:off x="2933640" y="5315040"/>
            <a:ext cx="1561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사용자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3" name=""/>
          <p:cNvSpPr/>
          <p:nvPr/>
        </p:nvSpPr>
        <p:spPr>
          <a:xfrm>
            <a:off x="6800760" y="5124600"/>
            <a:ext cx="28548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4" name=""/>
          <p:cNvSpPr/>
          <p:nvPr/>
        </p:nvSpPr>
        <p:spPr>
          <a:xfrm>
            <a:off x="4991040" y="4876920"/>
            <a:ext cx="1828440" cy="875880"/>
          </a:xfrm>
          <a:prstGeom prst="roundRect">
            <a:avLst>
              <a:gd name="adj" fmla="val 13043"/>
            </a:avLst>
          </a:prstGeom>
          <a:solidFill>
            <a:srgbClr val="1F6EA5"/>
          </a:solidFill>
          <a:ln w="9525">
            <a:solidFill>
              <a:srgbClr val="1F6E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295" name=""/>
          <p:cNvSpPr/>
          <p:nvPr/>
        </p:nvSpPr>
        <p:spPr>
          <a:xfrm>
            <a:off x="5124600" y="5010120"/>
            <a:ext cx="266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6" name=""/>
          <p:cNvSpPr/>
          <p:nvPr/>
        </p:nvSpPr>
        <p:spPr>
          <a:xfrm>
            <a:off x="5124600" y="5315040"/>
            <a:ext cx="1561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ZIP </a:t>
            </a:r>
            <a:r>
              <a:rPr lang="ko-KR" sz="11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업로드</a:t>
            </a: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분석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7" name=""/>
          <p:cNvSpPr/>
          <p:nvPr/>
        </p:nvSpPr>
        <p:spPr>
          <a:xfrm>
            <a:off x="8991720" y="5124600"/>
            <a:ext cx="28548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8" name=""/>
          <p:cNvSpPr/>
          <p:nvPr/>
        </p:nvSpPr>
        <p:spPr>
          <a:xfrm>
            <a:off x="7182000" y="4876920"/>
            <a:ext cx="1828440" cy="875880"/>
          </a:xfrm>
          <a:prstGeom prst="roundRect">
            <a:avLst>
              <a:gd name="adj" fmla="val 1304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9" name=""/>
          <p:cNvSpPr/>
          <p:nvPr/>
        </p:nvSpPr>
        <p:spPr>
          <a:xfrm>
            <a:off x="7315200" y="5010120"/>
            <a:ext cx="266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0" name=""/>
          <p:cNvSpPr/>
          <p:nvPr/>
        </p:nvSpPr>
        <p:spPr>
          <a:xfrm>
            <a:off x="7315200" y="5315040"/>
            <a:ext cx="1561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Finding </a:t>
            </a: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필터</a:t>
            </a:r>
            <a:r>
              <a:rPr lang="en-US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상세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1" name=""/>
          <p:cNvSpPr/>
          <p:nvPr/>
        </p:nvSpPr>
        <p:spPr>
          <a:xfrm>
            <a:off x="9372600" y="4876920"/>
            <a:ext cx="1828440" cy="875880"/>
          </a:xfrm>
          <a:prstGeom prst="roundRect">
            <a:avLst>
              <a:gd name="adj" fmla="val 13043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2" name=""/>
          <p:cNvSpPr/>
          <p:nvPr/>
        </p:nvSpPr>
        <p:spPr>
          <a:xfrm>
            <a:off x="9505800" y="5010120"/>
            <a:ext cx="266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3" name=""/>
          <p:cNvSpPr/>
          <p:nvPr/>
        </p:nvSpPr>
        <p:spPr>
          <a:xfrm>
            <a:off x="9505800" y="5315040"/>
            <a:ext cx="1561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1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규칙 조회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부록 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A · 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요구사항 추적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5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요구사항은 기능 단위로 묶어 추적할 수 있습니다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6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7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SFR · DAR · SEC · TST · QLT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8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09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0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09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1" name=""/>
          <p:cNvSpPr/>
          <p:nvPr/>
        </p:nvSpPr>
        <p:spPr>
          <a:xfrm>
            <a:off x="723960" y="158112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기능 묶음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2" name=""/>
          <p:cNvSpPr/>
          <p:nvPr/>
        </p:nvSpPr>
        <p:spPr>
          <a:xfrm>
            <a:off x="2857680" y="1581120"/>
            <a:ext cx="333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관련 요구사항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3" name=""/>
          <p:cNvSpPr/>
          <p:nvPr/>
        </p:nvSpPr>
        <p:spPr>
          <a:xfrm>
            <a:off x="6381720" y="1581120"/>
            <a:ext cx="352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구현 근거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4" name=""/>
          <p:cNvSpPr/>
          <p:nvPr/>
        </p:nvSpPr>
        <p:spPr>
          <a:xfrm>
            <a:off x="10096560" y="1581120"/>
            <a:ext cx="1599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13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검증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5" name=""/>
          <p:cNvSpPr/>
          <p:nvPr/>
        </p:nvSpPr>
        <p:spPr>
          <a:xfrm>
            <a:off x="609480" y="1942920"/>
            <a:ext cx="10972800" cy="360"/>
          </a:xfrm>
          <a:prstGeom prst="line">
            <a:avLst/>
          </a:prstGeom>
          <a:ln w="19050">
            <a:solidFill>
              <a:srgbClr val="0B22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6" name=""/>
          <p:cNvSpPr/>
          <p:nvPr/>
        </p:nvSpPr>
        <p:spPr>
          <a:xfrm>
            <a:off x="609480" y="2057400"/>
            <a:ext cx="10972440" cy="685440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7" name=""/>
          <p:cNvSpPr/>
          <p:nvPr/>
        </p:nvSpPr>
        <p:spPr>
          <a:xfrm>
            <a:off x="723960" y="2171880"/>
            <a:ext cx="192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로그인</a:t>
            </a: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계정 보호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8" name=""/>
          <p:cNvSpPr/>
          <p:nvPr/>
        </p:nvSpPr>
        <p:spPr>
          <a:xfrm>
            <a:off x="2857680" y="2152800"/>
            <a:ext cx="329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SFR-001·003 / DAR-002 / SEC-001·002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19" name=""/>
          <p:cNvSpPr/>
          <p:nvPr/>
        </p:nvSpPr>
        <p:spPr>
          <a:xfrm>
            <a:off x="6381720" y="2152800"/>
            <a:ext cx="348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bcrypt·signed cookie·CSRF·DB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역할 재검증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0" name=""/>
          <p:cNvSpPr/>
          <p:nvPr/>
        </p:nvSpPr>
        <p:spPr>
          <a:xfrm>
            <a:off x="10096560" y="2152800"/>
            <a:ext cx="148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TST-001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1" name=""/>
          <p:cNvSpPr/>
          <p:nvPr/>
        </p:nvSpPr>
        <p:spPr>
          <a:xfrm>
            <a:off x="723960" y="2952720"/>
            <a:ext cx="192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프로젝트</a:t>
            </a: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권한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2" name=""/>
          <p:cNvSpPr/>
          <p:nvPr/>
        </p:nvSpPr>
        <p:spPr>
          <a:xfrm>
            <a:off x="2857680" y="2933640"/>
            <a:ext cx="329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SFR-003·008 / DAR-003~005·010 / SEC-003~006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3" name=""/>
          <p:cNvSpPr/>
          <p:nvPr/>
        </p:nvSpPr>
        <p:spPr>
          <a:xfrm>
            <a:off x="6381720" y="2933640"/>
            <a:ext cx="348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ProjectUser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관계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·ADMIN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쓰기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·USER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읽기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·404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4" name=""/>
          <p:cNvSpPr/>
          <p:nvPr/>
        </p:nvSpPr>
        <p:spPr>
          <a:xfrm>
            <a:off x="10096560" y="2933640"/>
            <a:ext cx="148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TST-002·003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5" name=""/>
          <p:cNvSpPr/>
          <p:nvPr/>
        </p:nvSpPr>
        <p:spPr>
          <a:xfrm>
            <a:off x="609480" y="3619440"/>
            <a:ext cx="10972440" cy="685440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6" name=""/>
          <p:cNvSpPr/>
          <p:nvPr/>
        </p:nvSpPr>
        <p:spPr>
          <a:xfrm>
            <a:off x="723960" y="3733920"/>
            <a:ext cx="192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ZIP·</a:t>
            </a: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격리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7" name=""/>
          <p:cNvSpPr/>
          <p:nvPr/>
        </p:nvSpPr>
        <p:spPr>
          <a:xfrm>
            <a:off x="2857680" y="3714840"/>
            <a:ext cx="329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SFR-008 / SEC-007~009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8" name=""/>
          <p:cNvSpPr/>
          <p:nvPr/>
        </p:nvSpPr>
        <p:spPr>
          <a:xfrm>
            <a:off x="6381720" y="3714840"/>
            <a:ext cx="348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안전 추출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경계 재검증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분석별 작업공간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제한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29" name=""/>
          <p:cNvSpPr/>
          <p:nvPr/>
        </p:nvSpPr>
        <p:spPr>
          <a:xfrm>
            <a:off x="10096560" y="3714840"/>
            <a:ext cx="148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TST-004·008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0" name=""/>
          <p:cNvSpPr/>
          <p:nvPr/>
        </p:nvSpPr>
        <p:spPr>
          <a:xfrm>
            <a:off x="723960" y="4514760"/>
            <a:ext cx="192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분석 이력</a:t>
            </a: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·Finding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1" name=""/>
          <p:cNvSpPr/>
          <p:nvPr/>
        </p:nvSpPr>
        <p:spPr>
          <a:xfrm>
            <a:off x="2857680" y="4495680"/>
            <a:ext cx="329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SFR-009·010 / DAR-005·006·008·009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2" name=""/>
          <p:cNvSpPr/>
          <p:nvPr/>
        </p:nvSpPr>
        <p:spPr>
          <a:xfrm>
            <a:off x="6381720" y="4495680"/>
            <a:ext cx="348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상태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·provenance·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공통 결과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상대경로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3" name=""/>
          <p:cNvSpPr/>
          <p:nvPr/>
        </p:nvSpPr>
        <p:spPr>
          <a:xfrm>
            <a:off x="10096560" y="4495680"/>
            <a:ext cx="148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TST-004·007 / QLT-003~005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4" name=""/>
          <p:cNvSpPr/>
          <p:nvPr/>
        </p:nvSpPr>
        <p:spPr>
          <a:xfrm>
            <a:off x="609480" y="5181480"/>
            <a:ext cx="10972440" cy="685440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5" name=""/>
          <p:cNvSpPr/>
          <p:nvPr/>
        </p:nvSpPr>
        <p:spPr>
          <a:xfrm>
            <a:off x="723960" y="5295960"/>
            <a:ext cx="1923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KISA </a:t>
            </a:r>
            <a:r>
              <a:rPr lang="ko-KR" sz="120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규칙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6" name=""/>
          <p:cNvSpPr/>
          <p:nvPr/>
        </p:nvSpPr>
        <p:spPr>
          <a:xfrm>
            <a:off x="2857680" y="5276880"/>
            <a:ext cx="3295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SFR-011~013 / DAR-007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7" name=""/>
          <p:cNvSpPr/>
          <p:nvPr/>
        </p:nvSpPr>
        <p:spPr>
          <a:xfrm>
            <a:off x="6381720" y="5276880"/>
            <a:ext cx="348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49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개 카탈로그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·8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개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PARTIAL·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언어별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Rule ID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매핑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38" name=""/>
          <p:cNvSpPr/>
          <p:nvPr/>
        </p:nvSpPr>
        <p:spPr>
          <a:xfrm>
            <a:off x="10096560" y="5276880"/>
            <a:ext cx="148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TST-005·006 / QLT-002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609480" y="36180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부록 </a:t>
            </a:r>
            <a:r>
              <a:rPr lang="en-US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B · </a:t>
            </a:r>
            <a:r>
              <a:rPr lang="ko-KR" sz="98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자동 테스트 범위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0" name=""/>
          <p:cNvSpPr/>
          <p:nvPr/>
        </p:nvSpPr>
        <p:spPr>
          <a:xfrm>
            <a:off x="609480" y="647640"/>
            <a:ext cx="98103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255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자동 테스트는 보안 경계와 분석 흐름을 확인했습니다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1" name=""/>
          <p:cNvSpPr/>
          <p:nvPr/>
        </p:nvSpPr>
        <p:spPr>
          <a:xfrm>
            <a:off x="8534520" y="361800"/>
            <a:ext cx="3047760" cy="266400"/>
          </a:xfrm>
          <a:prstGeom prst="roundRect">
            <a:avLst>
              <a:gd name="adj" fmla="val 42857"/>
            </a:avLst>
          </a:prstGeom>
          <a:solidFill>
            <a:srgbClr val="F4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2" name=""/>
          <p:cNvSpPr/>
          <p:nvPr/>
        </p:nvSpPr>
        <p:spPr>
          <a:xfrm>
            <a:off x="8534520" y="399960"/>
            <a:ext cx="30477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TST-001~008 · QLT-001~005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3" name=""/>
          <p:cNvSpPr/>
          <p:nvPr/>
        </p:nvSpPr>
        <p:spPr>
          <a:xfrm>
            <a:off x="609480" y="1238040"/>
            <a:ext cx="10972800" cy="360"/>
          </a:xfrm>
          <a:prstGeom prst="line">
            <a:avLst/>
          </a:prstGeom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4" name=""/>
          <p:cNvSpPr/>
          <p:nvPr/>
        </p:nvSpPr>
        <p:spPr>
          <a:xfrm>
            <a:off x="609480" y="6553080"/>
            <a:ext cx="2476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SecureScan · </a:t>
            </a:r>
            <a:r>
              <a:rPr lang="ko-KR" sz="82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중간발표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5" name=""/>
          <p:cNvSpPr/>
          <p:nvPr/>
        </p:nvSpPr>
        <p:spPr>
          <a:xfrm>
            <a:off x="11220480" y="6553080"/>
            <a:ext cx="361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820" b="1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10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6" name=""/>
          <p:cNvSpPr/>
          <p:nvPr/>
        </p:nvSpPr>
        <p:spPr>
          <a:xfrm>
            <a:off x="609480" y="161928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7" name=""/>
          <p:cNvSpPr/>
          <p:nvPr/>
        </p:nvSpPr>
        <p:spPr>
          <a:xfrm>
            <a:off x="819000" y="180972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8" name=""/>
          <p:cNvSpPr/>
          <p:nvPr/>
        </p:nvSpPr>
        <p:spPr>
          <a:xfrm>
            <a:off x="1333440" y="178128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인증</a:t>
            </a:r>
            <a:r>
              <a:rPr lang="en-US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·</a:t>
            </a: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계정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49" name=""/>
          <p:cNvSpPr/>
          <p:nvPr/>
        </p:nvSpPr>
        <p:spPr>
          <a:xfrm>
            <a:off x="1333440" y="213372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ADMIN/USER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로그인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bcrypt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해시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쿠키 위변조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만료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CSRF,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사내 이메일 정책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0" name=""/>
          <p:cNvSpPr/>
          <p:nvPr/>
        </p:nvSpPr>
        <p:spPr>
          <a:xfrm>
            <a:off x="6172200" y="161928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1" name=""/>
          <p:cNvSpPr/>
          <p:nvPr/>
        </p:nvSpPr>
        <p:spPr>
          <a:xfrm>
            <a:off x="6381720" y="180972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2" name=""/>
          <p:cNvSpPr/>
          <p:nvPr/>
        </p:nvSpPr>
        <p:spPr>
          <a:xfrm>
            <a:off x="6896160" y="178128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접근 권한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3" name=""/>
          <p:cNvSpPr/>
          <p:nvPr/>
        </p:nvSpPr>
        <p:spPr>
          <a:xfrm>
            <a:off x="6896160" y="213372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ADMIN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쓰기 허용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USER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쓰기 차단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할당 프로젝트 조회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미할당 자원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404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4" name=""/>
          <p:cNvSpPr/>
          <p:nvPr/>
        </p:nvSpPr>
        <p:spPr>
          <a:xfrm>
            <a:off x="609480" y="291456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5" name=""/>
          <p:cNvSpPr/>
          <p:nvPr/>
        </p:nvSpPr>
        <p:spPr>
          <a:xfrm>
            <a:off x="819000" y="310500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6" name=""/>
          <p:cNvSpPr/>
          <p:nvPr/>
        </p:nvSpPr>
        <p:spPr>
          <a:xfrm>
            <a:off x="1333440" y="307656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ZIP </a:t>
            </a: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업로드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7" name=""/>
          <p:cNvSpPr/>
          <p:nvPr/>
        </p:nvSpPr>
        <p:spPr>
          <a:xfrm>
            <a:off x="1333440" y="342900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정상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ZIP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저장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ZIP Slip·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심볼릭 링크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암호화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ZIP·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파일 수와 크기 제한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58" name=""/>
          <p:cNvSpPr/>
          <p:nvPr/>
        </p:nvSpPr>
        <p:spPr>
          <a:xfrm>
            <a:off x="6172200" y="291456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0B2236"/>
          </a:solidFill>
          <a:ln w="9525">
            <a:solidFill>
              <a:srgbClr val="0B22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KR"/>
            </a:endParaRPr>
          </a:p>
        </p:txBody>
      </p:sp>
      <p:sp>
        <p:nvSpPr>
          <p:cNvPr id="359" name=""/>
          <p:cNvSpPr/>
          <p:nvPr/>
        </p:nvSpPr>
        <p:spPr>
          <a:xfrm>
            <a:off x="6381720" y="310500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9CC5DF"/>
                </a:solidFill>
                <a:effectLst/>
                <a:uFillTx/>
                <a:latin typeface="Noto Sans CJK KR"/>
              </a:rPr>
              <a:t>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0" name=""/>
          <p:cNvSpPr/>
          <p:nvPr/>
        </p:nvSpPr>
        <p:spPr>
          <a:xfrm>
            <a:off x="6896160" y="307656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1430" b="1" u="none" strike="noStrike">
                <a:solidFill>
                  <a:srgbClr val="FFFFFF"/>
                </a:solidFill>
                <a:effectLst/>
                <a:uFillTx/>
                <a:latin typeface="Noto Sans CJK KR"/>
              </a:rPr>
              <a:t>실행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1" name=""/>
          <p:cNvSpPr/>
          <p:nvPr/>
        </p:nvSpPr>
        <p:spPr>
          <a:xfrm>
            <a:off x="6896160" y="342900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성공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실패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·timeout·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출력 제한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프로세스 종료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작업공간 정리</a:t>
            </a:r>
            <a:r>
              <a:rPr lang="en-US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C7D8E5"/>
                </a:solidFill>
                <a:effectLst/>
                <a:uFillTx/>
                <a:latin typeface="Noto Sans CJK KR"/>
              </a:rPr>
              <a:t>환경변수 격리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2" name=""/>
          <p:cNvSpPr/>
          <p:nvPr/>
        </p:nvSpPr>
        <p:spPr>
          <a:xfrm>
            <a:off x="609480" y="421020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3" name=""/>
          <p:cNvSpPr/>
          <p:nvPr/>
        </p:nvSpPr>
        <p:spPr>
          <a:xfrm>
            <a:off x="819000" y="440064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4" name=""/>
          <p:cNvSpPr/>
          <p:nvPr/>
        </p:nvSpPr>
        <p:spPr>
          <a:xfrm>
            <a:off x="1333440" y="437184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Finding·</a:t>
            </a: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규칙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5" name=""/>
          <p:cNvSpPr/>
          <p:nvPr/>
        </p:nvSpPr>
        <p:spPr>
          <a:xfrm>
            <a:off x="1333440" y="472428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정규화 필드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필터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상세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원본 결과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49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개 카탈로그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, 3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개 언어 실제 샘플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6" name=""/>
          <p:cNvSpPr/>
          <p:nvPr/>
        </p:nvSpPr>
        <p:spPr>
          <a:xfrm>
            <a:off x="6172200" y="4210200"/>
            <a:ext cx="5257440" cy="1066320"/>
          </a:xfrm>
          <a:prstGeom prst="roundRect">
            <a:avLst>
              <a:gd name="adj" fmla="val 10714"/>
            </a:avLst>
          </a:prstGeom>
          <a:solidFill>
            <a:srgbClr val="F4F8FB"/>
          </a:solidFill>
          <a:ln w="9525">
            <a:solidFill>
              <a:srgbClr val="D7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7" name=""/>
          <p:cNvSpPr/>
          <p:nvPr/>
        </p:nvSpPr>
        <p:spPr>
          <a:xfrm>
            <a:off x="6381720" y="4400640"/>
            <a:ext cx="380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8" name=""/>
          <p:cNvSpPr/>
          <p:nvPr/>
        </p:nvSpPr>
        <p:spPr>
          <a:xfrm>
            <a:off x="6896160" y="4371840"/>
            <a:ext cx="1618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DB·</a:t>
            </a:r>
            <a:r>
              <a:rPr lang="ko-KR" sz="1430" b="1" u="none" strike="noStrike">
                <a:solidFill>
                  <a:srgbClr val="152536"/>
                </a:solidFill>
                <a:effectLst/>
                <a:uFillTx/>
                <a:latin typeface="Noto Sans CJK KR"/>
              </a:rPr>
              <a:t>품질 구조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9" name=""/>
          <p:cNvSpPr/>
          <p:nvPr/>
        </p:nvSpPr>
        <p:spPr>
          <a:xfrm>
            <a:off x="6896160" y="4724280"/>
            <a:ext cx="4209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FK·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삭제 정책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마이그레이션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상대경로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모듈 책임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·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항목별 </a:t>
            </a:r>
            <a:r>
              <a:rPr lang="en-US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YAML </a:t>
            </a:r>
            <a:r>
              <a:rPr lang="ko-KR" sz="1050" b="0" u="none" strike="noStrike">
                <a:solidFill>
                  <a:srgbClr val="60758A"/>
                </a:solidFill>
                <a:effectLst/>
                <a:uFillTx/>
                <a:latin typeface="Noto Sans CJK KR"/>
              </a:rPr>
              <a:t>독립성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0" name=""/>
          <p:cNvSpPr/>
          <p:nvPr/>
        </p:nvSpPr>
        <p:spPr>
          <a:xfrm>
            <a:off x="609480" y="5562720"/>
            <a:ext cx="10820160" cy="456840"/>
          </a:xfrm>
          <a:prstGeom prst="roundRect">
            <a:avLst>
              <a:gd name="adj" fmla="val 25000"/>
            </a:avLst>
          </a:prstGeom>
          <a:solidFill>
            <a:srgbClr val="EAF3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1" name=""/>
          <p:cNvSpPr/>
          <p:nvPr/>
        </p:nvSpPr>
        <p:spPr>
          <a:xfrm>
            <a:off x="609480" y="5695920"/>
            <a:ext cx="10820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최신 작업 트리 기준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48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개 자동 테스트 통과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· 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실제 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Semgrep 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취약</a:t>
            </a:r>
            <a:r>
              <a:rPr lang="en-US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/</a:t>
            </a:r>
            <a:r>
              <a:rPr lang="ko-KR" sz="1200" b="1" u="none" strike="noStrike">
                <a:solidFill>
                  <a:srgbClr val="1F6EA5"/>
                </a:solidFill>
                <a:effectLst/>
                <a:uFillTx/>
                <a:latin typeface="Noto Sans CJK KR"/>
              </a:rPr>
              <a:t>정상 샘플 포함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2026-08-30T13:12:07Z</dcterms:created>
  <dc:creator>Walnut Exporter</dc:creator>
  <dc:description/>
  <dc:language>ko-KR</dc:language>
  <cp:lastModifiedBy/>
  <dcterms:modified xsi:type="dcterms:W3CDTF">2026-08-30T22:44:01Z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